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3" r:id="rId3"/>
    <p:sldId id="257" r:id="rId4"/>
    <p:sldId id="258" r:id="rId5"/>
    <p:sldId id="259" r:id="rId6"/>
    <p:sldId id="260" r:id="rId7"/>
    <p:sldId id="261" r:id="rId8"/>
    <p:sldId id="262" r:id="rId9"/>
    <p:sldId id="263" r:id="rId10"/>
    <p:sldId id="264" r:id="rId11"/>
    <p:sldId id="266" r:id="rId12"/>
    <p:sldId id="267" r:id="rId13"/>
    <p:sldId id="274"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Kính thưa Hội đồng, em là Lê Hữu Sơn. Sau đây em xin trình bày đồ án phát triển hệ sinh thái giám sát hành vi lái xe và cảnh báo nguy cơ mất an toàn ứng dụng AI, Edge Computing và IoT.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Bài toán không chỉ là phân loại một ảnh. Hệ thống cần theo dõi diễn biến, xác nhận điều kiện duy trì đủ lâu và tạo cảnh báo có bằng chứng để người giám sát xử lý.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Hệ thống phân tách rõ ba vai trò. Supervisor vận hành trên Web, tài xế nhận thông tin cá nhân trên Mobile, còn Edge chịu trách nhiệm đọc hình ảnh và chạy AI. Mobile không phải nguồn camera cho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ca sử dụng thể hiện hai tác nhân chính. Supervisor có quyền quản lý và xử lý cảnh báo; Driver chỉ xem dữ liệu thuộc tài khoản và nhận thông báo. FastAPI thực hiện kiểm tra quyền cho mỗi yêu cầu.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kiến trúc chính thức của đồ án. Edge chịu trách nhiệm suy luận. FastAPI là cổng duy nhất vào dữ liệu nghiệp vụ, MySQL lưu trạng thái và lịch sử, Web và Mobile chỉ truy cập qua 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YOLO cung cấp tín hiệu đối tượng, CNN đánh giá từng khung hình, LSTM khai thác chuỗi 16 vector, còn EAR, MAR, PERCLOS và tư thế đầu giúp diễn giải. Các tín hiệu được hợp nhất trước khi tạo sự kiện.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Điểm cần phân biệt rõ là ngáp, buồn ngủ và mất tập trung không phải cùng một nhãn. Mất tập trung liên quan đến hướng nhìn và tư thế đầu. Ngáp được phát hiện qua MAR. Buồn ngủ dựa trên mắt, PERCLOS và mô hình chuỗi.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 mô hình được huấn luyện theo ba nhánh khác nhau. CNN và LSTM sử dụng split theo chủ thể để hạn chế rò rỉ người giữa các tập. Checkpoint tốt nhất được chọn theo validation trước khi đánh giá trên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YOLO cho kết quả tốt ở mAP50. CNN đạt khoảng 65,14 phần trăm accuracy, còn CNN kết hợp LSTM đạt 67,85 phần trăm trên chuỗi, tăng 2,71 điểm phần trăm. Hai mô hình dùng đơn vị mẫu khác nhau nên không so trực tiếp số ô của ma trận nhầm lẫn.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Sau suy luận, hệ thống chưa tạo cảnh báo ngay. Lớp luật kiểm tra thời gian duy trì và cooldown. Khi đủ điều kiện, Edge tạo sự kiện, ghi snapshot hoặc clip, phát âm thanh và gửi dữ liệu lên backend.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FastAPI kiểm soát toàn bộ truy cập. MySQL lưu nghiệp vụ, thiết bị, phiên giám sát, metric và sự kiện. Thiết kế phiên tham chiếu chuyến để tránh lặp driver_id và vehicle_id gây mâu thuẫn.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vật lý được trình bày thành một khối thống nhất. Bảng trips là trung tâm nghiệp vụ vì liên kết tài xế, phương tiện và tuyến. monitoring_sessions là trung tâm giám sát vì tham chiếu chuyến và thiết bị Edge; từ đó phát sinh chỉ số khung hình và sự kiện cảnh báo. driver_vehicle_assignments chỉ lưu lịch sử phân công tài xế với phương tiện, không thay thế quan hệ tài xế và xe của từng chuyến.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282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Đồ án đã hoàn thiện chuỗi xử lý từ Edge đến Web và Mobile. Kết quả hiện tại cho thấy kiến trúc khả thi. Hướng tiếp theo là mở rộng dữ liệu, fine-tune mô hình, tối ưu hiệu năng trên thiết bị Edge thực và chuẩn bị hạ tầng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xin cảm ơn Hội đồng đã lắng nghe. Em xin tiếp nhận câu hỏi và góp 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9538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D43"/>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8665C34-AB00-48C0-8B3B-AEF867EEFC0E}"/>
              </a:ext>
            </a:extLst>
          </p:cNvPr>
          <p:cNvSpPr>
            <a:spLocks noGrp="1"/>
          </p:cNvSpPr>
          <p:nvPr/>
        </p:nvSpPr>
        <p:spPr>
          <a:xfrm>
            <a:off x="0" y="0"/>
            <a:ext cx="171450" cy="6858000"/>
          </a:xfrm>
          <a:prstGeom prst="rect">
            <a:avLst/>
          </a:prstGeom>
          <a:solidFill>
            <a:srgbClr val="31A9B8"/>
          </a:solidFill>
          <a:ln w="0">
            <a:noFill/>
            <a:prstDash val="solid"/>
          </a:ln>
        </p:spPr>
        <p:txBody>
          <a:bodyPr/>
          <a:lstStyle/>
          <a:p>
            <a:endParaRPr lang="en-US"/>
          </a:p>
        </p:txBody>
      </p:sp>
      <p:sp>
        <p:nvSpPr>
          <p:cNvPr id="2" name="Oval 1">
            <a:extLst>
              <a:ext uri="{FF2B5EF4-FFF2-40B4-BE49-F238E27FC236}">
                <a16:creationId xmlns:a16="http://schemas.microsoft.com/office/drawing/2014/main" id="{6A3DEA8A-5BE3-40CC-87DA-92E1092D2D2E}"/>
              </a:ext>
            </a:extLst>
          </p:cNvPr>
          <p:cNvSpPr>
            <a:spLocks noGrp="1"/>
          </p:cNvSpPr>
          <p:nvPr/>
        </p:nvSpPr>
        <p:spPr>
          <a:xfrm>
            <a:off x="8763000" y="857250"/>
            <a:ext cx="3905250" cy="3905250"/>
          </a:xfrm>
          <a:prstGeom prst="ellipse">
            <a:avLst/>
          </a:prstGeom>
          <a:solidFill>
            <a:srgbClr val="103B52"/>
          </a:solidFill>
          <a:ln w="0">
            <a:noFill/>
            <a:prstDash val="solid"/>
          </a:ln>
        </p:spPr>
        <p:txBody>
          <a:bodyPr/>
          <a:lstStyle/>
          <a:p>
            <a:endParaRPr lang="en-US"/>
          </a:p>
        </p:txBody>
      </p:sp>
      <p:sp>
        <p:nvSpPr>
          <p:cNvPr id="3" name="Oval 2">
            <a:extLst>
              <a:ext uri="{FF2B5EF4-FFF2-40B4-BE49-F238E27FC236}">
                <a16:creationId xmlns:a16="http://schemas.microsoft.com/office/drawing/2014/main" id="{F5F3B592-B73E-4E04-87FC-D4342E781513}"/>
              </a:ext>
            </a:extLst>
          </p:cNvPr>
          <p:cNvSpPr>
            <a:spLocks noGrp="1"/>
          </p:cNvSpPr>
          <p:nvPr/>
        </p:nvSpPr>
        <p:spPr>
          <a:xfrm>
            <a:off x="9572625" y="1666875"/>
            <a:ext cx="2286000" cy="2286000"/>
          </a:xfrm>
          <a:prstGeom prst="ellipse">
            <a:avLst/>
          </a:prstGeom>
          <a:solidFill>
            <a:srgbClr val="176B8A"/>
          </a:solidFill>
          <a:ln w="0">
            <a:noFill/>
            <a:prstDash val="solid"/>
          </a:ln>
        </p:spPr>
        <p:txBody>
          <a:bodyPr/>
          <a:lstStyle/>
          <a:p>
            <a:endParaRPr lang="en-US"/>
          </a:p>
        </p:txBody>
      </p:sp>
      <p:pic>
        <p:nvPicPr>
          <p:cNvPr id="15" name="Picture 14"/>
          <p:cNvPicPr>
            <a:picLocks noChangeAspect="1"/>
          </p:cNvPicPr>
          <p:nvPr/>
        </p:nvPicPr>
        <p:blipFill>
          <a:blip r:embed="rId3"/>
          <a:stretch/>
        </p:blipFill>
        <p:spPr>
          <a:xfrm>
            <a:off x="647700" y="476250"/>
            <a:ext cx="1095375" cy="1095375"/>
          </a:xfrm>
          <a:prstGeom prst="roundRect">
            <a:avLst>
              <a:gd name="adj" fmla="val 10435"/>
            </a:avLst>
          </a:prstGeom>
        </p:spPr>
      </p:pic>
      <p:sp>
        <p:nvSpPr>
          <p:cNvPr id="5" name="Rectangle 4">
            <a:extLst>
              <a:ext uri="{FF2B5EF4-FFF2-40B4-BE49-F238E27FC236}">
                <a16:creationId xmlns:a16="http://schemas.microsoft.com/office/drawing/2014/main" id="{07D8F0F8-6599-4140-BA13-D1DEF3E293D1}"/>
              </a:ext>
            </a:extLst>
          </p:cNvPr>
          <p:cNvSpPr>
            <a:spLocks noGrp="1"/>
          </p:cNvSpPr>
          <p:nvPr/>
        </p:nvSpPr>
        <p:spPr>
          <a:xfrm>
            <a:off x="1952625" y="571500"/>
            <a:ext cx="5334000" cy="381000"/>
          </a:xfrm>
          <a:prstGeom prst="rect">
            <a:avLst/>
          </a:prstGeom>
          <a:noFill/>
          <a:ln w="0">
            <a:noFill/>
            <a:prstDash val="solid"/>
          </a:ln>
        </p:spPr>
        <p:txBody>
          <a:bodyPr wrap="square" lIns="66675" tIns="47625" rIns="66675" bIns="47625" anchor="ctr">
            <a:normAutofit fontScale="99206"/>
          </a:bodyPr>
          <a:lstStyle/>
          <a:p>
            <a:pPr algn="l">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TRƯỜNG ĐẠI HỌC BÌNH DƯƠNG</a:t>
            </a:r>
          </a:p>
        </p:txBody>
      </p:sp>
      <p:sp>
        <p:nvSpPr>
          <p:cNvPr id="6" name="Rectangle 5">
            <a:extLst>
              <a:ext uri="{FF2B5EF4-FFF2-40B4-BE49-F238E27FC236}">
                <a16:creationId xmlns:a16="http://schemas.microsoft.com/office/drawing/2014/main" id="{E003B660-4C4B-49D8-9923-05CA4A3A0DDA}"/>
              </a:ext>
            </a:extLst>
          </p:cNvPr>
          <p:cNvSpPr>
            <a:spLocks noGrp="1"/>
          </p:cNvSpPr>
          <p:nvPr/>
        </p:nvSpPr>
        <p:spPr>
          <a:xfrm>
            <a:off x="1971675" y="990600"/>
            <a:ext cx="5334000" cy="266700"/>
          </a:xfrm>
          <a:prstGeom prst="rect">
            <a:avLst/>
          </a:prstGeom>
          <a:noFill/>
          <a:ln w="0">
            <a:noFill/>
            <a:prstDash val="solid"/>
          </a:ln>
        </p:spPr>
        <p:txBody>
          <a:bodyPr wrap="square" lIns="66675" tIns="47625" rIns="66675" bIns="47625" anchor="t">
            <a:normAutofit fontScale="67024" lnSpcReduction="10000"/>
          </a:bodyPr>
          <a:lstStyle/>
          <a:p>
            <a:pPr algn="l">
              <a:lnSpc>
                <a:spcPct val="105000"/>
              </a:lnSpc>
              <a:buNone/>
              <a:defRPr b="1" i="0">
                <a:solidFill>
                  <a:srgbClr val="BDE5EB"/>
                </a:solidFill>
                <a:latin typeface="Arial"/>
                <a:ea typeface="Arial"/>
                <a:cs typeface="Arial"/>
              </a:defRPr>
            </a:pPr>
            <a:r>
              <a:rPr b="1" i="0">
                <a:solidFill>
                  <a:srgbClr val="BDE5EB"/>
                </a:solidFill>
                <a:latin typeface="Arial"/>
                <a:ea typeface="Arial"/>
                <a:cs typeface="Arial"/>
              </a:rPr>
              <a:t>VIỆN TRÍ TUỆ NHÂN TẠO VÀ CHUYỂN ĐỔI SỐ</a:t>
            </a:r>
          </a:p>
        </p:txBody>
      </p:sp>
      <p:sp>
        <p:nvSpPr>
          <p:cNvPr id="7" name="Rectangle 6">
            <a:extLst>
              <a:ext uri="{FF2B5EF4-FFF2-40B4-BE49-F238E27FC236}">
                <a16:creationId xmlns:a16="http://schemas.microsoft.com/office/drawing/2014/main" id="{DF739FDB-46D3-4F4F-A651-120240E410A3}"/>
              </a:ext>
            </a:extLst>
          </p:cNvPr>
          <p:cNvSpPr>
            <a:spLocks noGrp="1"/>
          </p:cNvSpPr>
          <p:nvPr/>
        </p:nvSpPr>
        <p:spPr>
          <a:xfrm>
            <a:off x="666750" y="2000250"/>
            <a:ext cx="8763000" cy="1524000"/>
          </a:xfrm>
          <a:prstGeom prst="rect">
            <a:avLst/>
          </a:prstGeom>
          <a:noFill/>
          <a:ln w="0">
            <a:noFill/>
            <a:prstDash val="solid"/>
          </a:ln>
        </p:spPr>
        <p:txBody>
          <a:bodyPr wrap="square" lIns="66675" tIns="47625" rIns="66675" bIns="47625" anchor="ctr">
            <a:normAutofit/>
          </a:bodyPr>
          <a:lstStyle/>
          <a:p>
            <a:pPr algn="l">
              <a:lnSpc>
                <a:spcPct val="95000"/>
              </a:lnSpc>
              <a:buNone/>
              <a:defRPr b="1" i="0">
                <a:solidFill>
                  <a:srgbClr val="FFFFFF"/>
                </a:solidFill>
                <a:latin typeface="Arial"/>
                <a:ea typeface="Arial"/>
                <a:cs typeface="Arial"/>
              </a:defRPr>
            </a:pPr>
            <a:r>
              <a:rPr b="1" i="0">
                <a:solidFill>
                  <a:srgbClr val="FFFFFF"/>
                </a:solidFill>
                <a:latin typeface="Arial"/>
                <a:ea typeface="Arial"/>
                <a:cs typeface="Arial"/>
              </a:rPr>
              <a:t>PHÁT TRIỂN HỆ SINH THÁI GIÁM SÁT HÀNH VI LÁI XE VÀ CẢNH BÁO NGUY CƠ MẤT AN TOÀN</a:t>
            </a:r>
          </a:p>
        </p:txBody>
      </p:sp>
      <p:sp>
        <p:nvSpPr>
          <p:cNvPr id="8" name="Rectangle 7">
            <a:extLst>
              <a:ext uri="{FF2B5EF4-FFF2-40B4-BE49-F238E27FC236}">
                <a16:creationId xmlns:a16="http://schemas.microsoft.com/office/drawing/2014/main" id="{4E2AD2B2-4187-4804-A744-C80E9F69E0CC}"/>
              </a:ext>
            </a:extLst>
          </p:cNvPr>
          <p:cNvSpPr>
            <a:spLocks noGrp="1"/>
          </p:cNvSpPr>
          <p:nvPr/>
        </p:nvSpPr>
        <p:spPr>
          <a:xfrm>
            <a:off x="714375" y="3638550"/>
            <a:ext cx="7334250" cy="400050"/>
          </a:xfrm>
          <a:prstGeom prst="rect">
            <a:avLst/>
          </a:prstGeom>
          <a:noFill/>
          <a:ln w="0">
            <a:noFill/>
            <a:prstDash val="solid"/>
          </a:ln>
        </p:spPr>
        <p:txBody>
          <a:bodyPr wrap="square" lIns="66675" tIns="47625" rIns="66675" bIns="47625" anchor="t">
            <a:normAutofit/>
          </a:bodyPr>
          <a:lstStyle/>
          <a:p>
            <a:pPr algn="l">
              <a:lnSpc>
                <a:spcPct val="105000"/>
              </a:lnSpc>
              <a:buNone/>
              <a:defRPr b="1" i="0">
                <a:solidFill>
                  <a:srgbClr val="58D0D8"/>
                </a:solidFill>
                <a:latin typeface="Arial"/>
                <a:ea typeface="Arial"/>
                <a:cs typeface="Arial"/>
              </a:defRPr>
            </a:pPr>
            <a:r>
              <a:rPr b="1" i="0">
                <a:solidFill>
                  <a:srgbClr val="58D0D8"/>
                </a:solidFill>
                <a:latin typeface="Arial"/>
                <a:ea typeface="Arial"/>
                <a:cs typeface="Arial"/>
              </a:rPr>
              <a:t>Ứng dụng AI, Edge Computing</a:t>
            </a:r>
          </a:p>
        </p:txBody>
      </p:sp>
      <p:sp>
        <p:nvSpPr>
          <p:cNvPr id="9" name="Rectangle: Rounded Corners 8">
            <a:extLst>
              <a:ext uri="{FF2B5EF4-FFF2-40B4-BE49-F238E27FC236}">
                <a16:creationId xmlns:a16="http://schemas.microsoft.com/office/drawing/2014/main" id="{9BA40C4A-052F-4ADA-BD4F-EA6D1E1AFA1B}"/>
              </a:ext>
            </a:extLst>
          </p:cNvPr>
          <p:cNvSpPr>
            <a:spLocks noGrp="1"/>
          </p:cNvSpPr>
          <p:nvPr/>
        </p:nvSpPr>
        <p:spPr>
          <a:xfrm>
            <a:off x="685800" y="4524375"/>
            <a:ext cx="6810375" cy="1000125"/>
          </a:xfrm>
          <a:prstGeom prst="roundRect">
            <a:avLst>
              <a:gd name="adj" fmla="val 15238"/>
            </a:avLst>
          </a:prstGeom>
          <a:solidFill>
            <a:srgbClr val="103B52"/>
          </a:solidFill>
          <a:ln w="12383">
            <a:solidFill>
              <a:srgbClr val="2F718A"/>
            </a:solidFill>
            <a:prstDash val="solid"/>
          </a:ln>
        </p:spPr>
        <p:txBody>
          <a:bodyPr/>
          <a:lstStyle/>
          <a:p>
            <a:endParaRPr lang="en-US"/>
          </a:p>
        </p:txBody>
      </p:sp>
      <p:sp>
        <p:nvSpPr>
          <p:cNvPr id="10" name="Rectangle 9">
            <a:extLst>
              <a:ext uri="{FF2B5EF4-FFF2-40B4-BE49-F238E27FC236}">
                <a16:creationId xmlns:a16="http://schemas.microsoft.com/office/drawing/2014/main" id="{6B132A8C-EAE5-49D3-A8DB-D7064EE2523A}"/>
              </a:ext>
            </a:extLst>
          </p:cNvPr>
          <p:cNvSpPr>
            <a:spLocks noGrp="1"/>
          </p:cNvSpPr>
          <p:nvPr/>
        </p:nvSpPr>
        <p:spPr>
          <a:xfrm>
            <a:off x="914400" y="4695825"/>
            <a:ext cx="6334125" cy="666750"/>
          </a:xfrm>
          <a:prstGeom prst="rect">
            <a:avLst/>
          </a:prstGeom>
          <a:noFill/>
          <a:ln w="0">
            <a:noFill/>
            <a:prstDash val="solid"/>
          </a:ln>
        </p:spPr>
        <p:txBody>
          <a:bodyPr wrap="square" lIns="66675" tIns="47625" rIns="66675" bIns="47625" anchor="ctr">
            <a:normAutofit fontScale="98080" lnSpcReduction="10000"/>
          </a:bodyPr>
          <a:lstStyle/>
          <a:p>
            <a:pPr algn="l">
              <a:lnSpc>
                <a:spcPct val="115000"/>
              </a:lnSpc>
              <a:buNone/>
              <a:defRPr b="0" i="0">
                <a:solidFill>
                  <a:srgbClr val="FFFFFF"/>
                </a:solidFill>
                <a:latin typeface="Arial"/>
                <a:ea typeface="Arial"/>
                <a:cs typeface="Arial"/>
              </a:defRPr>
            </a:pPr>
            <a:r>
              <a:rPr b="0" i="0">
                <a:solidFill>
                  <a:srgbClr val="FFFFFF"/>
                </a:solidFill>
                <a:latin typeface="Arial"/>
                <a:ea typeface="Arial"/>
                <a:cs typeface="Arial"/>
              </a:rPr>
              <a:t>Sinh viên: Lê Hữu Sơn  ·  MSSV: 22050058</a:t>
            </a:r>
          </a:p>
          <a:p>
            <a:pPr algn="l">
              <a:lnSpc>
                <a:spcPct val="115000"/>
              </a:lnSpc>
              <a:buNone/>
              <a:defRPr b="0" i="0">
                <a:solidFill>
                  <a:srgbClr val="FFFFFF"/>
                </a:solidFill>
                <a:latin typeface="Arial"/>
                <a:ea typeface="Arial"/>
                <a:cs typeface="Arial"/>
              </a:defRPr>
            </a:pPr>
            <a:r>
              <a:rPr b="0" i="0">
                <a:solidFill>
                  <a:srgbClr val="FFFFFF"/>
                </a:solidFill>
                <a:latin typeface="Arial"/>
                <a:ea typeface="Arial"/>
                <a:cs typeface="Arial"/>
              </a:rPr>
              <a:t>Giảng viên hướng dẫn: ThS. Dương Anh Tuấn</a:t>
            </a:r>
          </a:p>
        </p:txBody>
      </p:sp>
      <p:sp>
        <p:nvSpPr>
          <p:cNvPr id="11" name="Rectangle 10">
            <a:extLst>
              <a:ext uri="{FF2B5EF4-FFF2-40B4-BE49-F238E27FC236}">
                <a16:creationId xmlns:a16="http://schemas.microsoft.com/office/drawing/2014/main" id="{A8AA2161-A5DD-4FD4-95C0-EAB11841D4DF}"/>
              </a:ext>
            </a:extLst>
          </p:cNvPr>
          <p:cNvSpPr>
            <a:spLocks noGrp="1"/>
          </p:cNvSpPr>
          <p:nvPr/>
        </p:nvSpPr>
        <p:spPr>
          <a:xfrm>
            <a:off x="8524875" y="5810250"/>
            <a:ext cx="3143250" cy="323850"/>
          </a:xfrm>
          <a:prstGeom prst="rect">
            <a:avLst/>
          </a:prstGeom>
          <a:noFill/>
          <a:ln w="0">
            <a:noFill/>
            <a:prstDash val="solid"/>
          </a:ln>
        </p:spPr>
        <p:txBody>
          <a:bodyPr wrap="square" lIns="66675" tIns="47625" rIns="66675" bIns="47625" anchor="t">
            <a:normAutofit fontScale="86865" lnSpcReduction="20000"/>
          </a:bodyPr>
          <a:lstStyle/>
          <a:p>
            <a:pPr algn="r">
              <a:lnSpc>
                <a:spcPct val="105000"/>
              </a:lnSpc>
              <a:buNone/>
              <a:defRPr b="1" i="0">
                <a:solidFill>
                  <a:srgbClr val="BDE5EB"/>
                </a:solidFill>
                <a:latin typeface="Arial"/>
                <a:ea typeface="Arial"/>
                <a:cs typeface="Arial"/>
              </a:defRPr>
            </a:pPr>
            <a:r>
              <a:rPr b="1" i="0">
                <a:solidFill>
                  <a:srgbClr val="BDE5EB"/>
                </a:solidFill>
                <a:latin typeface="Arial"/>
                <a:ea typeface="Arial"/>
                <a:cs typeface="Arial"/>
              </a:rPr>
              <a:t>BÁO CÁO ĐỒ ÁN TỐT NGHIỆP</a:t>
            </a:r>
          </a:p>
        </p:txBody>
      </p:sp>
    </p:spTree>
    <p:extLst>
      <p:ext uri="{BB962C8B-B14F-4D97-AF65-F5344CB8AC3E}">
        <p14:creationId xmlns:p14="http://schemas.microsoft.com/office/powerpoint/2010/main" val="1357467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E6BC96-59B8-EFFF-89DF-EC2654AC5C74}"/>
              </a:ext>
            </a:extLst>
          </p:cNvPr>
          <p:cNvSpPr/>
          <p:nvPr/>
        </p:nvSpPr>
        <p:spPr>
          <a:xfrm>
            <a:off x="0" y="0"/>
            <a:ext cx="12192000" cy="685800"/>
          </a:xfrm>
          <a:prstGeom prst="rect">
            <a:avLst/>
          </a:prstGeom>
          <a:solidFill>
            <a:srgbClr val="0A2D4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 name="Rectangle 2">
            <a:extLst>
              <a:ext uri="{FF2B5EF4-FFF2-40B4-BE49-F238E27FC236}">
                <a16:creationId xmlns:a16="http://schemas.microsoft.com/office/drawing/2014/main" id="{3CC6FE71-8374-20A7-C275-54175AD815F3}"/>
              </a:ext>
            </a:extLst>
          </p:cNvPr>
          <p:cNvSpPr/>
          <p:nvPr/>
        </p:nvSpPr>
        <p:spPr>
          <a:xfrm>
            <a:off x="0" y="685800"/>
            <a:ext cx="12192000" cy="50800"/>
          </a:xfrm>
          <a:prstGeom prst="rect">
            <a:avLst/>
          </a:prstGeom>
          <a:solidFill>
            <a:srgbClr val="31A9B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 name="TextBox 3">
            <a:extLst>
              <a:ext uri="{FF2B5EF4-FFF2-40B4-BE49-F238E27FC236}">
                <a16:creationId xmlns:a16="http://schemas.microsoft.com/office/drawing/2014/main" id="{E6DCB030-183C-59C4-58EB-BEF53AB380C6}"/>
              </a:ext>
            </a:extLst>
          </p:cNvPr>
          <p:cNvSpPr txBox="1"/>
          <p:nvPr/>
        </p:nvSpPr>
        <p:spPr>
          <a:xfrm>
            <a:off x="533400" y="67948"/>
            <a:ext cx="3556000" cy="130805"/>
          </a:xfrm>
          <a:prstGeom prst="rect">
            <a:avLst/>
          </a:prstGeom>
          <a:noFill/>
        </p:spPr>
        <p:txBody>
          <a:bodyPr vert="horz" wrap="square" lIns="0" tIns="0" rIns="0" bIns="0" rtlCol="0" anchor="ctr">
            <a:spAutoFit/>
          </a:bodyPr>
          <a:lstStyle/>
          <a:p>
            <a:r>
              <a:rPr lang="en-US" sz="850" b="1">
                <a:solidFill>
                  <a:srgbClr val="BDE5EB"/>
                </a:solidFill>
                <a:latin typeface="Arial" panose="020B0604020202020204" pitchFamily="34" charset="0"/>
              </a:rPr>
              <a:t>BÁO CÁO ĐỒ ÁN TỐT NGHIỆP</a:t>
            </a:r>
          </a:p>
        </p:txBody>
      </p:sp>
      <p:sp>
        <p:nvSpPr>
          <p:cNvPr id="5" name="TextBox 4">
            <a:extLst>
              <a:ext uri="{FF2B5EF4-FFF2-40B4-BE49-F238E27FC236}">
                <a16:creationId xmlns:a16="http://schemas.microsoft.com/office/drawing/2014/main" id="{5C71B0CD-BA4B-51F0-69FB-04CE79A2AB46}"/>
              </a:ext>
            </a:extLst>
          </p:cNvPr>
          <p:cNvSpPr txBox="1"/>
          <p:nvPr/>
        </p:nvSpPr>
        <p:spPr>
          <a:xfrm>
            <a:off x="533400" y="272532"/>
            <a:ext cx="8255000" cy="369332"/>
          </a:xfrm>
          <a:prstGeom prst="rect">
            <a:avLst/>
          </a:prstGeom>
          <a:noFill/>
        </p:spPr>
        <p:txBody>
          <a:bodyPr vert="horz" wrap="square" lIns="0" tIns="0" rIns="0" bIns="0" rtlCol="0" anchor="ctr">
            <a:spAutoFit/>
          </a:bodyPr>
          <a:lstStyle/>
          <a:p>
            <a:r>
              <a:rPr lang="en-US" sz="2400" b="1">
                <a:solidFill>
                  <a:srgbClr val="FFFFFF"/>
                </a:solidFill>
                <a:latin typeface="Arial" panose="020B0604020202020204" pitchFamily="34" charset="0"/>
              </a:rPr>
              <a:t>NỘI DUNG TRÌNH BÀY</a:t>
            </a:r>
          </a:p>
        </p:txBody>
      </p:sp>
      <p:sp>
        <p:nvSpPr>
          <p:cNvPr id="6" name="TextBox 5">
            <a:extLst>
              <a:ext uri="{FF2B5EF4-FFF2-40B4-BE49-F238E27FC236}">
                <a16:creationId xmlns:a16="http://schemas.microsoft.com/office/drawing/2014/main" id="{C394720A-91F4-BD01-3E55-04A023C703F8}"/>
              </a:ext>
            </a:extLst>
          </p:cNvPr>
          <p:cNvSpPr txBox="1"/>
          <p:nvPr/>
        </p:nvSpPr>
        <p:spPr>
          <a:xfrm>
            <a:off x="11328400" y="236667"/>
            <a:ext cx="406400" cy="235962"/>
          </a:xfrm>
          <a:prstGeom prst="rect">
            <a:avLst/>
          </a:prstGeom>
          <a:noFill/>
        </p:spPr>
        <p:txBody>
          <a:bodyPr vert="horz" wrap="square" lIns="50800" tIns="25400" rIns="50800" bIns="25400" rtlCol="0" anchor="ctr">
            <a:spAutoFit/>
          </a:bodyPr>
          <a:lstStyle/>
          <a:p>
            <a:pPr algn="ctr"/>
            <a:r>
              <a:rPr lang="en-US" sz="1200" b="1">
                <a:solidFill>
                  <a:srgbClr val="FFFFFF"/>
                </a:solidFill>
                <a:latin typeface="Arial" panose="020B0604020202020204" pitchFamily="34" charset="0"/>
              </a:rPr>
              <a:t>02</a:t>
            </a:r>
          </a:p>
        </p:txBody>
      </p:sp>
      <p:sp>
        <p:nvSpPr>
          <p:cNvPr id="7" name="TextBox 6">
            <a:extLst>
              <a:ext uri="{FF2B5EF4-FFF2-40B4-BE49-F238E27FC236}">
                <a16:creationId xmlns:a16="http://schemas.microsoft.com/office/drawing/2014/main" id="{6A56DAE7-9C4B-AD93-783D-9B1DC13F2737}"/>
              </a:ext>
            </a:extLst>
          </p:cNvPr>
          <p:cNvSpPr txBox="1"/>
          <p:nvPr/>
        </p:nvSpPr>
        <p:spPr>
          <a:xfrm>
            <a:off x="533400" y="977900"/>
            <a:ext cx="3302000" cy="328295"/>
          </a:xfrm>
          <a:prstGeom prst="rect">
            <a:avLst/>
          </a:prstGeom>
          <a:noFill/>
        </p:spPr>
        <p:txBody>
          <a:bodyPr vert="horz" wrap="square" lIns="50800" tIns="25400" rIns="50800" bIns="25400" rtlCol="0" anchor="ctr">
            <a:spAutoFit/>
          </a:bodyPr>
          <a:lstStyle/>
          <a:p>
            <a:r>
              <a:rPr lang="en-US" b="1">
                <a:solidFill>
                  <a:srgbClr val="117C78"/>
                </a:solidFill>
                <a:latin typeface="Arial" panose="020B0604020202020204" pitchFamily="34" charset="0"/>
              </a:rPr>
              <a:t>06 nội dung chính</a:t>
            </a:r>
          </a:p>
        </p:txBody>
      </p:sp>
      <p:sp>
        <p:nvSpPr>
          <p:cNvPr id="8" name="TextBox 7">
            <a:extLst>
              <a:ext uri="{FF2B5EF4-FFF2-40B4-BE49-F238E27FC236}">
                <a16:creationId xmlns:a16="http://schemas.microsoft.com/office/drawing/2014/main" id="{C2DC08DD-B151-876F-CC6F-882B7BC8E58A}"/>
              </a:ext>
            </a:extLst>
          </p:cNvPr>
          <p:cNvSpPr txBox="1"/>
          <p:nvPr/>
        </p:nvSpPr>
        <p:spPr>
          <a:xfrm>
            <a:off x="533400" y="1257300"/>
            <a:ext cx="9652000" cy="328295"/>
          </a:xfrm>
          <a:prstGeom prst="rect">
            <a:avLst/>
          </a:prstGeom>
          <a:noFill/>
        </p:spPr>
        <p:txBody>
          <a:bodyPr vert="horz" wrap="square" lIns="50800" tIns="25400" rIns="50800" bIns="25400" rtlCol="0" anchor="ctr">
            <a:spAutoFit/>
          </a:bodyPr>
          <a:lstStyle/>
          <a:p>
            <a:r>
              <a:rPr lang="en-US">
                <a:solidFill>
                  <a:srgbClr val="60727B"/>
                </a:solidFill>
                <a:latin typeface="Arial" panose="020B0604020202020204" pitchFamily="34" charset="0"/>
              </a:rPr>
              <a:t>Các phần trình bày bám theo tiến trình nghiên cứu và xây dựng hệ thống.</a:t>
            </a:r>
          </a:p>
        </p:txBody>
      </p:sp>
      <p:sp>
        <p:nvSpPr>
          <p:cNvPr id="9" name="Rectangle: Rounded Corners 8">
            <a:extLst>
              <a:ext uri="{FF2B5EF4-FFF2-40B4-BE49-F238E27FC236}">
                <a16:creationId xmlns:a16="http://schemas.microsoft.com/office/drawing/2014/main" id="{41F08709-6FEC-F8F9-A414-C1EE0C1E1FD9}"/>
              </a:ext>
            </a:extLst>
          </p:cNvPr>
          <p:cNvSpPr/>
          <p:nvPr/>
        </p:nvSpPr>
        <p:spPr>
          <a:xfrm>
            <a:off x="533400" y="1778000"/>
            <a:ext cx="5346700" cy="1270000"/>
          </a:xfrm>
          <a:prstGeom prst="roundRect">
            <a:avLst/>
          </a:prstGeom>
          <a:solidFill>
            <a:srgbClr val="E7F2F5"/>
          </a:solidFill>
          <a:ln w="15240">
            <a:solidFill>
              <a:srgbClr val="176B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0" name="Rectangle 9">
            <a:extLst>
              <a:ext uri="{FF2B5EF4-FFF2-40B4-BE49-F238E27FC236}">
                <a16:creationId xmlns:a16="http://schemas.microsoft.com/office/drawing/2014/main" id="{0AE5438E-0A0B-7FAB-31D5-8DA1112F5718}"/>
              </a:ext>
            </a:extLst>
          </p:cNvPr>
          <p:cNvSpPr/>
          <p:nvPr/>
        </p:nvSpPr>
        <p:spPr>
          <a:xfrm>
            <a:off x="533400" y="1778000"/>
            <a:ext cx="76200" cy="1270000"/>
          </a:xfrm>
          <a:prstGeom prst="rect">
            <a:avLst/>
          </a:prstGeom>
          <a:solidFill>
            <a:srgbClr val="176B8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 name="Oval 10">
            <a:extLst>
              <a:ext uri="{FF2B5EF4-FFF2-40B4-BE49-F238E27FC236}">
                <a16:creationId xmlns:a16="http://schemas.microsoft.com/office/drawing/2014/main" id="{EB87D4D4-361B-094D-31CF-EE08899B106B}"/>
              </a:ext>
            </a:extLst>
          </p:cNvPr>
          <p:cNvSpPr/>
          <p:nvPr/>
        </p:nvSpPr>
        <p:spPr>
          <a:xfrm>
            <a:off x="787400" y="2108200"/>
            <a:ext cx="596900" cy="596900"/>
          </a:xfrm>
          <a:prstGeom prst="ellipse">
            <a:avLst/>
          </a:prstGeom>
          <a:solidFill>
            <a:srgbClr val="176B8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 name="TextBox 11">
            <a:extLst>
              <a:ext uri="{FF2B5EF4-FFF2-40B4-BE49-F238E27FC236}">
                <a16:creationId xmlns:a16="http://schemas.microsoft.com/office/drawing/2014/main" id="{024D84C1-7926-E405-4F86-A6D8D0B77C27}"/>
              </a:ext>
            </a:extLst>
          </p:cNvPr>
          <p:cNvSpPr txBox="1"/>
          <p:nvPr/>
        </p:nvSpPr>
        <p:spPr>
          <a:xfrm>
            <a:off x="787400" y="2108201"/>
            <a:ext cx="596900" cy="328295"/>
          </a:xfrm>
          <a:prstGeom prst="rect">
            <a:avLst/>
          </a:prstGeom>
          <a:noFill/>
        </p:spPr>
        <p:txBody>
          <a:bodyPr vert="horz" wrap="square" lIns="50800" tIns="25400" rIns="50800" bIns="25400" rtlCol="0" anchor="ctr">
            <a:spAutoFit/>
          </a:bodyPr>
          <a:lstStyle/>
          <a:p>
            <a:pPr algn="ctr"/>
            <a:r>
              <a:rPr lang="en-US" b="1">
                <a:solidFill>
                  <a:srgbClr val="FFFFFF"/>
                </a:solidFill>
                <a:latin typeface="Arial" panose="020B0604020202020204" pitchFamily="34" charset="0"/>
              </a:rPr>
              <a:t>01</a:t>
            </a:r>
          </a:p>
        </p:txBody>
      </p:sp>
      <p:sp>
        <p:nvSpPr>
          <p:cNvPr id="13" name="TextBox 12">
            <a:extLst>
              <a:ext uri="{FF2B5EF4-FFF2-40B4-BE49-F238E27FC236}">
                <a16:creationId xmlns:a16="http://schemas.microsoft.com/office/drawing/2014/main" id="{74B07822-01D2-5A79-68C1-A7D747AD8055}"/>
              </a:ext>
            </a:extLst>
          </p:cNvPr>
          <p:cNvSpPr txBox="1"/>
          <p:nvPr/>
        </p:nvSpPr>
        <p:spPr>
          <a:xfrm>
            <a:off x="1600200" y="1968501"/>
            <a:ext cx="3937000" cy="328295"/>
          </a:xfrm>
          <a:prstGeom prst="rect">
            <a:avLst/>
          </a:prstGeom>
          <a:noFill/>
        </p:spPr>
        <p:txBody>
          <a:bodyPr vert="horz" wrap="square" lIns="50800" tIns="25400" rIns="50800" bIns="25400" rtlCol="0" anchor="ctr">
            <a:spAutoFit/>
          </a:bodyPr>
          <a:lstStyle/>
          <a:p>
            <a:r>
              <a:rPr lang="en-US" b="1">
                <a:solidFill>
                  <a:srgbClr val="16303D"/>
                </a:solidFill>
                <a:latin typeface="Arial" panose="020B0604020202020204" pitchFamily="34" charset="0"/>
              </a:rPr>
              <a:t>TỔNG QUAN ĐỀ TÀI</a:t>
            </a:r>
          </a:p>
        </p:txBody>
      </p:sp>
      <p:sp>
        <p:nvSpPr>
          <p:cNvPr id="14" name="TextBox 13">
            <a:extLst>
              <a:ext uri="{FF2B5EF4-FFF2-40B4-BE49-F238E27FC236}">
                <a16:creationId xmlns:a16="http://schemas.microsoft.com/office/drawing/2014/main" id="{E0EE9C62-D558-9B97-2C5F-79B8C3956934}"/>
              </a:ext>
            </a:extLst>
          </p:cNvPr>
          <p:cNvSpPr txBox="1"/>
          <p:nvPr/>
        </p:nvSpPr>
        <p:spPr>
          <a:xfrm>
            <a:off x="1600200" y="2267179"/>
            <a:ext cx="3937000" cy="543739"/>
          </a:xfrm>
          <a:prstGeom prst="rect">
            <a:avLst/>
          </a:prstGeom>
          <a:noFill/>
        </p:spPr>
        <p:txBody>
          <a:bodyPr vert="horz" wrap="square" lIns="50800" tIns="25400" rIns="50800" bIns="25400" rtlCol="0" anchor="ctr">
            <a:spAutoFit/>
          </a:bodyPr>
          <a:lstStyle/>
          <a:p>
            <a:r>
              <a:rPr lang="en-US" sz="1600">
                <a:solidFill>
                  <a:srgbClr val="60727B"/>
                </a:solidFill>
                <a:latin typeface="Arial" panose="020B0604020202020204" pitchFamily="34" charset="0"/>
              </a:rPr>
              <a:t>Lý do chọn đề tài, mục tiêu và phạm vi thực hiện.</a:t>
            </a:r>
          </a:p>
        </p:txBody>
      </p:sp>
      <p:sp>
        <p:nvSpPr>
          <p:cNvPr id="15" name="Rectangle: Rounded Corners 14">
            <a:extLst>
              <a:ext uri="{FF2B5EF4-FFF2-40B4-BE49-F238E27FC236}">
                <a16:creationId xmlns:a16="http://schemas.microsoft.com/office/drawing/2014/main" id="{85ACAF54-D78F-4209-08D9-347763ECEF2A}"/>
              </a:ext>
            </a:extLst>
          </p:cNvPr>
          <p:cNvSpPr/>
          <p:nvPr/>
        </p:nvSpPr>
        <p:spPr>
          <a:xfrm>
            <a:off x="6286500" y="1778000"/>
            <a:ext cx="5346700" cy="1270000"/>
          </a:xfrm>
          <a:prstGeom prst="roundRect">
            <a:avLst/>
          </a:prstGeom>
          <a:solidFill>
            <a:srgbClr val="E7F4F1"/>
          </a:solidFill>
          <a:ln w="15240">
            <a:solidFill>
              <a:srgbClr val="117C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 name="Rectangle 15">
            <a:extLst>
              <a:ext uri="{FF2B5EF4-FFF2-40B4-BE49-F238E27FC236}">
                <a16:creationId xmlns:a16="http://schemas.microsoft.com/office/drawing/2014/main" id="{C5A1E4F3-2A58-00E2-E1F4-764C55F577A4}"/>
              </a:ext>
            </a:extLst>
          </p:cNvPr>
          <p:cNvSpPr/>
          <p:nvPr/>
        </p:nvSpPr>
        <p:spPr>
          <a:xfrm>
            <a:off x="6286500" y="1778000"/>
            <a:ext cx="76200" cy="1270000"/>
          </a:xfrm>
          <a:prstGeom prst="rect">
            <a:avLst/>
          </a:prstGeom>
          <a:solidFill>
            <a:srgbClr val="117C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7" name="Oval 16">
            <a:extLst>
              <a:ext uri="{FF2B5EF4-FFF2-40B4-BE49-F238E27FC236}">
                <a16:creationId xmlns:a16="http://schemas.microsoft.com/office/drawing/2014/main" id="{91AD8AB3-2A13-99F9-D56B-C40C7DCEBEBC}"/>
              </a:ext>
            </a:extLst>
          </p:cNvPr>
          <p:cNvSpPr/>
          <p:nvPr/>
        </p:nvSpPr>
        <p:spPr>
          <a:xfrm>
            <a:off x="6540500" y="2108200"/>
            <a:ext cx="596900" cy="596900"/>
          </a:xfrm>
          <a:prstGeom prst="ellipse">
            <a:avLst/>
          </a:prstGeom>
          <a:solidFill>
            <a:srgbClr val="117C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 name="TextBox 17">
            <a:extLst>
              <a:ext uri="{FF2B5EF4-FFF2-40B4-BE49-F238E27FC236}">
                <a16:creationId xmlns:a16="http://schemas.microsoft.com/office/drawing/2014/main" id="{4AAC2822-7D12-B791-468A-0246F8EBA5F7}"/>
              </a:ext>
            </a:extLst>
          </p:cNvPr>
          <p:cNvSpPr txBox="1"/>
          <p:nvPr/>
        </p:nvSpPr>
        <p:spPr>
          <a:xfrm>
            <a:off x="6540500" y="2108201"/>
            <a:ext cx="596900" cy="328295"/>
          </a:xfrm>
          <a:prstGeom prst="rect">
            <a:avLst/>
          </a:prstGeom>
          <a:noFill/>
        </p:spPr>
        <p:txBody>
          <a:bodyPr vert="horz" wrap="square" lIns="50800" tIns="25400" rIns="50800" bIns="25400" rtlCol="0" anchor="ctr">
            <a:spAutoFit/>
          </a:bodyPr>
          <a:lstStyle/>
          <a:p>
            <a:pPr algn="ctr"/>
            <a:r>
              <a:rPr lang="en-US" b="1">
                <a:solidFill>
                  <a:srgbClr val="FFFFFF"/>
                </a:solidFill>
                <a:latin typeface="Arial" panose="020B0604020202020204" pitchFamily="34" charset="0"/>
              </a:rPr>
              <a:t>02</a:t>
            </a:r>
          </a:p>
        </p:txBody>
      </p:sp>
      <p:sp>
        <p:nvSpPr>
          <p:cNvPr id="19" name="TextBox 18">
            <a:extLst>
              <a:ext uri="{FF2B5EF4-FFF2-40B4-BE49-F238E27FC236}">
                <a16:creationId xmlns:a16="http://schemas.microsoft.com/office/drawing/2014/main" id="{A27C6E13-2C2C-C14D-0C0A-026D94457889}"/>
              </a:ext>
            </a:extLst>
          </p:cNvPr>
          <p:cNvSpPr txBox="1"/>
          <p:nvPr/>
        </p:nvSpPr>
        <p:spPr>
          <a:xfrm>
            <a:off x="7353300" y="1968501"/>
            <a:ext cx="3937000" cy="328295"/>
          </a:xfrm>
          <a:prstGeom prst="rect">
            <a:avLst/>
          </a:prstGeom>
          <a:noFill/>
        </p:spPr>
        <p:txBody>
          <a:bodyPr vert="horz" wrap="square" lIns="50800" tIns="25400" rIns="50800" bIns="25400" rtlCol="0" anchor="ctr">
            <a:spAutoFit/>
          </a:bodyPr>
          <a:lstStyle/>
          <a:p>
            <a:r>
              <a:rPr lang="vi-VN" b="1">
                <a:solidFill>
                  <a:srgbClr val="16303D"/>
                </a:solidFill>
                <a:latin typeface="Arial" panose="020B0604020202020204" pitchFamily="34" charset="0"/>
              </a:rPr>
              <a:t>CƠ SỞ LÝ THUYẾT</a:t>
            </a:r>
            <a:endParaRPr lang="en-US" b="1">
              <a:solidFill>
                <a:srgbClr val="16303D"/>
              </a:solidFill>
              <a:latin typeface="Arial" panose="020B0604020202020204" pitchFamily="34" charset="0"/>
            </a:endParaRPr>
          </a:p>
        </p:txBody>
      </p:sp>
      <p:sp>
        <p:nvSpPr>
          <p:cNvPr id="20" name="TextBox 19">
            <a:extLst>
              <a:ext uri="{FF2B5EF4-FFF2-40B4-BE49-F238E27FC236}">
                <a16:creationId xmlns:a16="http://schemas.microsoft.com/office/drawing/2014/main" id="{5A4ABF1C-F211-9E51-6472-90F1DEBC5B90}"/>
              </a:ext>
            </a:extLst>
          </p:cNvPr>
          <p:cNvSpPr txBox="1"/>
          <p:nvPr/>
        </p:nvSpPr>
        <p:spPr>
          <a:xfrm>
            <a:off x="7353300" y="2267179"/>
            <a:ext cx="3937000" cy="543739"/>
          </a:xfrm>
          <a:prstGeom prst="rect">
            <a:avLst/>
          </a:prstGeom>
          <a:noFill/>
        </p:spPr>
        <p:txBody>
          <a:bodyPr vert="horz" wrap="square" lIns="50800" tIns="25400" rIns="50800" bIns="25400" rtlCol="0" anchor="ctr">
            <a:spAutoFit/>
          </a:bodyPr>
          <a:lstStyle/>
          <a:p>
            <a:r>
              <a:rPr lang="en-US" sz="1600">
                <a:solidFill>
                  <a:srgbClr val="60727B"/>
                </a:solidFill>
                <a:latin typeface="Arial" panose="020B0604020202020204" pitchFamily="34" charset="0"/>
              </a:rPr>
              <a:t>YOLOv8s, EfficientNet-B0, LSTM và các chỉ số hành vi.</a:t>
            </a:r>
          </a:p>
        </p:txBody>
      </p:sp>
      <p:sp>
        <p:nvSpPr>
          <p:cNvPr id="21" name="Rectangle: Rounded Corners 20">
            <a:extLst>
              <a:ext uri="{FF2B5EF4-FFF2-40B4-BE49-F238E27FC236}">
                <a16:creationId xmlns:a16="http://schemas.microsoft.com/office/drawing/2014/main" id="{463C300D-FD95-4441-A202-A7BF741325A8}"/>
              </a:ext>
            </a:extLst>
          </p:cNvPr>
          <p:cNvSpPr/>
          <p:nvPr/>
        </p:nvSpPr>
        <p:spPr>
          <a:xfrm>
            <a:off x="533400" y="3302000"/>
            <a:ext cx="5346700" cy="1270000"/>
          </a:xfrm>
          <a:prstGeom prst="roundRect">
            <a:avLst/>
          </a:prstGeom>
          <a:solidFill>
            <a:srgbClr val="FAECEB"/>
          </a:solidFill>
          <a:ln w="15240">
            <a:solidFill>
              <a:srgbClr val="D94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2" name="Rectangle 21">
            <a:extLst>
              <a:ext uri="{FF2B5EF4-FFF2-40B4-BE49-F238E27FC236}">
                <a16:creationId xmlns:a16="http://schemas.microsoft.com/office/drawing/2014/main" id="{D5765787-91AA-B6C3-0015-14F2CE79548C}"/>
              </a:ext>
            </a:extLst>
          </p:cNvPr>
          <p:cNvSpPr/>
          <p:nvPr/>
        </p:nvSpPr>
        <p:spPr>
          <a:xfrm>
            <a:off x="533400" y="3302000"/>
            <a:ext cx="76200" cy="1270000"/>
          </a:xfrm>
          <a:prstGeom prst="rect">
            <a:avLst/>
          </a:prstGeom>
          <a:solidFill>
            <a:srgbClr val="D94C4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3" name="Oval 22">
            <a:extLst>
              <a:ext uri="{FF2B5EF4-FFF2-40B4-BE49-F238E27FC236}">
                <a16:creationId xmlns:a16="http://schemas.microsoft.com/office/drawing/2014/main" id="{929F0B6B-4537-AE7B-F38E-66D145D063A6}"/>
              </a:ext>
            </a:extLst>
          </p:cNvPr>
          <p:cNvSpPr/>
          <p:nvPr/>
        </p:nvSpPr>
        <p:spPr>
          <a:xfrm>
            <a:off x="787400" y="3632200"/>
            <a:ext cx="596900" cy="596900"/>
          </a:xfrm>
          <a:prstGeom prst="ellipse">
            <a:avLst/>
          </a:prstGeom>
          <a:solidFill>
            <a:srgbClr val="D94C4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4" name="TextBox 23">
            <a:extLst>
              <a:ext uri="{FF2B5EF4-FFF2-40B4-BE49-F238E27FC236}">
                <a16:creationId xmlns:a16="http://schemas.microsoft.com/office/drawing/2014/main" id="{D5A039B2-DF1F-5589-4BFC-AE65B2C347B0}"/>
              </a:ext>
            </a:extLst>
          </p:cNvPr>
          <p:cNvSpPr txBox="1"/>
          <p:nvPr/>
        </p:nvSpPr>
        <p:spPr>
          <a:xfrm>
            <a:off x="787400" y="3632201"/>
            <a:ext cx="596900" cy="328295"/>
          </a:xfrm>
          <a:prstGeom prst="rect">
            <a:avLst/>
          </a:prstGeom>
          <a:noFill/>
        </p:spPr>
        <p:txBody>
          <a:bodyPr vert="horz" wrap="square" lIns="50800" tIns="25400" rIns="50800" bIns="25400" rtlCol="0" anchor="ctr">
            <a:spAutoFit/>
          </a:bodyPr>
          <a:lstStyle/>
          <a:p>
            <a:pPr algn="ctr"/>
            <a:r>
              <a:rPr lang="en-US" b="1">
                <a:solidFill>
                  <a:srgbClr val="FFFFFF"/>
                </a:solidFill>
                <a:latin typeface="Arial" panose="020B0604020202020204" pitchFamily="34" charset="0"/>
              </a:rPr>
              <a:t>03</a:t>
            </a:r>
          </a:p>
        </p:txBody>
      </p:sp>
      <p:sp>
        <p:nvSpPr>
          <p:cNvPr id="25" name="TextBox 24">
            <a:extLst>
              <a:ext uri="{FF2B5EF4-FFF2-40B4-BE49-F238E27FC236}">
                <a16:creationId xmlns:a16="http://schemas.microsoft.com/office/drawing/2014/main" id="{967404C8-F44D-3C1E-2A4D-BD14D0103446}"/>
              </a:ext>
            </a:extLst>
          </p:cNvPr>
          <p:cNvSpPr txBox="1"/>
          <p:nvPr/>
        </p:nvSpPr>
        <p:spPr>
          <a:xfrm>
            <a:off x="1600200" y="3492501"/>
            <a:ext cx="3937000" cy="328295"/>
          </a:xfrm>
          <a:prstGeom prst="rect">
            <a:avLst/>
          </a:prstGeom>
          <a:noFill/>
        </p:spPr>
        <p:txBody>
          <a:bodyPr vert="horz" wrap="square" lIns="50800" tIns="25400" rIns="50800" bIns="25400" rtlCol="0" anchor="ctr">
            <a:spAutoFit/>
          </a:bodyPr>
          <a:lstStyle/>
          <a:p>
            <a:r>
              <a:rPr lang="en-US" b="1">
                <a:solidFill>
                  <a:srgbClr val="16303D"/>
                </a:solidFill>
                <a:latin typeface="Arial" panose="020B0604020202020204" pitchFamily="34" charset="0"/>
              </a:rPr>
              <a:t>PHÂN TÍCH VÀ THIẾT KẾ</a:t>
            </a:r>
          </a:p>
        </p:txBody>
      </p:sp>
      <p:sp>
        <p:nvSpPr>
          <p:cNvPr id="26" name="TextBox 25">
            <a:extLst>
              <a:ext uri="{FF2B5EF4-FFF2-40B4-BE49-F238E27FC236}">
                <a16:creationId xmlns:a16="http://schemas.microsoft.com/office/drawing/2014/main" id="{95D36CB8-5DE9-234D-65D9-1FC84399F01E}"/>
              </a:ext>
            </a:extLst>
          </p:cNvPr>
          <p:cNvSpPr txBox="1"/>
          <p:nvPr/>
        </p:nvSpPr>
        <p:spPr>
          <a:xfrm>
            <a:off x="1600200" y="3791179"/>
            <a:ext cx="3937000" cy="543739"/>
          </a:xfrm>
          <a:prstGeom prst="rect">
            <a:avLst/>
          </a:prstGeom>
          <a:noFill/>
        </p:spPr>
        <p:txBody>
          <a:bodyPr vert="horz" wrap="square" lIns="50800" tIns="25400" rIns="50800" bIns="25400" rtlCol="0" anchor="ctr">
            <a:spAutoFit/>
          </a:bodyPr>
          <a:lstStyle/>
          <a:p>
            <a:r>
              <a:rPr lang="vi-VN" sz="1600">
                <a:solidFill>
                  <a:srgbClr val="60727B"/>
                </a:solidFill>
                <a:latin typeface="Arial" panose="020B0604020202020204" pitchFamily="34" charset="0"/>
              </a:rPr>
              <a:t>Yêu cầu, ca sử dụng, kiến trúc và cơ sở dữ liệu.</a:t>
            </a:r>
            <a:endParaRPr lang="en-US" sz="1600">
              <a:solidFill>
                <a:srgbClr val="60727B"/>
              </a:solidFill>
              <a:latin typeface="Arial" panose="020B0604020202020204" pitchFamily="34" charset="0"/>
            </a:endParaRPr>
          </a:p>
        </p:txBody>
      </p:sp>
      <p:sp>
        <p:nvSpPr>
          <p:cNvPr id="27" name="Rectangle: Rounded Corners 26">
            <a:extLst>
              <a:ext uri="{FF2B5EF4-FFF2-40B4-BE49-F238E27FC236}">
                <a16:creationId xmlns:a16="http://schemas.microsoft.com/office/drawing/2014/main" id="{5F4E4389-6F0A-CACD-9991-C13C4906D45D}"/>
              </a:ext>
            </a:extLst>
          </p:cNvPr>
          <p:cNvSpPr/>
          <p:nvPr/>
        </p:nvSpPr>
        <p:spPr>
          <a:xfrm>
            <a:off x="6286500" y="3302000"/>
            <a:ext cx="5346700" cy="1270000"/>
          </a:xfrm>
          <a:prstGeom prst="roundRect">
            <a:avLst/>
          </a:prstGeom>
          <a:solidFill>
            <a:srgbClr val="FBF4E5"/>
          </a:solidFill>
          <a:ln w="15240">
            <a:solidFill>
              <a:srgbClr val="F1A3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8" name="Rectangle 27">
            <a:extLst>
              <a:ext uri="{FF2B5EF4-FFF2-40B4-BE49-F238E27FC236}">
                <a16:creationId xmlns:a16="http://schemas.microsoft.com/office/drawing/2014/main" id="{D4EA9F36-1EC6-E9C3-B781-F27A60BC9B34}"/>
              </a:ext>
            </a:extLst>
          </p:cNvPr>
          <p:cNvSpPr/>
          <p:nvPr/>
        </p:nvSpPr>
        <p:spPr>
          <a:xfrm>
            <a:off x="6286500" y="3302000"/>
            <a:ext cx="76200" cy="1270000"/>
          </a:xfrm>
          <a:prstGeom prst="rect">
            <a:avLst/>
          </a:prstGeom>
          <a:solidFill>
            <a:srgbClr val="F1A33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9" name="Oval 28">
            <a:extLst>
              <a:ext uri="{FF2B5EF4-FFF2-40B4-BE49-F238E27FC236}">
                <a16:creationId xmlns:a16="http://schemas.microsoft.com/office/drawing/2014/main" id="{1A9DA9E1-B131-1B54-F901-7369E0025F67}"/>
              </a:ext>
            </a:extLst>
          </p:cNvPr>
          <p:cNvSpPr/>
          <p:nvPr/>
        </p:nvSpPr>
        <p:spPr>
          <a:xfrm>
            <a:off x="6540500" y="3632200"/>
            <a:ext cx="596900" cy="596900"/>
          </a:xfrm>
          <a:prstGeom prst="ellipse">
            <a:avLst/>
          </a:prstGeom>
          <a:solidFill>
            <a:srgbClr val="F1A33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0" name="TextBox 29">
            <a:extLst>
              <a:ext uri="{FF2B5EF4-FFF2-40B4-BE49-F238E27FC236}">
                <a16:creationId xmlns:a16="http://schemas.microsoft.com/office/drawing/2014/main" id="{D0A3192E-356D-3F2A-A7CF-500C0A300D84}"/>
              </a:ext>
            </a:extLst>
          </p:cNvPr>
          <p:cNvSpPr txBox="1"/>
          <p:nvPr/>
        </p:nvSpPr>
        <p:spPr>
          <a:xfrm>
            <a:off x="6540500" y="3632201"/>
            <a:ext cx="596900" cy="328295"/>
          </a:xfrm>
          <a:prstGeom prst="rect">
            <a:avLst/>
          </a:prstGeom>
          <a:noFill/>
        </p:spPr>
        <p:txBody>
          <a:bodyPr vert="horz" wrap="square" lIns="50800" tIns="25400" rIns="50800" bIns="25400" rtlCol="0" anchor="ctr">
            <a:spAutoFit/>
          </a:bodyPr>
          <a:lstStyle/>
          <a:p>
            <a:pPr algn="ctr"/>
            <a:r>
              <a:rPr lang="en-US" b="1">
                <a:solidFill>
                  <a:srgbClr val="FFFFFF"/>
                </a:solidFill>
                <a:latin typeface="Arial" panose="020B0604020202020204" pitchFamily="34" charset="0"/>
              </a:rPr>
              <a:t>04</a:t>
            </a:r>
          </a:p>
        </p:txBody>
      </p:sp>
      <p:sp>
        <p:nvSpPr>
          <p:cNvPr id="31" name="TextBox 30">
            <a:extLst>
              <a:ext uri="{FF2B5EF4-FFF2-40B4-BE49-F238E27FC236}">
                <a16:creationId xmlns:a16="http://schemas.microsoft.com/office/drawing/2014/main" id="{E1C17A6C-2141-96D3-02B9-7B29ED9B9600}"/>
              </a:ext>
            </a:extLst>
          </p:cNvPr>
          <p:cNvSpPr txBox="1"/>
          <p:nvPr/>
        </p:nvSpPr>
        <p:spPr>
          <a:xfrm>
            <a:off x="7353300" y="3492501"/>
            <a:ext cx="3937000" cy="328295"/>
          </a:xfrm>
          <a:prstGeom prst="rect">
            <a:avLst/>
          </a:prstGeom>
          <a:noFill/>
        </p:spPr>
        <p:txBody>
          <a:bodyPr vert="horz" wrap="square" lIns="50800" tIns="25400" rIns="50800" bIns="25400" rtlCol="0" anchor="ctr">
            <a:spAutoFit/>
          </a:bodyPr>
          <a:lstStyle/>
          <a:p>
            <a:r>
              <a:rPr lang="en-US" b="1">
                <a:solidFill>
                  <a:srgbClr val="16303D"/>
                </a:solidFill>
                <a:latin typeface="Arial" panose="020B0604020202020204" pitchFamily="34" charset="0"/>
              </a:rPr>
              <a:t>XÂY DỰNG HỆ THỐNG</a:t>
            </a:r>
          </a:p>
        </p:txBody>
      </p:sp>
      <p:sp>
        <p:nvSpPr>
          <p:cNvPr id="32" name="TextBox 31">
            <a:extLst>
              <a:ext uri="{FF2B5EF4-FFF2-40B4-BE49-F238E27FC236}">
                <a16:creationId xmlns:a16="http://schemas.microsoft.com/office/drawing/2014/main" id="{BC8B9590-2385-834E-2C71-1EE58A05EDAB}"/>
              </a:ext>
            </a:extLst>
          </p:cNvPr>
          <p:cNvSpPr txBox="1"/>
          <p:nvPr/>
        </p:nvSpPr>
        <p:spPr>
          <a:xfrm>
            <a:off x="7353300" y="3791179"/>
            <a:ext cx="3937000" cy="543739"/>
          </a:xfrm>
          <a:prstGeom prst="rect">
            <a:avLst/>
          </a:prstGeom>
          <a:noFill/>
        </p:spPr>
        <p:txBody>
          <a:bodyPr vert="horz" wrap="square" lIns="50800" tIns="25400" rIns="50800" bIns="25400" rtlCol="0" anchor="ctr">
            <a:spAutoFit/>
          </a:bodyPr>
          <a:lstStyle/>
          <a:p>
            <a:r>
              <a:rPr lang="en-US" sz="1600">
                <a:solidFill>
                  <a:srgbClr val="60727B"/>
                </a:solidFill>
                <a:latin typeface="Arial" panose="020B0604020202020204" pitchFamily="34" charset="0"/>
              </a:rPr>
              <a:t>Edge Simulator, FastAPI, MySQL, Web và Mobile App.</a:t>
            </a:r>
          </a:p>
        </p:txBody>
      </p:sp>
      <p:sp>
        <p:nvSpPr>
          <p:cNvPr id="33" name="Rectangle: Rounded Corners 32">
            <a:extLst>
              <a:ext uri="{FF2B5EF4-FFF2-40B4-BE49-F238E27FC236}">
                <a16:creationId xmlns:a16="http://schemas.microsoft.com/office/drawing/2014/main" id="{A835C783-4AB3-B289-A287-6DDE9C2EDEC7}"/>
              </a:ext>
            </a:extLst>
          </p:cNvPr>
          <p:cNvSpPr/>
          <p:nvPr/>
        </p:nvSpPr>
        <p:spPr>
          <a:xfrm>
            <a:off x="533400" y="4826000"/>
            <a:ext cx="5346700" cy="1270000"/>
          </a:xfrm>
          <a:prstGeom prst="roundRect">
            <a:avLst/>
          </a:prstGeom>
          <a:solidFill>
            <a:srgbClr val="E7F2F5"/>
          </a:solidFill>
          <a:ln w="15240">
            <a:solidFill>
              <a:srgbClr val="176B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4" name="Rectangle 33">
            <a:extLst>
              <a:ext uri="{FF2B5EF4-FFF2-40B4-BE49-F238E27FC236}">
                <a16:creationId xmlns:a16="http://schemas.microsoft.com/office/drawing/2014/main" id="{5004BAB4-2E1B-2E72-B5F3-C7EDAA0E322D}"/>
              </a:ext>
            </a:extLst>
          </p:cNvPr>
          <p:cNvSpPr/>
          <p:nvPr/>
        </p:nvSpPr>
        <p:spPr>
          <a:xfrm>
            <a:off x="533400" y="4826000"/>
            <a:ext cx="76200" cy="1270000"/>
          </a:xfrm>
          <a:prstGeom prst="rect">
            <a:avLst/>
          </a:prstGeom>
          <a:solidFill>
            <a:srgbClr val="176B8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5" name="Oval 34">
            <a:extLst>
              <a:ext uri="{FF2B5EF4-FFF2-40B4-BE49-F238E27FC236}">
                <a16:creationId xmlns:a16="http://schemas.microsoft.com/office/drawing/2014/main" id="{5DDC9BB0-EEA2-66EC-0901-A399D891A224}"/>
              </a:ext>
            </a:extLst>
          </p:cNvPr>
          <p:cNvSpPr/>
          <p:nvPr/>
        </p:nvSpPr>
        <p:spPr>
          <a:xfrm>
            <a:off x="787400" y="5156200"/>
            <a:ext cx="596900" cy="596900"/>
          </a:xfrm>
          <a:prstGeom prst="ellipse">
            <a:avLst/>
          </a:prstGeom>
          <a:solidFill>
            <a:srgbClr val="176B8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6" name="TextBox 35">
            <a:extLst>
              <a:ext uri="{FF2B5EF4-FFF2-40B4-BE49-F238E27FC236}">
                <a16:creationId xmlns:a16="http://schemas.microsoft.com/office/drawing/2014/main" id="{F8F58768-E3F1-8C24-12C9-61BEF1B11988}"/>
              </a:ext>
            </a:extLst>
          </p:cNvPr>
          <p:cNvSpPr txBox="1"/>
          <p:nvPr/>
        </p:nvSpPr>
        <p:spPr>
          <a:xfrm>
            <a:off x="787400" y="5156201"/>
            <a:ext cx="596900" cy="328295"/>
          </a:xfrm>
          <a:prstGeom prst="rect">
            <a:avLst/>
          </a:prstGeom>
          <a:noFill/>
        </p:spPr>
        <p:txBody>
          <a:bodyPr vert="horz" wrap="square" lIns="50800" tIns="25400" rIns="50800" bIns="25400" rtlCol="0" anchor="ctr">
            <a:spAutoFit/>
          </a:bodyPr>
          <a:lstStyle/>
          <a:p>
            <a:pPr algn="ctr"/>
            <a:r>
              <a:rPr lang="en-US" b="1">
                <a:solidFill>
                  <a:srgbClr val="FFFFFF"/>
                </a:solidFill>
                <a:latin typeface="Arial" panose="020B0604020202020204" pitchFamily="34" charset="0"/>
              </a:rPr>
              <a:t>05</a:t>
            </a:r>
          </a:p>
        </p:txBody>
      </p:sp>
      <p:sp>
        <p:nvSpPr>
          <p:cNvPr id="37" name="TextBox 36">
            <a:extLst>
              <a:ext uri="{FF2B5EF4-FFF2-40B4-BE49-F238E27FC236}">
                <a16:creationId xmlns:a16="http://schemas.microsoft.com/office/drawing/2014/main" id="{A2647C68-FE01-2F2B-D0D8-C8D015EBFF40}"/>
              </a:ext>
            </a:extLst>
          </p:cNvPr>
          <p:cNvSpPr txBox="1"/>
          <p:nvPr/>
        </p:nvSpPr>
        <p:spPr>
          <a:xfrm>
            <a:off x="1600200" y="5016501"/>
            <a:ext cx="3937000" cy="328295"/>
          </a:xfrm>
          <a:prstGeom prst="rect">
            <a:avLst/>
          </a:prstGeom>
          <a:noFill/>
        </p:spPr>
        <p:txBody>
          <a:bodyPr vert="horz" wrap="square" lIns="50800" tIns="25400" rIns="50800" bIns="25400" rtlCol="0" anchor="ctr">
            <a:spAutoFit/>
          </a:bodyPr>
          <a:lstStyle/>
          <a:p>
            <a:r>
              <a:rPr lang="en-US" b="1">
                <a:solidFill>
                  <a:srgbClr val="16303D"/>
                </a:solidFill>
                <a:latin typeface="Arial" panose="020B0604020202020204" pitchFamily="34" charset="0"/>
              </a:rPr>
              <a:t>KẾT QUẢ VÀ ĐÁNH GIÁ</a:t>
            </a:r>
          </a:p>
        </p:txBody>
      </p:sp>
      <p:sp>
        <p:nvSpPr>
          <p:cNvPr id="38" name="TextBox 37">
            <a:extLst>
              <a:ext uri="{FF2B5EF4-FFF2-40B4-BE49-F238E27FC236}">
                <a16:creationId xmlns:a16="http://schemas.microsoft.com/office/drawing/2014/main" id="{F15790B2-1758-02D9-0E2A-F8227ADCB264}"/>
              </a:ext>
            </a:extLst>
          </p:cNvPr>
          <p:cNvSpPr txBox="1"/>
          <p:nvPr/>
        </p:nvSpPr>
        <p:spPr>
          <a:xfrm>
            <a:off x="1600200" y="5315179"/>
            <a:ext cx="3937000" cy="543739"/>
          </a:xfrm>
          <a:prstGeom prst="rect">
            <a:avLst/>
          </a:prstGeom>
          <a:noFill/>
        </p:spPr>
        <p:txBody>
          <a:bodyPr vert="horz" wrap="square" lIns="50800" tIns="25400" rIns="50800" bIns="25400" rtlCol="0" anchor="ctr">
            <a:spAutoFit/>
          </a:bodyPr>
          <a:lstStyle/>
          <a:p>
            <a:r>
              <a:rPr lang="en-US" sz="1600">
                <a:solidFill>
                  <a:srgbClr val="60727B"/>
                </a:solidFill>
                <a:latin typeface="Arial" panose="020B0604020202020204" pitchFamily="34" charset="0"/>
              </a:rPr>
              <a:t>Chỉ số mô hình, ma trận nhầm lẫn và kịch bản demo.</a:t>
            </a:r>
          </a:p>
        </p:txBody>
      </p:sp>
      <p:sp>
        <p:nvSpPr>
          <p:cNvPr id="39" name="Rectangle: Rounded Corners 38">
            <a:extLst>
              <a:ext uri="{FF2B5EF4-FFF2-40B4-BE49-F238E27FC236}">
                <a16:creationId xmlns:a16="http://schemas.microsoft.com/office/drawing/2014/main" id="{2B345E96-823D-F23F-8C47-7083B446EC39}"/>
              </a:ext>
            </a:extLst>
          </p:cNvPr>
          <p:cNvSpPr/>
          <p:nvPr/>
        </p:nvSpPr>
        <p:spPr>
          <a:xfrm>
            <a:off x="6286500" y="4826000"/>
            <a:ext cx="5346700" cy="1270000"/>
          </a:xfrm>
          <a:prstGeom prst="roundRect">
            <a:avLst/>
          </a:prstGeom>
          <a:solidFill>
            <a:srgbClr val="E7F4F1"/>
          </a:solidFill>
          <a:ln w="15240">
            <a:solidFill>
              <a:srgbClr val="117C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0" name="Rectangle 39">
            <a:extLst>
              <a:ext uri="{FF2B5EF4-FFF2-40B4-BE49-F238E27FC236}">
                <a16:creationId xmlns:a16="http://schemas.microsoft.com/office/drawing/2014/main" id="{C8AAF516-3F3C-6FC5-3C9A-3E51BAD7BF6D}"/>
              </a:ext>
            </a:extLst>
          </p:cNvPr>
          <p:cNvSpPr/>
          <p:nvPr/>
        </p:nvSpPr>
        <p:spPr>
          <a:xfrm>
            <a:off x="6286500" y="4826000"/>
            <a:ext cx="76200" cy="1270000"/>
          </a:xfrm>
          <a:prstGeom prst="rect">
            <a:avLst/>
          </a:prstGeom>
          <a:solidFill>
            <a:srgbClr val="117C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1" name="Oval 40">
            <a:extLst>
              <a:ext uri="{FF2B5EF4-FFF2-40B4-BE49-F238E27FC236}">
                <a16:creationId xmlns:a16="http://schemas.microsoft.com/office/drawing/2014/main" id="{44F6CA15-A419-F142-D277-1DF1A0FFC313}"/>
              </a:ext>
            </a:extLst>
          </p:cNvPr>
          <p:cNvSpPr/>
          <p:nvPr/>
        </p:nvSpPr>
        <p:spPr>
          <a:xfrm>
            <a:off x="6540500" y="5156200"/>
            <a:ext cx="596900" cy="596900"/>
          </a:xfrm>
          <a:prstGeom prst="ellipse">
            <a:avLst/>
          </a:prstGeom>
          <a:solidFill>
            <a:srgbClr val="117C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2" name="TextBox 41">
            <a:extLst>
              <a:ext uri="{FF2B5EF4-FFF2-40B4-BE49-F238E27FC236}">
                <a16:creationId xmlns:a16="http://schemas.microsoft.com/office/drawing/2014/main" id="{AC97F181-E549-6A1C-1822-867D4F9463C3}"/>
              </a:ext>
            </a:extLst>
          </p:cNvPr>
          <p:cNvSpPr txBox="1"/>
          <p:nvPr/>
        </p:nvSpPr>
        <p:spPr>
          <a:xfrm>
            <a:off x="6540500" y="5156201"/>
            <a:ext cx="596900" cy="328295"/>
          </a:xfrm>
          <a:prstGeom prst="rect">
            <a:avLst/>
          </a:prstGeom>
          <a:noFill/>
        </p:spPr>
        <p:txBody>
          <a:bodyPr vert="horz" wrap="square" lIns="50800" tIns="25400" rIns="50800" bIns="25400" rtlCol="0" anchor="ctr">
            <a:spAutoFit/>
          </a:bodyPr>
          <a:lstStyle/>
          <a:p>
            <a:pPr algn="ctr"/>
            <a:r>
              <a:rPr lang="en-US" b="1">
                <a:solidFill>
                  <a:srgbClr val="FFFFFF"/>
                </a:solidFill>
                <a:latin typeface="Arial" panose="020B0604020202020204" pitchFamily="34" charset="0"/>
              </a:rPr>
              <a:t>06</a:t>
            </a:r>
          </a:p>
        </p:txBody>
      </p:sp>
      <p:sp>
        <p:nvSpPr>
          <p:cNvPr id="43" name="TextBox 42">
            <a:extLst>
              <a:ext uri="{FF2B5EF4-FFF2-40B4-BE49-F238E27FC236}">
                <a16:creationId xmlns:a16="http://schemas.microsoft.com/office/drawing/2014/main" id="{FC410917-E2D4-F055-D744-6F3389A074CD}"/>
              </a:ext>
            </a:extLst>
          </p:cNvPr>
          <p:cNvSpPr txBox="1"/>
          <p:nvPr/>
        </p:nvSpPr>
        <p:spPr>
          <a:xfrm>
            <a:off x="7353300" y="4994989"/>
            <a:ext cx="3937000" cy="246221"/>
          </a:xfrm>
          <a:prstGeom prst="rect">
            <a:avLst/>
          </a:prstGeom>
          <a:noFill/>
        </p:spPr>
        <p:txBody>
          <a:bodyPr vert="horz" wrap="square" lIns="0" tIns="0" rIns="0" bIns="0" rtlCol="0" anchor="ctr">
            <a:spAutoFit/>
          </a:bodyPr>
          <a:lstStyle/>
          <a:p>
            <a:r>
              <a:rPr lang="vi-VN" sz="1600" b="1">
                <a:solidFill>
                  <a:srgbClr val="16303D"/>
                </a:solidFill>
                <a:latin typeface="Arial" panose="020B0604020202020204" pitchFamily="34" charset="0"/>
              </a:rPr>
              <a:t>KẾT LUẬN VÀ HƯỚNG PHÁT TRIỂN</a:t>
            </a:r>
            <a:endParaRPr lang="en-US" sz="1600" b="1">
              <a:solidFill>
                <a:srgbClr val="16303D"/>
              </a:solidFill>
              <a:latin typeface="Arial" panose="020B0604020202020204" pitchFamily="34" charset="0"/>
            </a:endParaRPr>
          </a:p>
        </p:txBody>
      </p:sp>
      <p:sp>
        <p:nvSpPr>
          <p:cNvPr id="44" name="TextBox 43">
            <a:extLst>
              <a:ext uri="{FF2B5EF4-FFF2-40B4-BE49-F238E27FC236}">
                <a16:creationId xmlns:a16="http://schemas.microsoft.com/office/drawing/2014/main" id="{9478F0C3-B2EF-35D6-43D1-5BFAC846E721}"/>
              </a:ext>
            </a:extLst>
          </p:cNvPr>
          <p:cNvSpPr txBox="1"/>
          <p:nvPr/>
        </p:nvSpPr>
        <p:spPr>
          <a:xfrm>
            <a:off x="7353300" y="5382568"/>
            <a:ext cx="3937000" cy="461665"/>
          </a:xfrm>
          <a:prstGeom prst="rect">
            <a:avLst/>
          </a:prstGeom>
          <a:noFill/>
        </p:spPr>
        <p:txBody>
          <a:bodyPr vert="horz" wrap="square" lIns="0" tIns="0" rIns="0" bIns="0" rtlCol="0" anchor="ctr">
            <a:spAutoFit/>
          </a:bodyPr>
          <a:lstStyle/>
          <a:p>
            <a:r>
              <a:rPr lang="vi-VN" sz="1500">
                <a:solidFill>
                  <a:srgbClr val="60727B"/>
                </a:solidFill>
                <a:latin typeface="Arial" panose="020B0604020202020204" pitchFamily="34" charset="0"/>
              </a:rPr>
              <a:t>Kết quả đạt được, giới hạn và định hướng hoàn thiện.</a:t>
            </a:r>
            <a:endParaRPr lang="en-US" sz="1500">
              <a:solidFill>
                <a:srgbClr val="60727B"/>
              </a:solidFill>
              <a:latin typeface="Arial" panose="020B0604020202020204" pitchFamily="34" charset="0"/>
            </a:endParaRPr>
          </a:p>
        </p:txBody>
      </p:sp>
      <p:sp>
        <p:nvSpPr>
          <p:cNvPr id="45" name="Rectangle 44">
            <a:extLst>
              <a:ext uri="{FF2B5EF4-FFF2-40B4-BE49-F238E27FC236}">
                <a16:creationId xmlns:a16="http://schemas.microsoft.com/office/drawing/2014/main" id="{CBE6F79F-A896-B83F-5E0B-C23ACF3C32A9}"/>
              </a:ext>
            </a:extLst>
          </p:cNvPr>
          <p:cNvSpPr/>
          <p:nvPr/>
        </p:nvSpPr>
        <p:spPr>
          <a:xfrm>
            <a:off x="457200" y="6527800"/>
            <a:ext cx="11277600" cy="12700"/>
          </a:xfrm>
          <a:prstGeom prst="rect">
            <a:avLst/>
          </a:prstGeom>
          <a:solidFill>
            <a:srgbClr val="B8C8C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6" name="TextBox 45">
            <a:extLst>
              <a:ext uri="{FF2B5EF4-FFF2-40B4-BE49-F238E27FC236}">
                <a16:creationId xmlns:a16="http://schemas.microsoft.com/office/drawing/2014/main" id="{07C82E34-774E-3CB2-4AEE-22C8ACC0FFCD}"/>
              </a:ext>
            </a:extLst>
          </p:cNvPr>
          <p:cNvSpPr txBox="1"/>
          <p:nvPr/>
        </p:nvSpPr>
        <p:spPr>
          <a:xfrm>
            <a:off x="482600" y="6640156"/>
            <a:ext cx="2921000" cy="205184"/>
          </a:xfrm>
          <a:prstGeom prst="rect">
            <a:avLst/>
          </a:prstGeom>
          <a:noFill/>
        </p:spPr>
        <p:txBody>
          <a:bodyPr vert="horz" wrap="square" lIns="50800" tIns="25400" rIns="50800" bIns="25400" rtlCol="0" anchor="ctr">
            <a:spAutoFit/>
          </a:bodyPr>
          <a:lstStyle/>
          <a:p>
            <a:r>
              <a:rPr lang="vi-VN" sz="1000" b="1">
                <a:solidFill>
                  <a:srgbClr val="60727B"/>
                </a:solidFill>
                <a:latin typeface="Arial" panose="020B0604020202020204" pitchFamily="34" charset="0"/>
              </a:rPr>
              <a:t>LÊ HỮU SƠN · 22050058</a:t>
            </a:r>
            <a:endParaRPr lang="en-US" sz="1000" b="1">
              <a:solidFill>
                <a:srgbClr val="60727B"/>
              </a:solidFill>
              <a:latin typeface="Arial" panose="020B0604020202020204" pitchFamily="34" charset="0"/>
            </a:endParaRPr>
          </a:p>
        </p:txBody>
      </p:sp>
      <p:sp>
        <p:nvSpPr>
          <p:cNvPr id="47" name="TextBox 46">
            <a:extLst>
              <a:ext uri="{FF2B5EF4-FFF2-40B4-BE49-F238E27FC236}">
                <a16:creationId xmlns:a16="http://schemas.microsoft.com/office/drawing/2014/main" id="{14E80ABE-C947-EC36-5301-F3AED2E8FA18}"/>
              </a:ext>
            </a:extLst>
          </p:cNvPr>
          <p:cNvSpPr txBox="1"/>
          <p:nvPr/>
        </p:nvSpPr>
        <p:spPr>
          <a:xfrm>
            <a:off x="8636000" y="6640157"/>
            <a:ext cx="3073400" cy="205184"/>
          </a:xfrm>
          <a:prstGeom prst="rect">
            <a:avLst/>
          </a:prstGeom>
          <a:noFill/>
        </p:spPr>
        <p:txBody>
          <a:bodyPr vert="horz" wrap="square" lIns="50800" tIns="25400" rIns="50800" bIns="25400" rtlCol="0" anchor="ctr">
            <a:spAutoFit/>
          </a:bodyPr>
          <a:lstStyle/>
          <a:p>
            <a:pPr algn="r"/>
            <a:r>
              <a:rPr lang="it-IT" sz="1000" b="1">
                <a:solidFill>
                  <a:srgbClr val="60727B"/>
                </a:solidFill>
                <a:latin typeface="Arial" panose="020B0604020202020204" pitchFamily="34" charset="0"/>
              </a:rPr>
              <a:t>DMS · AI · EDGE · FASTAPI · MYSQL</a:t>
            </a:r>
            <a:endParaRPr lang="en-US" sz="1000" b="1">
              <a:solidFill>
                <a:srgbClr val="60727B"/>
              </a:solidFill>
              <a:latin typeface="Arial" panose="020B0604020202020204" pitchFamily="34" charset="0"/>
            </a:endParaRPr>
          </a:p>
        </p:txBody>
      </p:sp>
    </p:spTree>
    <p:extLst>
      <p:ext uri="{BB962C8B-B14F-4D97-AF65-F5344CB8AC3E}">
        <p14:creationId xmlns:p14="http://schemas.microsoft.com/office/powerpoint/2010/main" val="1790152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378FDE11-9FF1-4DEE-B3BC-5A51B77F1A3E}"/>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B139DCB1-C4EE-45E3-89B8-553ACD63A2CA}"/>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9706FA93-BE85-4E6B-9232-08BBC3556E85}"/>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18B1F8BC-639D-4E71-80B1-F0DD3256AD04}"/>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BÀI TOÁN VÀ MỤC TIÊU</a:t>
            </a:r>
          </a:p>
        </p:txBody>
      </p:sp>
      <p:sp>
        <p:nvSpPr>
          <p:cNvPr id="5" name="Rectangle 4">
            <a:extLst>
              <a:ext uri="{FF2B5EF4-FFF2-40B4-BE49-F238E27FC236}">
                <a16:creationId xmlns:a16="http://schemas.microsoft.com/office/drawing/2014/main" id="{605D0AF4-DEC8-4A08-9F20-50D565FBDC59}"/>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03</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BA4CD5CF-95EB-45AA-B355-52A898072885}"/>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C31EC1BB-6B2A-4AEE-81DA-6554B6E8513C}"/>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CEDAF371-1827-4927-BECE-F94F9E7B4942}"/>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8">
            <a:extLst>
              <a:ext uri="{FF2B5EF4-FFF2-40B4-BE49-F238E27FC236}">
                <a16:creationId xmlns:a16="http://schemas.microsoft.com/office/drawing/2014/main" id="{02697604-73D8-412F-BAD9-81E178D45384}"/>
              </a:ext>
            </a:extLst>
          </p:cNvPr>
          <p:cNvSpPr>
            <a:spLocks noGrp="1"/>
          </p:cNvSpPr>
          <p:nvPr/>
        </p:nvSpPr>
        <p:spPr>
          <a:xfrm>
            <a:off x="523875" y="1000125"/>
            <a:ext cx="6191250" cy="400050"/>
          </a:xfrm>
          <a:prstGeom prst="rect">
            <a:avLst/>
          </a:prstGeom>
          <a:noFill/>
          <a:ln w="0">
            <a:noFill/>
            <a:prstDash val="solid"/>
          </a:ln>
        </p:spPr>
        <p:txBody>
          <a:bodyPr wrap="square" lIns="66675" tIns="47625" rIns="66675" bIns="47625" anchor="t">
            <a:normAutofit/>
          </a:bodyPr>
          <a:lstStyle/>
          <a:p>
            <a:pPr algn="l">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Từ tín hiệu rời rạc đến cảnh báo có ngữ cảnh</a:t>
            </a:r>
          </a:p>
        </p:txBody>
      </p:sp>
      <p:sp>
        <p:nvSpPr>
          <p:cNvPr id="10" name="Rectangle 9">
            <a:extLst>
              <a:ext uri="{FF2B5EF4-FFF2-40B4-BE49-F238E27FC236}">
                <a16:creationId xmlns:a16="http://schemas.microsoft.com/office/drawing/2014/main" id="{D34DCB1B-27B0-4B23-8986-A73BB321C429}"/>
              </a:ext>
            </a:extLst>
          </p:cNvPr>
          <p:cNvSpPr>
            <a:spLocks noGrp="1"/>
          </p:cNvSpPr>
          <p:nvPr/>
        </p:nvSpPr>
        <p:spPr>
          <a:xfrm>
            <a:off x="523875" y="1504950"/>
            <a:ext cx="5667375" cy="952500"/>
          </a:xfrm>
          <a:prstGeom prst="rect">
            <a:avLst/>
          </a:prstGeom>
          <a:noFill/>
          <a:ln w="0">
            <a:noFill/>
            <a:prstDash val="solid"/>
          </a:ln>
        </p:spPr>
        <p:txBody>
          <a:bodyPr wrap="square" lIns="66675" tIns="47625" rIns="66675" bIns="47625" anchor="t">
            <a:normAutofit fontScale="99683" lnSpcReduction="10000"/>
          </a:bodyPr>
          <a:lstStyle/>
          <a:p>
            <a:pPr algn="l">
              <a:lnSpc>
                <a:spcPct val="113000"/>
              </a:lnSpc>
              <a:buNone/>
              <a:defRPr b="0" i="0">
                <a:solidFill>
                  <a:srgbClr val="16303D"/>
                </a:solidFill>
                <a:latin typeface="Arial"/>
                <a:ea typeface="Arial"/>
                <a:cs typeface="Arial"/>
              </a:defRPr>
            </a:pPr>
            <a:r>
              <a:rPr b="0" i="0">
                <a:solidFill>
                  <a:srgbClr val="16303D"/>
                </a:solidFill>
                <a:latin typeface="Arial"/>
                <a:ea typeface="Arial"/>
                <a:cs typeface="Arial"/>
              </a:rPr>
              <a:t>Buồn ngủ, mất tập trung và hành vi nguy hiểm thường diễn biến theo thời gian. Một khung hình đơn lẻ dễ tạo cảnh báo sai hoặc bỏ sót tình huống.</a:t>
            </a:r>
          </a:p>
        </p:txBody>
      </p:sp>
      <p:sp>
        <p:nvSpPr>
          <p:cNvPr id="11" name="Oval 10">
            <a:extLst>
              <a:ext uri="{FF2B5EF4-FFF2-40B4-BE49-F238E27FC236}">
                <a16:creationId xmlns:a16="http://schemas.microsoft.com/office/drawing/2014/main" id="{61525D80-2C5C-4B1F-9E83-E3D7D6B28585}"/>
              </a:ext>
            </a:extLst>
          </p:cNvPr>
          <p:cNvSpPr>
            <a:spLocks noGrp="1"/>
          </p:cNvSpPr>
          <p:nvPr/>
        </p:nvSpPr>
        <p:spPr>
          <a:xfrm>
            <a:off x="590550" y="2857500"/>
            <a:ext cx="514350" cy="514350"/>
          </a:xfrm>
          <a:prstGeom prst="ellipse">
            <a:avLst/>
          </a:prstGeom>
          <a:solidFill>
            <a:srgbClr val="117C7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C798C4FE-9BB5-4D53-9039-CC7458B0E682}"/>
              </a:ext>
            </a:extLst>
          </p:cNvPr>
          <p:cNvSpPr>
            <a:spLocks noGrp="1"/>
          </p:cNvSpPr>
          <p:nvPr/>
        </p:nvSpPr>
        <p:spPr>
          <a:xfrm>
            <a:off x="590550" y="2857500"/>
            <a:ext cx="514350" cy="5143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01</a:t>
            </a:r>
            <a:endParaRPr b="1" i="0">
              <a:solidFill>
                <a:srgbClr val="FFFFFF"/>
              </a:solidFill>
              <a:latin typeface="Arial"/>
              <a:ea typeface="Arial"/>
              <a:cs typeface="Arial"/>
            </a:endParaRPr>
          </a:p>
        </p:txBody>
      </p:sp>
      <p:sp>
        <p:nvSpPr>
          <p:cNvPr id="13" name="Rectangle 12">
            <a:extLst>
              <a:ext uri="{FF2B5EF4-FFF2-40B4-BE49-F238E27FC236}">
                <a16:creationId xmlns:a16="http://schemas.microsoft.com/office/drawing/2014/main" id="{9321A56A-E5DA-451E-ABDE-15605E01B9C1}"/>
              </a:ext>
            </a:extLst>
          </p:cNvPr>
          <p:cNvSpPr>
            <a:spLocks noGrp="1"/>
          </p:cNvSpPr>
          <p:nvPr/>
        </p:nvSpPr>
        <p:spPr>
          <a:xfrm>
            <a:off x="1257300" y="2838450"/>
            <a:ext cx="190500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Nhận diện</a:t>
            </a:r>
          </a:p>
        </p:txBody>
      </p:sp>
      <p:sp>
        <p:nvSpPr>
          <p:cNvPr id="14" name="Rectangle 13">
            <a:extLst>
              <a:ext uri="{FF2B5EF4-FFF2-40B4-BE49-F238E27FC236}">
                <a16:creationId xmlns:a16="http://schemas.microsoft.com/office/drawing/2014/main" id="{29E9DD30-224D-48AC-A526-FB79977B75B3}"/>
              </a:ext>
            </a:extLst>
          </p:cNvPr>
          <p:cNvSpPr>
            <a:spLocks noGrp="1"/>
          </p:cNvSpPr>
          <p:nvPr/>
        </p:nvSpPr>
        <p:spPr>
          <a:xfrm>
            <a:off x="1257300" y="3124200"/>
            <a:ext cx="4762500" cy="619125"/>
          </a:xfrm>
          <a:prstGeom prst="rect">
            <a:avLst/>
          </a:prstGeom>
          <a:noFill/>
          <a:ln w="0">
            <a:noFill/>
            <a:prstDash val="solid"/>
          </a:ln>
        </p:spPr>
        <p:txBody>
          <a:bodyPr wrap="square" lIns="66675" tIns="47625" rIns="66675" bIns="47625" anchor="t">
            <a:normAutofit fontScale="98439" lnSpcReduction="10000"/>
          </a:bodyPr>
          <a:lstStyle/>
          <a:p>
            <a:pPr algn="l">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Mắt đóng/mở, điện thoại, thuốc lá, dây an toàn và trạng thái tỉnh táo.</a:t>
            </a:r>
          </a:p>
        </p:txBody>
      </p:sp>
      <p:sp>
        <p:nvSpPr>
          <p:cNvPr id="15" name="Oval 14">
            <a:extLst>
              <a:ext uri="{FF2B5EF4-FFF2-40B4-BE49-F238E27FC236}">
                <a16:creationId xmlns:a16="http://schemas.microsoft.com/office/drawing/2014/main" id="{1D5D5513-3162-4BB5-86F8-DB5636E8455B}"/>
              </a:ext>
            </a:extLst>
          </p:cNvPr>
          <p:cNvSpPr>
            <a:spLocks noGrp="1"/>
          </p:cNvSpPr>
          <p:nvPr/>
        </p:nvSpPr>
        <p:spPr>
          <a:xfrm>
            <a:off x="590550" y="3924300"/>
            <a:ext cx="514350" cy="514350"/>
          </a:xfrm>
          <a:prstGeom prst="ellipse">
            <a:avLst/>
          </a:prstGeom>
          <a:solidFill>
            <a:srgbClr val="117C7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28657532-1943-4362-939E-71D00379B118}"/>
              </a:ext>
            </a:extLst>
          </p:cNvPr>
          <p:cNvSpPr>
            <a:spLocks noGrp="1"/>
          </p:cNvSpPr>
          <p:nvPr/>
        </p:nvSpPr>
        <p:spPr>
          <a:xfrm>
            <a:off x="590550" y="3924300"/>
            <a:ext cx="514350" cy="5143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02</a:t>
            </a:r>
            <a:endParaRPr b="1" i="0">
              <a:solidFill>
                <a:srgbClr val="FFFFFF"/>
              </a:solidFill>
              <a:latin typeface="Arial"/>
              <a:ea typeface="Arial"/>
              <a:cs typeface="Arial"/>
            </a:endParaRPr>
          </a:p>
        </p:txBody>
      </p:sp>
      <p:sp>
        <p:nvSpPr>
          <p:cNvPr id="17" name="Rectangle 16">
            <a:extLst>
              <a:ext uri="{FF2B5EF4-FFF2-40B4-BE49-F238E27FC236}">
                <a16:creationId xmlns:a16="http://schemas.microsoft.com/office/drawing/2014/main" id="{3E067621-33E0-4E6C-B0B4-DE2091945057}"/>
              </a:ext>
            </a:extLst>
          </p:cNvPr>
          <p:cNvSpPr>
            <a:spLocks noGrp="1"/>
          </p:cNvSpPr>
          <p:nvPr/>
        </p:nvSpPr>
        <p:spPr>
          <a:xfrm>
            <a:off x="1257300" y="3905250"/>
            <a:ext cx="190500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Theo thời gian</a:t>
            </a:r>
          </a:p>
        </p:txBody>
      </p:sp>
      <p:sp>
        <p:nvSpPr>
          <p:cNvPr id="18" name="Rectangle 17">
            <a:extLst>
              <a:ext uri="{FF2B5EF4-FFF2-40B4-BE49-F238E27FC236}">
                <a16:creationId xmlns:a16="http://schemas.microsoft.com/office/drawing/2014/main" id="{70276AA6-4252-47E6-8422-09F4A508FA85}"/>
              </a:ext>
            </a:extLst>
          </p:cNvPr>
          <p:cNvSpPr>
            <a:spLocks noGrp="1"/>
          </p:cNvSpPr>
          <p:nvPr/>
        </p:nvSpPr>
        <p:spPr>
          <a:xfrm>
            <a:off x="1257300" y="4191000"/>
            <a:ext cx="4762500" cy="619125"/>
          </a:xfrm>
          <a:prstGeom prst="rect">
            <a:avLst/>
          </a:prstGeom>
          <a:noFill/>
          <a:ln w="0">
            <a:noFill/>
            <a:prstDash val="solid"/>
          </a:ln>
        </p:spPr>
        <p:txBody>
          <a:bodyPr wrap="square" lIns="66675" tIns="47625" rIns="66675" bIns="47625" anchor="t">
            <a:normAutofit fontScale="98439" lnSpcReduction="10000"/>
          </a:bodyPr>
          <a:lstStyle/>
          <a:p>
            <a:pPr algn="l">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Kết hợp chuỗi 16 khung hình cùng EAR, MAR, PERCLOS và hướng nhìn.</a:t>
            </a:r>
          </a:p>
        </p:txBody>
      </p:sp>
      <p:sp>
        <p:nvSpPr>
          <p:cNvPr id="19" name="Oval 18">
            <a:extLst>
              <a:ext uri="{FF2B5EF4-FFF2-40B4-BE49-F238E27FC236}">
                <a16:creationId xmlns:a16="http://schemas.microsoft.com/office/drawing/2014/main" id="{A2D59BC2-D30C-4A5B-8339-8389819A3D95}"/>
              </a:ext>
            </a:extLst>
          </p:cNvPr>
          <p:cNvSpPr>
            <a:spLocks noGrp="1"/>
          </p:cNvSpPr>
          <p:nvPr/>
        </p:nvSpPr>
        <p:spPr>
          <a:xfrm>
            <a:off x="590550" y="4991100"/>
            <a:ext cx="514350" cy="514350"/>
          </a:xfrm>
          <a:prstGeom prst="ellipse">
            <a:avLst/>
          </a:prstGeom>
          <a:solidFill>
            <a:srgbClr val="D94C4C"/>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39202DE6-039C-430F-8E5C-E1BDC4D5B03D}"/>
              </a:ext>
            </a:extLst>
          </p:cNvPr>
          <p:cNvSpPr>
            <a:spLocks noGrp="1"/>
          </p:cNvSpPr>
          <p:nvPr/>
        </p:nvSpPr>
        <p:spPr>
          <a:xfrm>
            <a:off x="590550" y="4991100"/>
            <a:ext cx="514350" cy="5143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03</a:t>
            </a:r>
            <a:endParaRPr b="1" i="0">
              <a:solidFill>
                <a:srgbClr val="FFFFFF"/>
              </a:solidFill>
              <a:latin typeface="Arial"/>
              <a:ea typeface="Arial"/>
              <a:cs typeface="Arial"/>
            </a:endParaRPr>
          </a:p>
        </p:txBody>
      </p:sp>
      <p:sp>
        <p:nvSpPr>
          <p:cNvPr id="21" name="Rectangle 20">
            <a:extLst>
              <a:ext uri="{FF2B5EF4-FFF2-40B4-BE49-F238E27FC236}">
                <a16:creationId xmlns:a16="http://schemas.microsoft.com/office/drawing/2014/main" id="{6A822A79-62AF-4BB4-83E8-A62FE0D18E2D}"/>
              </a:ext>
            </a:extLst>
          </p:cNvPr>
          <p:cNvSpPr>
            <a:spLocks noGrp="1"/>
          </p:cNvSpPr>
          <p:nvPr/>
        </p:nvSpPr>
        <p:spPr>
          <a:xfrm>
            <a:off x="1257300" y="4972050"/>
            <a:ext cx="190500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Cảnh báo &amp; quản lý</a:t>
            </a:r>
          </a:p>
        </p:txBody>
      </p:sp>
      <p:sp>
        <p:nvSpPr>
          <p:cNvPr id="22" name="Rectangle 21">
            <a:extLst>
              <a:ext uri="{FF2B5EF4-FFF2-40B4-BE49-F238E27FC236}">
                <a16:creationId xmlns:a16="http://schemas.microsoft.com/office/drawing/2014/main" id="{F68A24D4-D0D9-4A64-AE57-22B46BA5DECA}"/>
              </a:ext>
            </a:extLst>
          </p:cNvPr>
          <p:cNvSpPr>
            <a:spLocks noGrp="1"/>
          </p:cNvSpPr>
          <p:nvPr/>
        </p:nvSpPr>
        <p:spPr>
          <a:xfrm>
            <a:off x="1257300" y="5257800"/>
            <a:ext cx="4762500" cy="619125"/>
          </a:xfrm>
          <a:prstGeom prst="rect">
            <a:avLst/>
          </a:prstGeom>
          <a:noFill/>
          <a:ln w="0">
            <a:noFill/>
            <a:prstDash val="solid"/>
          </a:ln>
        </p:spPr>
        <p:txBody>
          <a:bodyPr wrap="square" lIns="66675" tIns="47625" rIns="66675" bIns="47625" anchor="t">
            <a:normAutofit fontScale="98439" lnSpcReduction="10000"/>
          </a:bodyPr>
          <a:lstStyle/>
          <a:p>
            <a:pPr algn="l">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Cảnh báo tại Edge, lưu bằng chứng và phân phối dữ liệu theo vai trò.</a:t>
            </a:r>
          </a:p>
        </p:txBody>
      </p:sp>
      <p:pic>
        <p:nvPicPr>
          <p:cNvPr id="48" name="Picture 47"/>
          <p:cNvPicPr>
            <a:picLocks noChangeAspect="1"/>
          </p:cNvPicPr>
          <p:nvPr/>
        </p:nvPicPr>
        <p:blipFill>
          <a:blip r:embed="rId3"/>
          <a:srcRect l="15988" r="15988"/>
          <a:stretch>
            <a:fillRect/>
          </a:stretch>
        </p:blipFill>
        <p:spPr>
          <a:xfrm>
            <a:off x="6667500" y="1123950"/>
            <a:ext cx="4953000" cy="4095750"/>
          </a:xfrm>
          <a:prstGeom prst="roundRect">
            <a:avLst>
              <a:gd name="adj" fmla="val 2791"/>
            </a:avLst>
          </a:prstGeom>
        </p:spPr>
      </p:pic>
      <p:sp>
        <p:nvSpPr>
          <p:cNvPr id="24" name="Rectangle: Rounded Corners 23">
            <a:extLst>
              <a:ext uri="{FF2B5EF4-FFF2-40B4-BE49-F238E27FC236}">
                <a16:creationId xmlns:a16="http://schemas.microsoft.com/office/drawing/2014/main" id="{207CB5E1-98B1-45E5-BBFC-DCE5C843471F}"/>
              </a:ext>
            </a:extLst>
          </p:cNvPr>
          <p:cNvSpPr>
            <a:spLocks noGrp="1"/>
          </p:cNvSpPr>
          <p:nvPr/>
        </p:nvSpPr>
        <p:spPr>
          <a:xfrm>
            <a:off x="6858000" y="5381625"/>
            <a:ext cx="4572000" cy="685800"/>
          </a:xfrm>
          <a:prstGeom prst="roundRect">
            <a:avLst>
              <a:gd name="adj" fmla="val 16667"/>
            </a:avLst>
          </a:prstGeom>
          <a:solidFill>
            <a:srgbClr val="FAECEB"/>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77A48EBC-93AB-47CC-B754-B5549086141B}"/>
              </a:ext>
            </a:extLst>
          </p:cNvPr>
          <p:cNvSpPr>
            <a:spLocks noGrp="1"/>
          </p:cNvSpPr>
          <p:nvPr/>
        </p:nvSpPr>
        <p:spPr>
          <a:xfrm>
            <a:off x="7067550" y="5524500"/>
            <a:ext cx="4152900" cy="400050"/>
          </a:xfrm>
          <a:prstGeom prst="rect">
            <a:avLst/>
          </a:prstGeom>
          <a:noFill/>
          <a:ln w="0">
            <a:noFill/>
            <a:prstDash val="solid"/>
          </a:ln>
        </p:spPr>
        <p:txBody>
          <a:bodyPr wrap="square" lIns="66675" tIns="47625" rIns="66675" bIns="47625" anchor="ctr">
            <a:normAutofit fontScale="52910" lnSpcReduction="10000"/>
          </a:bodyPr>
          <a:lstStyle/>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Đầu ra cần đạt: cảnh báo đúng loại, đúng thời điểm và có ảnh/clip bằng chứng.</a:t>
            </a:r>
          </a:p>
        </p:txBody>
      </p:sp>
    </p:spTree>
    <p:extLst>
      <p:ext uri="{BB962C8B-B14F-4D97-AF65-F5344CB8AC3E}">
        <p14:creationId xmlns:p14="http://schemas.microsoft.com/office/powerpoint/2010/main" val="709790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286F59-9456-403C-9EAF-477C7A4D2E2A}"/>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9D350074-A8F5-4007-A95C-4C3A670B48A2}"/>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185F987F-C4D3-4B3C-B676-D48072A81C04}"/>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607BBBFE-C5E3-4713-BF17-0B437F255F95}"/>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PHẠM VI VÀ VAI TRÒ TRONG HỆ THỐNG</a:t>
            </a:r>
          </a:p>
        </p:txBody>
      </p:sp>
      <p:sp>
        <p:nvSpPr>
          <p:cNvPr id="5" name="Rectangle 4">
            <a:extLst>
              <a:ext uri="{FF2B5EF4-FFF2-40B4-BE49-F238E27FC236}">
                <a16:creationId xmlns:a16="http://schemas.microsoft.com/office/drawing/2014/main" id="{89ECDA4B-8996-4DFA-A709-464B2CC5C07D}"/>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04</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26416022-A5A9-4101-8712-3DFDB6ABF328}"/>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B9A61C9C-3A65-4FFC-8C2B-A41F435AC1B7}"/>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E00E224B-D3EA-433A-835F-72A1FD6B8DE3}"/>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Rounded Corners 8">
            <a:extLst>
              <a:ext uri="{FF2B5EF4-FFF2-40B4-BE49-F238E27FC236}">
                <a16:creationId xmlns:a16="http://schemas.microsoft.com/office/drawing/2014/main" id="{E9B8060C-3CC9-4CB8-BBEF-8FFFBC839788}"/>
              </a:ext>
            </a:extLst>
          </p:cNvPr>
          <p:cNvSpPr>
            <a:spLocks noGrp="1"/>
          </p:cNvSpPr>
          <p:nvPr/>
        </p:nvSpPr>
        <p:spPr>
          <a:xfrm>
            <a:off x="523875" y="1238250"/>
            <a:ext cx="3476625" cy="4429125"/>
          </a:xfrm>
          <a:prstGeom prst="roundRect">
            <a:avLst>
              <a:gd name="adj" fmla="val 4384"/>
            </a:avLst>
          </a:prstGeom>
          <a:solidFill>
            <a:srgbClr val="E7F2F5"/>
          </a:solidFill>
          <a:ln w="14288">
            <a:solidFill>
              <a:srgbClr val="176B8A"/>
            </a:solidFill>
            <a:prstDash val="solid"/>
          </a:ln>
        </p:spPr>
        <p:txBody>
          <a:bodyPr/>
          <a:lstStyle/>
          <a:p>
            <a:endParaRPr lang="en-US"/>
          </a:p>
        </p:txBody>
      </p:sp>
      <p:sp>
        <p:nvSpPr>
          <p:cNvPr id="10" name="Rectangle: Rounded Corners 9">
            <a:extLst>
              <a:ext uri="{FF2B5EF4-FFF2-40B4-BE49-F238E27FC236}">
                <a16:creationId xmlns:a16="http://schemas.microsoft.com/office/drawing/2014/main" id="{FE3FD992-3101-41B7-B9FE-9D3EBA45ED11}"/>
              </a:ext>
            </a:extLst>
          </p:cNvPr>
          <p:cNvSpPr>
            <a:spLocks noGrp="1"/>
          </p:cNvSpPr>
          <p:nvPr/>
        </p:nvSpPr>
        <p:spPr>
          <a:xfrm>
            <a:off x="771525" y="1476375"/>
            <a:ext cx="1619250" cy="323850"/>
          </a:xfrm>
          <a:prstGeom prst="roundRect">
            <a:avLst>
              <a:gd name="adj" fmla="val 50000"/>
            </a:avLst>
          </a:prstGeom>
          <a:solidFill>
            <a:srgbClr val="176B8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39036BCF-DC33-4715-9242-ADA64C440A8F}"/>
              </a:ext>
            </a:extLst>
          </p:cNvPr>
          <p:cNvSpPr>
            <a:spLocks noGrp="1"/>
          </p:cNvSpPr>
          <p:nvPr/>
        </p:nvSpPr>
        <p:spPr>
          <a:xfrm>
            <a:off x="771525" y="1476375"/>
            <a:ext cx="16192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SUPERVISOR</a:t>
            </a:r>
          </a:p>
        </p:txBody>
      </p:sp>
      <p:sp>
        <p:nvSpPr>
          <p:cNvPr id="12" name="Rectangle 11">
            <a:extLst>
              <a:ext uri="{FF2B5EF4-FFF2-40B4-BE49-F238E27FC236}">
                <a16:creationId xmlns:a16="http://schemas.microsoft.com/office/drawing/2014/main" id="{D4ADDCF3-9F93-45EE-887D-B6435E26002C}"/>
              </a:ext>
            </a:extLst>
          </p:cNvPr>
          <p:cNvSpPr>
            <a:spLocks noGrp="1"/>
          </p:cNvSpPr>
          <p:nvPr/>
        </p:nvSpPr>
        <p:spPr>
          <a:xfrm>
            <a:off x="771525" y="1952625"/>
            <a:ext cx="2952750" cy="400050"/>
          </a:xfrm>
          <a:prstGeom prst="rect">
            <a:avLst/>
          </a:prstGeom>
          <a:noFill/>
          <a:ln w="0">
            <a:noFill/>
            <a:prstDash val="solid"/>
          </a:ln>
        </p:spPr>
        <p:txBody>
          <a:bodyPr wrap="square" lIns="66675" tIns="47625" rIns="66675" bIns="47625" anchor="t">
            <a:normAutofit/>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Web Dashboard</a:t>
            </a:r>
          </a:p>
        </p:txBody>
      </p:sp>
      <p:sp>
        <p:nvSpPr>
          <p:cNvPr id="13" name="Rectangle 12">
            <a:extLst>
              <a:ext uri="{FF2B5EF4-FFF2-40B4-BE49-F238E27FC236}">
                <a16:creationId xmlns:a16="http://schemas.microsoft.com/office/drawing/2014/main" id="{72F83889-FDE0-43EF-BB11-6C23B2E0E9C0}"/>
              </a:ext>
            </a:extLst>
          </p:cNvPr>
          <p:cNvSpPr>
            <a:spLocks noGrp="1"/>
          </p:cNvSpPr>
          <p:nvPr/>
        </p:nvSpPr>
        <p:spPr>
          <a:xfrm>
            <a:off x="771525" y="2619375"/>
            <a:ext cx="2952750" cy="2095500"/>
          </a:xfrm>
          <a:prstGeom prst="rect">
            <a:avLst/>
          </a:prstGeom>
          <a:noFill/>
          <a:ln w="0">
            <a:noFill/>
            <a:prstDash val="solid"/>
          </a:ln>
        </p:spPr>
        <p:txBody>
          <a:bodyPr wrap="square" lIns="66675" tIns="47625" rIns="66675" bIns="47625" anchor="t">
            <a:normAutofit fontScale="99613"/>
          </a:bodyPr>
          <a:lstStyle/>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Quản lý tài xế, xe, thiết bị, tuyến và chuyến</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Theo dõi phiên giám sát</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Tiếp nhận, xác nhận và xử lý cảnh báo</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Xuất dữ liệu báo cáo</a:t>
            </a:r>
          </a:p>
        </p:txBody>
      </p:sp>
      <p:sp>
        <p:nvSpPr>
          <p:cNvPr id="14" name="Rectangle 13">
            <a:extLst>
              <a:ext uri="{FF2B5EF4-FFF2-40B4-BE49-F238E27FC236}">
                <a16:creationId xmlns:a16="http://schemas.microsoft.com/office/drawing/2014/main" id="{56B86532-F1EF-4A06-851E-73C461E6F41D}"/>
              </a:ext>
            </a:extLst>
          </p:cNvPr>
          <p:cNvSpPr>
            <a:spLocks noGrp="1"/>
          </p:cNvSpPr>
          <p:nvPr/>
        </p:nvSpPr>
        <p:spPr>
          <a:xfrm>
            <a:off x="771525" y="4981575"/>
            <a:ext cx="2952750" cy="19050"/>
          </a:xfrm>
          <a:prstGeom prst="rect">
            <a:avLst/>
          </a:prstGeom>
          <a:solidFill>
            <a:srgbClr val="176B8A"/>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A9AC0A2D-9213-4920-9302-D8BBF2744541}"/>
              </a:ext>
            </a:extLst>
          </p:cNvPr>
          <p:cNvSpPr>
            <a:spLocks noGrp="1"/>
          </p:cNvSpPr>
          <p:nvPr/>
        </p:nvSpPr>
        <p:spPr>
          <a:xfrm>
            <a:off x="771525" y="5133975"/>
            <a:ext cx="2952750" cy="304800"/>
          </a:xfrm>
          <a:prstGeom prst="rect">
            <a:avLst/>
          </a:prstGeom>
          <a:noFill/>
          <a:ln w="0">
            <a:noFill/>
            <a:prstDash val="solid"/>
          </a:ln>
        </p:spPr>
        <p:txBody>
          <a:bodyPr wrap="square" lIns="66675" tIns="47625" rIns="66675" bIns="47625" anchor="t">
            <a:normAutofit fontScale="87751" lnSpcReduction="20000"/>
          </a:bodyPr>
          <a:lstStyle/>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Quản lý tập trung</a:t>
            </a:r>
          </a:p>
        </p:txBody>
      </p:sp>
      <p:sp>
        <p:nvSpPr>
          <p:cNvPr id="16" name="Rectangle: Rounded Corners 15">
            <a:extLst>
              <a:ext uri="{FF2B5EF4-FFF2-40B4-BE49-F238E27FC236}">
                <a16:creationId xmlns:a16="http://schemas.microsoft.com/office/drawing/2014/main" id="{39517B54-D559-4C84-9FFE-4BC8F947A90F}"/>
              </a:ext>
            </a:extLst>
          </p:cNvPr>
          <p:cNvSpPr>
            <a:spLocks noGrp="1"/>
          </p:cNvSpPr>
          <p:nvPr/>
        </p:nvSpPr>
        <p:spPr>
          <a:xfrm>
            <a:off x="4381500" y="1238250"/>
            <a:ext cx="3476625" cy="4429125"/>
          </a:xfrm>
          <a:prstGeom prst="roundRect">
            <a:avLst>
              <a:gd name="adj" fmla="val 4384"/>
            </a:avLst>
          </a:prstGeom>
          <a:solidFill>
            <a:srgbClr val="E7F4F1"/>
          </a:solidFill>
          <a:ln w="14288">
            <a:solidFill>
              <a:srgbClr val="117C78"/>
            </a:solidFill>
            <a:prstDash val="solid"/>
          </a:ln>
        </p:spPr>
        <p:txBody>
          <a:bodyPr/>
          <a:lstStyle/>
          <a:p>
            <a:endParaRPr lang="en-US"/>
          </a:p>
        </p:txBody>
      </p:sp>
      <p:sp>
        <p:nvSpPr>
          <p:cNvPr id="17" name="Rectangle: Rounded Corners 16">
            <a:extLst>
              <a:ext uri="{FF2B5EF4-FFF2-40B4-BE49-F238E27FC236}">
                <a16:creationId xmlns:a16="http://schemas.microsoft.com/office/drawing/2014/main" id="{149E66A8-FBC8-4F6C-A236-D3F9C6ED8F9B}"/>
              </a:ext>
            </a:extLst>
          </p:cNvPr>
          <p:cNvSpPr>
            <a:spLocks noGrp="1"/>
          </p:cNvSpPr>
          <p:nvPr/>
        </p:nvSpPr>
        <p:spPr>
          <a:xfrm>
            <a:off x="4629150" y="1476375"/>
            <a:ext cx="1619250" cy="323850"/>
          </a:xfrm>
          <a:prstGeom prst="roundRect">
            <a:avLst>
              <a:gd name="adj" fmla="val 50000"/>
            </a:avLst>
          </a:prstGeom>
          <a:solidFill>
            <a:srgbClr val="117C78"/>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2159A1D7-8982-4C9D-A036-EB55292302C0}"/>
              </a:ext>
            </a:extLst>
          </p:cNvPr>
          <p:cNvSpPr>
            <a:spLocks noGrp="1"/>
          </p:cNvSpPr>
          <p:nvPr/>
        </p:nvSpPr>
        <p:spPr>
          <a:xfrm>
            <a:off x="4629150" y="1476375"/>
            <a:ext cx="16192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DRIVER</a:t>
            </a:r>
          </a:p>
        </p:txBody>
      </p:sp>
      <p:sp>
        <p:nvSpPr>
          <p:cNvPr id="19" name="Rectangle 18">
            <a:extLst>
              <a:ext uri="{FF2B5EF4-FFF2-40B4-BE49-F238E27FC236}">
                <a16:creationId xmlns:a16="http://schemas.microsoft.com/office/drawing/2014/main" id="{07D3D815-A2E3-4EFC-AAD8-157480AAD8C8}"/>
              </a:ext>
            </a:extLst>
          </p:cNvPr>
          <p:cNvSpPr>
            <a:spLocks noGrp="1"/>
          </p:cNvSpPr>
          <p:nvPr/>
        </p:nvSpPr>
        <p:spPr>
          <a:xfrm>
            <a:off x="4629150" y="1952625"/>
            <a:ext cx="2952750" cy="400050"/>
          </a:xfrm>
          <a:prstGeom prst="rect">
            <a:avLst/>
          </a:prstGeom>
          <a:noFill/>
          <a:ln w="0">
            <a:noFill/>
            <a:prstDash val="solid"/>
          </a:ln>
        </p:spPr>
        <p:txBody>
          <a:bodyPr wrap="square" lIns="66675" tIns="47625" rIns="66675" bIns="47625" anchor="t">
            <a:normAutofit/>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Mobile App</a:t>
            </a:r>
          </a:p>
        </p:txBody>
      </p:sp>
      <p:sp>
        <p:nvSpPr>
          <p:cNvPr id="20" name="Rectangle 19">
            <a:extLst>
              <a:ext uri="{FF2B5EF4-FFF2-40B4-BE49-F238E27FC236}">
                <a16:creationId xmlns:a16="http://schemas.microsoft.com/office/drawing/2014/main" id="{7F65D43C-DD0D-47DE-BFD5-DFBAAA91D218}"/>
              </a:ext>
            </a:extLst>
          </p:cNvPr>
          <p:cNvSpPr>
            <a:spLocks noGrp="1"/>
          </p:cNvSpPr>
          <p:nvPr/>
        </p:nvSpPr>
        <p:spPr>
          <a:xfrm>
            <a:off x="4629150" y="2619375"/>
            <a:ext cx="2952750" cy="2095500"/>
          </a:xfrm>
          <a:prstGeom prst="rect">
            <a:avLst/>
          </a:prstGeom>
          <a:noFill/>
          <a:ln w="0">
            <a:noFill/>
            <a:prstDash val="solid"/>
          </a:ln>
        </p:spPr>
        <p:txBody>
          <a:bodyPr wrap="square" lIns="66675" tIns="47625" rIns="66675" bIns="47625" anchor="t">
            <a:normAutofit/>
          </a:bodyPr>
          <a:lstStyle/>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Xem chuyến được giao</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Theo dõi vị trí hành trình</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Nhận thông báo cảnh báo</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Xem bằng chứng thuộc tài khoản</a:t>
            </a:r>
          </a:p>
        </p:txBody>
      </p:sp>
      <p:sp>
        <p:nvSpPr>
          <p:cNvPr id="21" name="Rectangle 20">
            <a:extLst>
              <a:ext uri="{FF2B5EF4-FFF2-40B4-BE49-F238E27FC236}">
                <a16:creationId xmlns:a16="http://schemas.microsoft.com/office/drawing/2014/main" id="{5FCDFFD6-80ED-4F6C-B10B-9FE07745EC73}"/>
              </a:ext>
            </a:extLst>
          </p:cNvPr>
          <p:cNvSpPr>
            <a:spLocks noGrp="1"/>
          </p:cNvSpPr>
          <p:nvPr/>
        </p:nvSpPr>
        <p:spPr>
          <a:xfrm>
            <a:off x="4629150" y="4981575"/>
            <a:ext cx="2952750" cy="19050"/>
          </a:xfrm>
          <a:prstGeom prst="rect">
            <a:avLst/>
          </a:prstGeom>
          <a:solidFill>
            <a:srgbClr val="117C7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8E642C58-2CA6-4686-8FBB-24C80470F5D8}"/>
              </a:ext>
            </a:extLst>
          </p:cNvPr>
          <p:cNvSpPr>
            <a:spLocks noGrp="1"/>
          </p:cNvSpPr>
          <p:nvPr/>
        </p:nvSpPr>
        <p:spPr>
          <a:xfrm>
            <a:off x="4629150" y="5133975"/>
            <a:ext cx="2952750" cy="304800"/>
          </a:xfrm>
          <a:prstGeom prst="rect">
            <a:avLst/>
          </a:prstGeom>
          <a:noFill/>
          <a:ln w="0">
            <a:noFill/>
            <a:prstDash val="solid"/>
          </a:ln>
        </p:spPr>
        <p:txBody>
          <a:bodyPr wrap="square" lIns="66675" tIns="47625" rIns="66675" bIns="47625" anchor="t">
            <a:normAutofit fontScale="87751" lnSpcReduction="2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Truy cập theo tài khoản</a:t>
            </a:r>
          </a:p>
        </p:txBody>
      </p:sp>
      <p:sp>
        <p:nvSpPr>
          <p:cNvPr id="23" name="Rectangle: Rounded Corners 22">
            <a:extLst>
              <a:ext uri="{FF2B5EF4-FFF2-40B4-BE49-F238E27FC236}">
                <a16:creationId xmlns:a16="http://schemas.microsoft.com/office/drawing/2014/main" id="{E32FF8F0-01F2-4ED6-82F8-2185FF30E038}"/>
              </a:ext>
            </a:extLst>
          </p:cNvPr>
          <p:cNvSpPr>
            <a:spLocks noGrp="1"/>
          </p:cNvSpPr>
          <p:nvPr/>
        </p:nvSpPr>
        <p:spPr>
          <a:xfrm>
            <a:off x="8239125" y="1238250"/>
            <a:ext cx="3476625" cy="4429125"/>
          </a:xfrm>
          <a:prstGeom prst="roundRect">
            <a:avLst>
              <a:gd name="adj" fmla="val 4384"/>
            </a:avLst>
          </a:prstGeom>
          <a:solidFill>
            <a:srgbClr val="FAECEB"/>
          </a:solidFill>
          <a:ln w="14288">
            <a:solidFill>
              <a:srgbClr val="D94C4C"/>
            </a:solidFill>
            <a:prstDash val="solid"/>
          </a:ln>
        </p:spPr>
        <p:txBody>
          <a:bodyPr/>
          <a:lstStyle/>
          <a:p>
            <a:endParaRPr lang="en-US"/>
          </a:p>
        </p:txBody>
      </p:sp>
      <p:sp>
        <p:nvSpPr>
          <p:cNvPr id="24" name="Rectangle: Rounded Corners 23">
            <a:extLst>
              <a:ext uri="{FF2B5EF4-FFF2-40B4-BE49-F238E27FC236}">
                <a16:creationId xmlns:a16="http://schemas.microsoft.com/office/drawing/2014/main" id="{7853E203-EC6F-425B-8D9F-0B19D3EFDF30}"/>
              </a:ext>
            </a:extLst>
          </p:cNvPr>
          <p:cNvSpPr>
            <a:spLocks noGrp="1"/>
          </p:cNvSpPr>
          <p:nvPr/>
        </p:nvSpPr>
        <p:spPr>
          <a:xfrm>
            <a:off x="8486775" y="1476375"/>
            <a:ext cx="1619250" cy="323850"/>
          </a:xfrm>
          <a:prstGeom prst="roundRect">
            <a:avLst>
              <a:gd name="adj" fmla="val 50000"/>
            </a:avLst>
          </a:prstGeom>
          <a:solidFill>
            <a:srgbClr val="D94C4C"/>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3C687C3A-AE9C-4634-A497-4B49759C3DC5}"/>
              </a:ext>
            </a:extLst>
          </p:cNvPr>
          <p:cNvSpPr>
            <a:spLocks noGrp="1"/>
          </p:cNvSpPr>
          <p:nvPr/>
        </p:nvSpPr>
        <p:spPr>
          <a:xfrm>
            <a:off x="8486775" y="1476375"/>
            <a:ext cx="16192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EDGE</a:t>
            </a:r>
          </a:p>
        </p:txBody>
      </p:sp>
      <p:sp>
        <p:nvSpPr>
          <p:cNvPr id="26" name="Rectangle 25">
            <a:extLst>
              <a:ext uri="{FF2B5EF4-FFF2-40B4-BE49-F238E27FC236}">
                <a16:creationId xmlns:a16="http://schemas.microsoft.com/office/drawing/2014/main" id="{995C73A0-6604-42C3-955C-6D53A5BBCA67}"/>
              </a:ext>
            </a:extLst>
          </p:cNvPr>
          <p:cNvSpPr>
            <a:spLocks noGrp="1"/>
          </p:cNvSpPr>
          <p:nvPr/>
        </p:nvSpPr>
        <p:spPr>
          <a:xfrm>
            <a:off x="8486775" y="1952625"/>
            <a:ext cx="2952750" cy="400050"/>
          </a:xfrm>
          <a:prstGeom prst="rect">
            <a:avLst/>
          </a:prstGeom>
          <a:noFill/>
          <a:ln w="0">
            <a:noFill/>
            <a:prstDash val="solid"/>
          </a:ln>
        </p:spPr>
        <p:txBody>
          <a:bodyPr wrap="square" lIns="66675" tIns="47625" rIns="66675" bIns="47625" anchor="t">
            <a:normAutofit/>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Edge Simulator</a:t>
            </a:r>
          </a:p>
        </p:txBody>
      </p:sp>
      <p:sp>
        <p:nvSpPr>
          <p:cNvPr id="27" name="Rectangle 26">
            <a:extLst>
              <a:ext uri="{FF2B5EF4-FFF2-40B4-BE49-F238E27FC236}">
                <a16:creationId xmlns:a16="http://schemas.microsoft.com/office/drawing/2014/main" id="{F3D1DD0F-DCD0-4C57-89A6-CD5672944681}"/>
              </a:ext>
            </a:extLst>
          </p:cNvPr>
          <p:cNvSpPr>
            <a:spLocks noGrp="1"/>
          </p:cNvSpPr>
          <p:nvPr/>
        </p:nvSpPr>
        <p:spPr>
          <a:xfrm>
            <a:off x="8486775" y="2619375"/>
            <a:ext cx="2952750" cy="2095500"/>
          </a:xfrm>
          <a:prstGeom prst="rect">
            <a:avLst/>
          </a:prstGeom>
          <a:noFill/>
          <a:ln w="0">
            <a:noFill/>
            <a:prstDash val="solid"/>
          </a:ln>
        </p:spPr>
        <p:txBody>
          <a:bodyPr wrap="square" lIns="66675" tIns="47625" rIns="66675" bIns="47625" anchor="t">
            <a:normAutofit fontScale="86156"/>
          </a:bodyPr>
          <a:lstStyle/>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Đọc camera cabin hoặc video</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Chạy pipeline AI</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Phát âm thanh cảnh báo tiếng Việt</a:t>
            </a:r>
          </a:p>
          <a:p>
            <a:pPr algn="l">
              <a:lnSpc>
                <a:spcPct val="122000"/>
              </a:lnSpc>
              <a:buNone/>
              <a:defRPr b="0" i="0">
                <a:solidFill>
                  <a:srgbClr val="16303D"/>
                </a:solidFill>
                <a:latin typeface="Arial"/>
                <a:ea typeface="Arial"/>
                <a:cs typeface="Arial"/>
              </a:defRPr>
            </a:pPr>
            <a:r>
              <a:rPr b="0" i="0">
                <a:solidFill>
                  <a:srgbClr val="16303D"/>
                </a:solidFill>
                <a:latin typeface="Arial"/>
                <a:ea typeface="Arial"/>
                <a:cs typeface="Arial"/>
              </a:rPr>
              <a:t>Gửi heartbeat, metric, sự kiện và bằng chứng</a:t>
            </a:r>
          </a:p>
        </p:txBody>
      </p:sp>
      <p:sp>
        <p:nvSpPr>
          <p:cNvPr id="28" name="Rectangle 27">
            <a:extLst>
              <a:ext uri="{FF2B5EF4-FFF2-40B4-BE49-F238E27FC236}">
                <a16:creationId xmlns:a16="http://schemas.microsoft.com/office/drawing/2014/main" id="{43DC42D0-652F-4CF0-BBC1-E5CBFF13AECB}"/>
              </a:ext>
            </a:extLst>
          </p:cNvPr>
          <p:cNvSpPr>
            <a:spLocks noGrp="1"/>
          </p:cNvSpPr>
          <p:nvPr/>
        </p:nvSpPr>
        <p:spPr>
          <a:xfrm>
            <a:off x="8486775" y="4981575"/>
            <a:ext cx="2952750" cy="19050"/>
          </a:xfrm>
          <a:prstGeom prst="rect">
            <a:avLst/>
          </a:prstGeom>
          <a:solidFill>
            <a:srgbClr val="D94C4C"/>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85337981-C276-40D8-B550-829C24E7A5B0}"/>
              </a:ext>
            </a:extLst>
          </p:cNvPr>
          <p:cNvSpPr>
            <a:spLocks noGrp="1"/>
          </p:cNvSpPr>
          <p:nvPr/>
        </p:nvSpPr>
        <p:spPr>
          <a:xfrm>
            <a:off x="8486775" y="5133975"/>
            <a:ext cx="2952750" cy="304800"/>
          </a:xfrm>
          <a:prstGeom prst="rect">
            <a:avLst/>
          </a:prstGeom>
          <a:noFill/>
          <a:ln w="0">
            <a:noFill/>
            <a:prstDash val="solid"/>
          </a:ln>
        </p:spPr>
        <p:txBody>
          <a:bodyPr wrap="square" lIns="66675" tIns="47625" rIns="66675" bIns="47625" anchor="t">
            <a:normAutofit fontScale="87751" lnSpcReduction="20000"/>
          </a:bodyPr>
          <a:lstStyle/>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Suy luận tại nguồn</a:t>
            </a:r>
          </a:p>
        </p:txBody>
      </p:sp>
    </p:spTree>
    <p:extLst>
      <p:ext uri="{BB962C8B-B14F-4D97-AF65-F5344CB8AC3E}">
        <p14:creationId xmlns:p14="http://schemas.microsoft.com/office/powerpoint/2010/main" val="1754676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95600EE-9EC8-4F3F-A579-DD8EEC911980}"/>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185FC9B0-2293-4354-A1DD-715F35CF3325}"/>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C4C4DA5C-9110-4F31-B227-2B2659F31F56}"/>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9CEFD74A-1772-4D71-BB82-2198C47E1D3F}"/>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SƠ ĐỒ CA SỬ DỤNG</a:t>
            </a:r>
          </a:p>
        </p:txBody>
      </p:sp>
      <p:sp>
        <p:nvSpPr>
          <p:cNvPr id="5" name="Rectangle 4">
            <a:extLst>
              <a:ext uri="{FF2B5EF4-FFF2-40B4-BE49-F238E27FC236}">
                <a16:creationId xmlns:a16="http://schemas.microsoft.com/office/drawing/2014/main" id="{C4A8CD47-2DB9-4EBE-98BA-7B7323232EE2}"/>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05</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6CE67101-724C-465E-A0BF-E5A8C19911B2}"/>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AA6D1D61-6046-4E67-8AB3-E8B8A645F0E2}"/>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ECC4560D-6A00-4B0D-AF33-D416C197C3BF}"/>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pic>
        <p:nvPicPr>
          <p:cNvPr id="27" name="Picture 26"/>
          <p:cNvPicPr>
            <a:picLocks noChangeAspect="1"/>
          </p:cNvPicPr>
          <p:nvPr/>
        </p:nvPicPr>
        <p:blipFill>
          <a:blip r:embed="rId3"/>
          <a:stretch/>
        </p:blipFill>
        <p:spPr>
          <a:xfrm>
            <a:off x="428625" y="1258094"/>
            <a:ext cx="8096250" cy="4722813"/>
          </a:xfrm>
          <a:prstGeom prst="roundRect">
            <a:avLst>
              <a:gd name="adj" fmla="val 2182"/>
            </a:avLst>
          </a:prstGeom>
        </p:spPr>
      </p:pic>
      <p:sp>
        <p:nvSpPr>
          <p:cNvPr id="10" name="Rectangle: Rounded Corners 9">
            <a:extLst>
              <a:ext uri="{FF2B5EF4-FFF2-40B4-BE49-F238E27FC236}">
                <a16:creationId xmlns:a16="http://schemas.microsoft.com/office/drawing/2014/main" id="{9FB0AD94-D813-4DE6-8419-EF73724F5BD9}"/>
              </a:ext>
            </a:extLst>
          </p:cNvPr>
          <p:cNvSpPr>
            <a:spLocks noGrp="1"/>
          </p:cNvSpPr>
          <p:nvPr/>
        </p:nvSpPr>
        <p:spPr>
          <a:xfrm>
            <a:off x="8858250" y="1143000"/>
            <a:ext cx="2762250" cy="4857750"/>
          </a:xfrm>
          <a:prstGeom prst="roundRect">
            <a:avLst>
              <a:gd name="adj" fmla="val 5517"/>
            </a:avLst>
          </a:prstGeom>
          <a:solidFill>
            <a:srgbClr val="0A2D4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748667AA-69EA-4038-98A1-A6DD8738A871}"/>
              </a:ext>
            </a:extLst>
          </p:cNvPr>
          <p:cNvSpPr>
            <a:spLocks noGrp="1"/>
          </p:cNvSpPr>
          <p:nvPr/>
        </p:nvSpPr>
        <p:spPr>
          <a:xfrm>
            <a:off x="9067800" y="1409700"/>
            <a:ext cx="2343150" cy="457200"/>
          </a:xfrm>
          <a:prstGeom prst="rect">
            <a:avLst/>
          </a:prstGeom>
          <a:noFill/>
          <a:ln w="0">
            <a:noFill/>
            <a:prstDash val="solid"/>
          </a:ln>
        </p:spPr>
        <p:txBody>
          <a:bodyPr wrap="square" lIns="66675" tIns="47625" rIns="66675" bIns="47625" anchor="t">
            <a:normAutofit fontScale="90827"/>
          </a:bodyPr>
          <a:lstStyle/>
          <a:p>
            <a:pPr algn="ctr">
              <a:lnSpc>
                <a:spcPct val="105000"/>
              </a:lnSpc>
              <a:buNone/>
              <a:defRPr b="1" i="0">
                <a:solidFill>
                  <a:srgbClr val="58D0D8"/>
                </a:solidFill>
                <a:latin typeface="Arial"/>
                <a:ea typeface="Arial"/>
                <a:cs typeface="Arial"/>
              </a:defRPr>
            </a:pPr>
            <a:r>
              <a:rPr b="1" i="0">
                <a:solidFill>
                  <a:srgbClr val="58D0D8"/>
                </a:solidFill>
                <a:latin typeface="Arial"/>
                <a:ea typeface="Arial"/>
                <a:cs typeface="Arial"/>
              </a:rPr>
              <a:t>PHẠM VI CHỨC NĂNG</a:t>
            </a:r>
          </a:p>
        </p:txBody>
      </p:sp>
      <p:sp>
        <p:nvSpPr>
          <p:cNvPr id="12" name="Rectangle: Rounded Corners 11">
            <a:extLst>
              <a:ext uri="{FF2B5EF4-FFF2-40B4-BE49-F238E27FC236}">
                <a16:creationId xmlns:a16="http://schemas.microsoft.com/office/drawing/2014/main" id="{C74C4753-4DA6-4753-96DC-6E00BCE1C9BD}"/>
              </a:ext>
            </a:extLst>
          </p:cNvPr>
          <p:cNvSpPr>
            <a:spLocks noGrp="1"/>
          </p:cNvSpPr>
          <p:nvPr/>
        </p:nvSpPr>
        <p:spPr>
          <a:xfrm>
            <a:off x="9096375" y="2095500"/>
            <a:ext cx="2286000" cy="1190625"/>
          </a:xfrm>
          <a:prstGeom prst="roundRect">
            <a:avLst>
              <a:gd name="adj" fmla="val 9600"/>
            </a:avLst>
          </a:prstGeom>
          <a:solidFill>
            <a:srgbClr val="103B52"/>
          </a:solidFill>
          <a:ln w="14288">
            <a:solidFill>
              <a:srgbClr val="176B8A"/>
            </a:solidFill>
            <a:prstDash val="solid"/>
          </a:ln>
        </p:spPr>
        <p:txBody>
          <a:bodyPr/>
          <a:lstStyle/>
          <a:p>
            <a:endParaRPr lang="en-US"/>
          </a:p>
        </p:txBody>
      </p:sp>
      <p:sp>
        <p:nvSpPr>
          <p:cNvPr id="13" name="Rectangle 12">
            <a:extLst>
              <a:ext uri="{FF2B5EF4-FFF2-40B4-BE49-F238E27FC236}">
                <a16:creationId xmlns:a16="http://schemas.microsoft.com/office/drawing/2014/main" id="{EA8FF649-6F8F-48E8-A598-7D12DE033883}"/>
              </a:ext>
            </a:extLst>
          </p:cNvPr>
          <p:cNvSpPr>
            <a:spLocks noGrp="1"/>
          </p:cNvSpPr>
          <p:nvPr/>
        </p:nvSpPr>
        <p:spPr>
          <a:xfrm>
            <a:off x="9277350" y="2228850"/>
            <a:ext cx="1924050" cy="247650"/>
          </a:xfrm>
          <a:prstGeom prst="rect">
            <a:avLst/>
          </a:prstGeom>
          <a:noFill/>
          <a:ln w="0">
            <a:noFill/>
            <a:prstDash val="solid"/>
          </a:ln>
        </p:spPr>
        <p:txBody>
          <a:bodyPr wrap="square" lIns="66675" tIns="47625" rIns="66675" bIns="47625" anchor="t">
            <a:normAutofit fontScale="60410" lnSpcReduction="10000"/>
          </a:bodyPr>
          <a:lstStyle/>
          <a:p>
            <a:pPr algn="l">
              <a:lnSpc>
                <a:spcPct val="105000"/>
              </a:lnSpc>
              <a:buNone/>
              <a:defRPr b="1" i="0">
                <a:solidFill>
                  <a:srgbClr val="58D0D8"/>
                </a:solidFill>
                <a:latin typeface="Arial"/>
                <a:ea typeface="Arial"/>
                <a:cs typeface="Arial"/>
              </a:defRPr>
            </a:pPr>
            <a:r>
              <a:rPr b="1" i="0">
                <a:solidFill>
                  <a:srgbClr val="58D0D8"/>
                </a:solidFill>
                <a:latin typeface="Arial"/>
                <a:ea typeface="Arial"/>
                <a:cs typeface="Arial"/>
              </a:rPr>
              <a:t>SUPERVISOR</a:t>
            </a:r>
          </a:p>
        </p:txBody>
      </p:sp>
      <p:sp>
        <p:nvSpPr>
          <p:cNvPr id="14" name="Rectangle 13">
            <a:extLst>
              <a:ext uri="{FF2B5EF4-FFF2-40B4-BE49-F238E27FC236}">
                <a16:creationId xmlns:a16="http://schemas.microsoft.com/office/drawing/2014/main" id="{E5CB60B9-FC59-4F36-87F5-CAC96FC3049D}"/>
              </a:ext>
            </a:extLst>
          </p:cNvPr>
          <p:cNvSpPr>
            <a:spLocks noGrp="1"/>
          </p:cNvSpPr>
          <p:nvPr/>
        </p:nvSpPr>
        <p:spPr>
          <a:xfrm>
            <a:off x="9277350" y="2562225"/>
            <a:ext cx="1924050" cy="571500"/>
          </a:xfrm>
          <a:prstGeom prst="rect">
            <a:avLst/>
          </a:prstGeom>
          <a:noFill/>
          <a:ln w="0">
            <a:noFill/>
            <a:prstDash val="solid"/>
          </a:ln>
        </p:spPr>
        <p:txBody>
          <a:bodyPr wrap="square" lIns="66675" tIns="47625" rIns="66675" bIns="47625" anchor="ctr">
            <a:normAutofit fontScale="62615" lnSpcReduction="10000"/>
          </a:bodyPr>
          <a:lstStyle/>
          <a:p>
            <a:pPr algn="l">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Quản lý dữ liệu nghiệp vụ, giám sát phiên và xử lý cảnh báo trên Web Dashboard.</a:t>
            </a:r>
          </a:p>
        </p:txBody>
      </p:sp>
      <p:sp>
        <p:nvSpPr>
          <p:cNvPr id="15" name="Rectangle: Rounded Corners 14">
            <a:extLst>
              <a:ext uri="{FF2B5EF4-FFF2-40B4-BE49-F238E27FC236}">
                <a16:creationId xmlns:a16="http://schemas.microsoft.com/office/drawing/2014/main" id="{5346EC7C-74C1-4A2D-8E09-84773FF89DDB}"/>
              </a:ext>
            </a:extLst>
          </p:cNvPr>
          <p:cNvSpPr>
            <a:spLocks noGrp="1"/>
          </p:cNvSpPr>
          <p:nvPr/>
        </p:nvSpPr>
        <p:spPr>
          <a:xfrm>
            <a:off x="9096375" y="3524250"/>
            <a:ext cx="2286000" cy="1190625"/>
          </a:xfrm>
          <a:prstGeom prst="roundRect">
            <a:avLst>
              <a:gd name="adj" fmla="val 9600"/>
            </a:avLst>
          </a:prstGeom>
          <a:solidFill>
            <a:srgbClr val="103B52"/>
          </a:solidFill>
          <a:ln w="14288">
            <a:solidFill>
              <a:srgbClr val="117C78"/>
            </a:solidFill>
            <a:prstDash val="solid"/>
          </a:ln>
        </p:spPr>
        <p:txBody>
          <a:bodyPr/>
          <a:lstStyle/>
          <a:p>
            <a:endParaRPr lang="en-US"/>
          </a:p>
        </p:txBody>
      </p:sp>
      <p:sp>
        <p:nvSpPr>
          <p:cNvPr id="16" name="Rectangle 15">
            <a:extLst>
              <a:ext uri="{FF2B5EF4-FFF2-40B4-BE49-F238E27FC236}">
                <a16:creationId xmlns:a16="http://schemas.microsoft.com/office/drawing/2014/main" id="{85AF6DAA-C458-477F-AB91-856A5FEBB319}"/>
              </a:ext>
            </a:extLst>
          </p:cNvPr>
          <p:cNvSpPr>
            <a:spLocks noGrp="1"/>
          </p:cNvSpPr>
          <p:nvPr/>
        </p:nvSpPr>
        <p:spPr>
          <a:xfrm>
            <a:off x="9277350" y="3657600"/>
            <a:ext cx="1924050" cy="247650"/>
          </a:xfrm>
          <a:prstGeom prst="rect">
            <a:avLst/>
          </a:prstGeom>
          <a:noFill/>
          <a:ln w="0">
            <a:noFill/>
            <a:prstDash val="solid"/>
          </a:ln>
        </p:spPr>
        <p:txBody>
          <a:bodyPr wrap="square" lIns="66675" tIns="47625" rIns="66675" bIns="47625" anchor="t">
            <a:normAutofit fontScale="60410" lnSpcReduction="10000"/>
          </a:bodyPr>
          <a:lstStyle/>
          <a:p>
            <a:pPr algn="l">
              <a:lnSpc>
                <a:spcPct val="105000"/>
              </a:lnSpc>
              <a:buNone/>
              <a:defRPr b="1" i="0">
                <a:solidFill>
                  <a:srgbClr val="58D0D8"/>
                </a:solidFill>
                <a:latin typeface="Arial"/>
                <a:ea typeface="Arial"/>
                <a:cs typeface="Arial"/>
              </a:defRPr>
            </a:pPr>
            <a:r>
              <a:rPr b="1" i="0">
                <a:solidFill>
                  <a:srgbClr val="58D0D8"/>
                </a:solidFill>
                <a:latin typeface="Arial"/>
                <a:ea typeface="Arial"/>
                <a:cs typeface="Arial"/>
              </a:rPr>
              <a:t>DRIVER</a:t>
            </a:r>
          </a:p>
        </p:txBody>
      </p:sp>
      <p:sp>
        <p:nvSpPr>
          <p:cNvPr id="17" name="Rectangle 16">
            <a:extLst>
              <a:ext uri="{FF2B5EF4-FFF2-40B4-BE49-F238E27FC236}">
                <a16:creationId xmlns:a16="http://schemas.microsoft.com/office/drawing/2014/main" id="{51DA0A47-5EE1-4A65-AC82-2001765CE711}"/>
              </a:ext>
            </a:extLst>
          </p:cNvPr>
          <p:cNvSpPr>
            <a:spLocks noGrp="1"/>
          </p:cNvSpPr>
          <p:nvPr/>
        </p:nvSpPr>
        <p:spPr>
          <a:xfrm>
            <a:off x="9277350" y="3990975"/>
            <a:ext cx="1924050" cy="571500"/>
          </a:xfrm>
          <a:prstGeom prst="rect">
            <a:avLst/>
          </a:prstGeom>
          <a:noFill/>
          <a:ln w="0">
            <a:noFill/>
            <a:prstDash val="solid"/>
          </a:ln>
        </p:spPr>
        <p:txBody>
          <a:bodyPr wrap="square" lIns="66675" tIns="47625" rIns="66675" bIns="47625" anchor="ctr">
            <a:normAutofit fontScale="62615" lnSpcReduction="10000"/>
          </a:bodyPr>
          <a:lstStyle/>
          <a:p>
            <a:pPr algn="l">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Đăng nhập Mobile App, xem dữ liệu cá nhân, bằng chứng và nhận thông báo.</a:t>
            </a:r>
          </a:p>
        </p:txBody>
      </p:sp>
      <p:sp>
        <p:nvSpPr>
          <p:cNvPr id="18" name="Rectangle 17">
            <a:extLst>
              <a:ext uri="{FF2B5EF4-FFF2-40B4-BE49-F238E27FC236}">
                <a16:creationId xmlns:a16="http://schemas.microsoft.com/office/drawing/2014/main" id="{5F7707C2-3D01-4385-9F96-EB4E96136377}"/>
              </a:ext>
            </a:extLst>
          </p:cNvPr>
          <p:cNvSpPr>
            <a:spLocks noGrp="1"/>
          </p:cNvSpPr>
          <p:nvPr/>
        </p:nvSpPr>
        <p:spPr>
          <a:xfrm>
            <a:off x="9163050" y="5095875"/>
            <a:ext cx="2143125" cy="571500"/>
          </a:xfrm>
          <a:prstGeom prst="rect">
            <a:avLst/>
          </a:prstGeom>
          <a:noFill/>
          <a:ln w="0">
            <a:noFill/>
            <a:prstDash val="solid"/>
          </a:ln>
        </p:spPr>
        <p:txBody>
          <a:bodyPr wrap="square" lIns="66675" tIns="47625" rIns="66675" bIns="47625" anchor="ctr">
            <a:normAutofit fontScale="64881" lnSpcReduction="10000"/>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Quyền truy cập được kiểm tra tại FastAPI trước khi trả dữ liệu.</a:t>
            </a:r>
          </a:p>
        </p:txBody>
      </p:sp>
    </p:spTree>
    <p:extLst>
      <p:ext uri="{BB962C8B-B14F-4D97-AF65-F5344CB8AC3E}">
        <p14:creationId xmlns:p14="http://schemas.microsoft.com/office/powerpoint/2010/main" val="385931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EFB03747-389F-4059-BCF4-398591734002}"/>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877C1545-B021-46DD-A03A-EFE87897677D}"/>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07C74959-8344-4FB4-BE69-88110C8892BF}"/>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925D6DA8-7F35-4CB5-98F3-72582A67EC57}"/>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KIẾN TRÚC TỔNG THỂ</a:t>
            </a:r>
          </a:p>
        </p:txBody>
      </p:sp>
      <p:sp>
        <p:nvSpPr>
          <p:cNvPr id="5" name="Rectangle 4">
            <a:extLst>
              <a:ext uri="{FF2B5EF4-FFF2-40B4-BE49-F238E27FC236}">
                <a16:creationId xmlns:a16="http://schemas.microsoft.com/office/drawing/2014/main" id="{65BA88A6-D8A9-460F-A4D3-702458EE435E}"/>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06</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8E5EB58E-3519-4249-8369-DCCBFE3D68DF}"/>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EEB68044-C69E-4BBF-B6D2-47D4FBDE968F}"/>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B395B8CB-724A-40E8-B097-073051862CE7}"/>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8">
            <a:extLst>
              <a:ext uri="{FF2B5EF4-FFF2-40B4-BE49-F238E27FC236}">
                <a16:creationId xmlns:a16="http://schemas.microsoft.com/office/drawing/2014/main" id="{A02F4BCF-CFEF-40B0-A7AB-2CBF63572FB0}"/>
              </a:ext>
            </a:extLst>
          </p:cNvPr>
          <p:cNvSpPr>
            <a:spLocks noGrp="1"/>
          </p:cNvSpPr>
          <p:nvPr/>
        </p:nvSpPr>
        <p:spPr>
          <a:xfrm>
            <a:off x="523875" y="1028700"/>
            <a:ext cx="2571750" cy="333375"/>
          </a:xfrm>
          <a:prstGeom prst="rect">
            <a:avLst/>
          </a:prstGeom>
          <a:noFill/>
          <a:ln w="0">
            <a:noFill/>
            <a:prstDash val="solid"/>
          </a:ln>
        </p:spPr>
        <p:txBody>
          <a:bodyPr wrap="square" lIns="66675" tIns="47625" rIns="66675" bIns="47625" anchor="t">
            <a:normAutofit fontScale="90172" lnSpcReduction="10000"/>
          </a:bodyPr>
          <a:lstStyle/>
          <a:p>
            <a:pPr algn="l">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Luồng chính thức</a:t>
            </a:r>
          </a:p>
        </p:txBody>
      </p:sp>
      <p:sp>
        <p:nvSpPr>
          <p:cNvPr id="10" name="Rectangle: Rounded Corners 9">
            <a:extLst>
              <a:ext uri="{FF2B5EF4-FFF2-40B4-BE49-F238E27FC236}">
                <a16:creationId xmlns:a16="http://schemas.microsoft.com/office/drawing/2014/main" id="{ECF2C240-DFF8-4B37-A469-D94746C8947D}"/>
              </a:ext>
            </a:extLst>
          </p:cNvPr>
          <p:cNvSpPr>
            <a:spLocks noGrp="1"/>
          </p:cNvSpPr>
          <p:nvPr/>
        </p:nvSpPr>
        <p:spPr>
          <a:xfrm>
            <a:off x="523875" y="1666875"/>
            <a:ext cx="1952625" cy="1143000"/>
          </a:xfrm>
          <a:prstGeom prst="roundRect">
            <a:avLst>
              <a:gd name="adj" fmla="val 11667"/>
            </a:avLst>
          </a:prstGeom>
          <a:solidFill>
            <a:srgbClr val="E7F2F5"/>
          </a:solidFill>
          <a:ln w="17145">
            <a:solidFill>
              <a:srgbClr val="176B8A"/>
            </a:solidFill>
            <a:prstDash val="solid"/>
          </a:ln>
        </p:spPr>
        <p:txBody>
          <a:bodyPr/>
          <a:lstStyle/>
          <a:p>
            <a:endParaRPr lang="en-US"/>
          </a:p>
        </p:txBody>
      </p:sp>
      <p:sp>
        <p:nvSpPr>
          <p:cNvPr id="11" name="Rectangle 10">
            <a:extLst>
              <a:ext uri="{FF2B5EF4-FFF2-40B4-BE49-F238E27FC236}">
                <a16:creationId xmlns:a16="http://schemas.microsoft.com/office/drawing/2014/main" id="{80FA1349-6511-4D2E-B016-8F98D2179850}"/>
              </a:ext>
            </a:extLst>
          </p:cNvPr>
          <p:cNvSpPr>
            <a:spLocks noGrp="1"/>
          </p:cNvSpPr>
          <p:nvPr/>
        </p:nvSpPr>
        <p:spPr>
          <a:xfrm>
            <a:off x="523875" y="1666875"/>
            <a:ext cx="76200" cy="1143000"/>
          </a:xfrm>
          <a:prstGeom prst="rect">
            <a:avLst/>
          </a:prstGeom>
          <a:solidFill>
            <a:srgbClr val="176B8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84B2242-FEAD-4B69-BC86-B6EC85B600C7}"/>
              </a:ext>
            </a:extLst>
          </p:cNvPr>
          <p:cNvSpPr>
            <a:spLocks noGrp="1"/>
          </p:cNvSpPr>
          <p:nvPr/>
        </p:nvSpPr>
        <p:spPr>
          <a:xfrm>
            <a:off x="695325" y="1857375"/>
            <a:ext cx="1619250" cy="361950"/>
          </a:xfrm>
          <a:prstGeom prst="rect">
            <a:avLst/>
          </a:prstGeom>
          <a:noFill/>
          <a:ln w="0">
            <a:noFill/>
            <a:prstDash val="solid"/>
          </a:ln>
        </p:spPr>
        <p:txBody>
          <a:bodyPr wrap="square" lIns="66675" tIns="47625" rIns="66675" bIns="47625" anchor="ctr">
            <a:normAutofit fontScale="55310" lnSpcReduction="20000"/>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CAMERA CABIN / VIDEO</a:t>
            </a:r>
          </a:p>
        </p:txBody>
      </p:sp>
      <p:sp>
        <p:nvSpPr>
          <p:cNvPr id="13" name="Rectangle 12">
            <a:extLst>
              <a:ext uri="{FF2B5EF4-FFF2-40B4-BE49-F238E27FC236}">
                <a16:creationId xmlns:a16="http://schemas.microsoft.com/office/drawing/2014/main" id="{7B31E5DA-876E-4E63-8212-B45F085D0BA4}"/>
              </a:ext>
            </a:extLst>
          </p:cNvPr>
          <p:cNvSpPr>
            <a:spLocks noGrp="1"/>
          </p:cNvSpPr>
          <p:nvPr/>
        </p:nvSpPr>
        <p:spPr>
          <a:xfrm>
            <a:off x="695325" y="2305050"/>
            <a:ext cx="1619250" cy="323850"/>
          </a:xfrm>
          <a:prstGeom prst="rect">
            <a:avLst/>
          </a:prstGeom>
          <a:noFill/>
          <a:ln w="0">
            <a:noFill/>
            <a:prstDash val="solid"/>
          </a:ln>
        </p:spPr>
        <p:txBody>
          <a:bodyPr wrap="square" lIns="66675" tIns="47625" rIns="66675" bIns="47625" anchor="ctr">
            <a:normAutofit fontScale="86865" lnSpcReduction="2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Nguồn hình ảnh</a:t>
            </a:r>
          </a:p>
        </p:txBody>
      </p:sp>
      <p:sp>
        <p:nvSpPr>
          <p:cNvPr id="14" name="Rectangle: Rounded Corners 13">
            <a:extLst>
              <a:ext uri="{FF2B5EF4-FFF2-40B4-BE49-F238E27FC236}">
                <a16:creationId xmlns:a16="http://schemas.microsoft.com/office/drawing/2014/main" id="{93249E6D-D265-456E-81FE-733FF1E40B54}"/>
              </a:ext>
            </a:extLst>
          </p:cNvPr>
          <p:cNvSpPr>
            <a:spLocks noGrp="1"/>
          </p:cNvSpPr>
          <p:nvPr/>
        </p:nvSpPr>
        <p:spPr>
          <a:xfrm>
            <a:off x="2828925" y="1666875"/>
            <a:ext cx="1952625" cy="1143000"/>
          </a:xfrm>
          <a:prstGeom prst="roundRect">
            <a:avLst>
              <a:gd name="adj" fmla="val 11667"/>
            </a:avLst>
          </a:prstGeom>
          <a:solidFill>
            <a:srgbClr val="E7F4F1"/>
          </a:solidFill>
          <a:ln w="17145">
            <a:solidFill>
              <a:srgbClr val="117C78"/>
            </a:solidFill>
            <a:prstDash val="solid"/>
          </a:ln>
        </p:spPr>
        <p:txBody>
          <a:bodyPr/>
          <a:lstStyle/>
          <a:p>
            <a:endParaRPr lang="en-US"/>
          </a:p>
        </p:txBody>
      </p:sp>
      <p:sp>
        <p:nvSpPr>
          <p:cNvPr id="15" name="Rectangle 14">
            <a:extLst>
              <a:ext uri="{FF2B5EF4-FFF2-40B4-BE49-F238E27FC236}">
                <a16:creationId xmlns:a16="http://schemas.microsoft.com/office/drawing/2014/main" id="{76A0213E-37A4-4219-AEDD-B42D110CEC91}"/>
              </a:ext>
            </a:extLst>
          </p:cNvPr>
          <p:cNvSpPr>
            <a:spLocks noGrp="1"/>
          </p:cNvSpPr>
          <p:nvPr/>
        </p:nvSpPr>
        <p:spPr>
          <a:xfrm>
            <a:off x="2828925" y="1666875"/>
            <a:ext cx="76200" cy="1143000"/>
          </a:xfrm>
          <a:prstGeom prst="rect">
            <a:avLst/>
          </a:prstGeom>
          <a:solidFill>
            <a:srgbClr val="117C7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F4783A14-E7B0-40B4-9C9C-A48D358256A3}"/>
              </a:ext>
            </a:extLst>
          </p:cNvPr>
          <p:cNvSpPr>
            <a:spLocks noGrp="1"/>
          </p:cNvSpPr>
          <p:nvPr/>
        </p:nvSpPr>
        <p:spPr>
          <a:xfrm>
            <a:off x="3000375" y="1857375"/>
            <a:ext cx="1619250" cy="361950"/>
          </a:xfrm>
          <a:prstGeom prst="rect">
            <a:avLst/>
          </a:prstGeom>
          <a:noFill/>
          <a:ln w="0">
            <a:noFill/>
            <a:prstDash val="solid"/>
          </a:ln>
        </p:spPr>
        <p:txBody>
          <a:bodyPr wrap="square" lIns="66675" tIns="47625" rIns="66675" bIns="47625" anchor="ctr">
            <a:normAutofit fontScale="79890" lnSpcReduction="10000"/>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EDGE SIMULATOR</a:t>
            </a:r>
          </a:p>
        </p:txBody>
      </p:sp>
      <p:sp>
        <p:nvSpPr>
          <p:cNvPr id="17" name="Rectangle 16">
            <a:extLst>
              <a:ext uri="{FF2B5EF4-FFF2-40B4-BE49-F238E27FC236}">
                <a16:creationId xmlns:a16="http://schemas.microsoft.com/office/drawing/2014/main" id="{46876650-EEE3-4CC2-B62D-A86530CCE090}"/>
              </a:ext>
            </a:extLst>
          </p:cNvPr>
          <p:cNvSpPr>
            <a:spLocks noGrp="1"/>
          </p:cNvSpPr>
          <p:nvPr/>
        </p:nvSpPr>
        <p:spPr>
          <a:xfrm>
            <a:off x="3000375" y="2305050"/>
            <a:ext cx="1619250" cy="323850"/>
          </a:xfrm>
          <a:prstGeom prst="rect">
            <a:avLst/>
          </a:prstGeom>
          <a:noFill/>
          <a:ln w="0">
            <a:noFill/>
            <a:prstDash val="solid"/>
          </a:ln>
        </p:spPr>
        <p:txBody>
          <a:bodyPr wrap="square" lIns="66675" tIns="47625" rIns="66675" bIns="47625" anchor="ctr">
            <a:normAutofit fontScale="80873" lnSpcReduction="1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AI + cảnh báo tại xe</a:t>
            </a:r>
          </a:p>
        </p:txBody>
      </p:sp>
      <p:sp>
        <p:nvSpPr>
          <p:cNvPr id="18" name="Rectangle: Rounded Corners 17">
            <a:extLst>
              <a:ext uri="{FF2B5EF4-FFF2-40B4-BE49-F238E27FC236}">
                <a16:creationId xmlns:a16="http://schemas.microsoft.com/office/drawing/2014/main" id="{C7F47548-ECC5-497C-8C03-C08A8FADCAE4}"/>
              </a:ext>
            </a:extLst>
          </p:cNvPr>
          <p:cNvSpPr>
            <a:spLocks noGrp="1"/>
          </p:cNvSpPr>
          <p:nvPr/>
        </p:nvSpPr>
        <p:spPr>
          <a:xfrm>
            <a:off x="5133975" y="1666875"/>
            <a:ext cx="1952625" cy="1143000"/>
          </a:xfrm>
          <a:prstGeom prst="roundRect">
            <a:avLst>
              <a:gd name="adj" fmla="val 11667"/>
            </a:avLst>
          </a:prstGeom>
          <a:solidFill>
            <a:srgbClr val="E7F2F5"/>
          </a:solidFill>
          <a:ln w="17145">
            <a:solidFill>
              <a:srgbClr val="176B8A"/>
            </a:solidFill>
            <a:prstDash val="solid"/>
          </a:ln>
        </p:spPr>
        <p:txBody>
          <a:bodyPr/>
          <a:lstStyle/>
          <a:p>
            <a:endParaRPr lang="en-US"/>
          </a:p>
        </p:txBody>
      </p:sp>
      <p:sp>
        <p:nvSpPr>
          <p:cNvPr id="19" name="Rectangle 18">
            <a:extLst>
              <a:ext uri="{FF2B5EF4-FFF2-40B4-BE49-F238E27FC236}">
                <a16:creationId xmlns:a16="http://schemas.microsoft.com/office/drawing/2014/main" id="{EF8B6230-B59F-4AC7-950C-812FA0820991}"/>
              </a:ext>
            </a:extLst>
          </p:cNvPr>
          <p:cNvSpPr>
            <a:spLocks noGrp="1"/>
          </p:cNvSpPr>
          <p:nvPr/>
        </p:nvSpPr>
        <p:spPr>
          <a:xfrm>
            <a:off x="5133975" y="1666875"/>
            <a:ext cx="76200" cy="1143000"/>
          </a:xfrm>
          <a:prstGeom prst="rect">
            <a:avLst/>
          </a:prstGeom>
          <a:solidFill>
            <a:srgbClr val="176B8A"/>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E99D7EB4-4CBF-41AA-8ADB-025A833D264E}"/>
              </a:ext>
            </a:extLst>
          </p:cNvPr>
          <p:cNvSpPr>
            <a:spLocks noGrp="1"/>
          </p:cNvSpPr>
          <p:nvPr/>
        </p:nvSpPr>
        <p:spPr>
          <a:xfrm>
            <a:off x="5305425" y="1857375"/>
            <a:ext cx="1619250" cy="361950"/>
          </a:xfrm>
          <a:prstGeom prst="rect">
            <a:avLst/>
          </a:prstGeom>
          <a:noFill/>
          <a:ln w="0">
            <a:noFill/>
            <a:prstDash val="solid"/>
          </a:ln>
        </p:spPr>
        <p:txBody>
          <a:bodyPr wrap="square" lIns="66675" tIns="47625" rIns="66675" bIns="47625" anchor="ctr">
            <a:normAutofit fontScale="92593"/>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FASTAPI</a:t>
            </a:r>
          </a:p>
        </p:txBody>
      </p:sp>
      <p:sp>
        <p:nvSpPr>
          <p:cNvPr id="21" name="Rectangle 20">
            <a:extLst>
              <a:ext uri="{FF2B5EF4-FFF2-40B4-BE49-F238E27FC236}">
                <a16:creationId xmlns:a16="http://schemas.microsoft.com/office/drawing/2014/main" id="{16B5805C-3D5D-4AAC-B1EB-52C6C4E6FB59}"/>
              </a:ext>
            </a:extLst>
          </p:cNvPr>
          <p:cNvSpPr>
            <a:spLocks noGrp="1"/>
          </p:cNvSpPr>
          <p:nvPr/>
        </p:nvSpPr>
        <p:spPr>
          <a:xfrm>
            <a:off x="5305425" y="2305050"/>
            <a:ext cx="1619250" cy="323850"/>
          </a:xfrm>
          <a:prstGeom prst="rect">
            <a:avLst/>
          </a:prstGeom>
          <a:noFill/>
          <a:ln w="0">
            <a:noFill/>
            <a:prstDash val="solid"/>
          </a:ln>
        </p:spPr>
        <p:txBody>
          <a:bodyPr wrap="square" lIns="66675" tIns="47625" rIns="66675" bIns="47625" anchor="ctr">
            <a:normAutofit fontScale="52852" lnSpcReduction="2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REST API + WebSocket</a:t>
            </a:r>
          </a:p>
        </p:txBody>
      </p:sp>
      <p:sp>
        <p:nvSpPr>
          <p:cNvPr id="22" name="Rectangle: Rounded Corners 21">
            <a:extLst>
              <a:ext uri="{FF2B5EF4-FFF2-40B4-BE49-F238E27FC236}">
                <a16:creationId xmlns:a16="http://schemas.microsoft.com/office/drawing/2014/main" id="{7F992C1D-8CDF-4565-9B57-946FA85C1ECB}"/>
              </a:ext>
            </a:extLst>
          </p:cNvPr>
          <p:cNvSpPr>
            <a:spLocks noGrp="1"/>
          </p:cNvSpPr>
          <p:nvPr/>
        </p:nvSpPr>
        <p:spPr>
          <a:xfrm>
            <a:off x="7439025" y="1666875"/>
            <a:ext cx="1952625" cy="1143000"/>
          </a:xfrm>
          <a:prstGeom prst="roundRect">
            <a:avLst>
              <a:gd name="adj" fmla="val 11667"/>
            </a:avLst>
          </a:prstGeom>
          <a:solidFill>
            <a:srgbClr val="FBF4E5"/>
          </a:solidFill>
          <a:ln w="17145">
            <a:solidFill>
              <a:srgbClr val="F1A33A"/>
            </a:solidFill>
            <a:prstDash val="solid"/>
          </a:ln>
        </p:spPr>
        <p:txBody>
          <a:bodyPr/>
          <a:lstStyle/>
          <a:p>
            <a:endParaRPr lang="en-US"/>
          </a:p>
        </p:txBody>
      </p:sp>
      <p:sp>
        <p:nvSpPr>
          <p:cNvPr id="23" name="Rectangle 22">
            <a:extLst>
              <a:ext uri="{FF2B5EF4-FFF2-40B4-BE49-F238E27FC236}">
                <a16:creationId xmlns:a16="http://schemas.microsoft.com/office/drawing/2014/main" id="{C0FBA378-27E7-48FA-B70C-9EF9E4CD610D}"/>
              </a:ext>
            </a:extLst>
          </p:cNvPr>
          <p:cNvSpPr>
            <a:spLocks noGrp="1"/>
          </p:cNvSpPr>
          <p:nvPr/>
        </p:nvSpPr>
        <p:spPr>
          <a:xfrm>
            <a:off x="7439025" y="1666875"/>
            <a:ext cx="76200" cy="1143000"/>
          </a:xfrm>
          <a:prstGeom prst="rect">
            <a:avLst/>
          </a:prstGeom>
          <a:solidFill>
            <a:srgbClr val="F1A33A"/>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13A7E3F4-7833-44DB-B94E-A9B3D55EC9E7}"/>
              </a:ext>
            </a:extLst>
          </p:cNvPr>
          <p:cNvSpPr>
            <a:spLocks noGrp="1"/>
          </p:cNvSpPr>
          <p:nvPr/>
        </p:nvSpPr>
        <p:spPr>
          <a:xfrm>
            <a:off x="7610475" y="1857375"/>
            <a:ext cx="1619250" cy="361950"/>
          </a:xfrm>
          <a:prstGeom prst="rect">
            <a:avLst/>
          </a:prstGeom>
          <a:noFill/>
          <a:ln w="0">
            <a:noFill/>
            <a:prstDash val="solid"/>
          </a:ln>
        </p:spPr>
        <p:txBody>
          <a:bodyPr wrap="square" lIns="66675" tIns="47625" rIns="66675" bIns="47625" anchor="ctr">
            <a:normAutofit fontScale="92593"/>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MYSQL</a:t>
            </a:r>
          </a:p>
        </p:txBody>
      </p:sp>
      <p:sp>
        <p:nvSpPr>
          <p:cNvPr id="25" name="Rectangle 24">
            <a:extLst>
              <a:ext uri="{FF2B5EF4-FFF2-40B4-BE49-F238E27FC236}">
                <a16:creationId xmlns:a16="http://schemas.microsoft.com/office/drawing/2014/main" id="{B003BE0F-61F5-4D3C-8F4C-9BD012051535}"/>
              </a:ext>
            </a:extLst>
          </p:cNvPr>
          <p:cNvSpPr>
            <a:spLocks noGrp="1"/>
          </p:cNvSpPr>
          <p:nvPr/>
        </p:nvSpPr>
        <p:spPr>
          <a:xfrm>
            <a:off x="7610475" y="2305050"/>
            <a:ext cx="1619250" cy="323850"/>
          </a:xfrm>
          <a:prstGeom prst="rect">
            <a:avLst/>
          </a:prstGeom>
          <a:noFill/>
          <a:ln w="0">
            <a:noFill/>
            <a:prstDash val="solid"/>
          </a:ln>
        </p:spPr>
        <p:txBody>
          <a:bodyPr wrap="square" lIns="66675" tIns="47625" rIns="66675" bIns="47625" anchor="ctr">
            <a:normAutofit fontScale="86865" lnSpcReduction="2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Dữ liệu nghiệp vụ</a:t>
            </a:r>
          </a:p>
        </p:txBody>
      </p:sp>
      <p:sp>
        <p:nvSpPr>
          <p:cNvPr id="26" name="Rectangle: Rounded Corners 25">
            <a:extLst>
              <a:ext uri="{FF2B5EF4-FFF2-40B4-BE49-F238E27FC236}">
                <a16:creationId xmlns:a16="http://schemas.microsoft.com/office/drawing/2014/main" id="{344B0F6A-06E8-40C7-B24A-BA71EB25572A}"/>
              </a:ext>
            </a:extLst>
          </p:cNvPr>
          <p:cNvSpPr>
            <a:spLocks noGrp="1"/>
          </p:cNvSpPr>
          <p:nvPr/>
        </p:nvSpPr>
        <p:spPr>
          <a:xfrm>
            <a:off x="9744075" y="1666875"/>
            <a:ext cx="1952625" cy="1143000"/>
          </a:xfrm>
          <a:prstGeom prst="roundRect">
            <a:avLst>
              <a:gd name="adj" fmla="val 11667"/>
            </a:avLst>
          </a:prstGeom>
          <a:solidFill>
            <a:srgbClr val="FAECEB"/>
          </a:solidFill>
          <a:ln w="17145">
            <a:solidFill>
              <a:srgbClr val="D94C4C"/>
            </a:solidFill>
            <a:prstDash val="solid"/>
          </a:ln>
        </p:spPr>
        <p:txBody>
          <a:bodyPr/>
          <a:lstStyle/>
          <a:p>
            <a:endParaRPr lang="en-US"/>
          </a:p>
        </p:txBody>
      </p:sp>
      <p:sp>
        <p:nvSpPr>
          <p:cNvPr id="27" name="Rectangle 26">
            <a:extLst>
              <a:ext uri="{FF2B5EF4-FFF2-40B4-BE49-F238E27FC236}">
                <a16:creationId xmlns:a16="http://schemas.microsoft.com/office/drawing/2014/main" id="{32F8662D-23C9-4845-ADEA-A29BB3569BC6}"/>
              </a:ext>
            </a:extLst>
          </p:cNvPr>
          <p:cNvSpPr>
            <a:spLocks noGrp="1"/>
          </p:cNvSpPr>
          <p:nvPr/>
        </p:nvSpPr>
        <p:spPr>
          <a:xfrm>
            <a:off x="9744075" y="1666875"/>
            <a:ext cx="76200" cy="1143000"/>
          </a:xfrm>
          <a:prstGeom prst="rect">
            <a:avLst/>
          </a:prstGeom>
          <a:solidFill>
            <a:srgbClr val="D94C4C"/>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0FBA33F6-0A11-4E3D-B1AE-2ED6732B8DB2}"/>
              </a:ext>
            </a:extLst>
          </p:cNvPr>
          <p:cNvSpPr>
            <a:spLocks noGrp="1"/>
          </p:cNvSpPr>
          <p:nvPr/>
        </p:nvSpPr>
        <p:spPr>
          <a:xfrm>
            <a:off x="9915525" y="1857375"/>
            <a:ext cx="1619250" cy="361950"/>
          </a:xfrm>
          <a:prstGeom prst="rect">
            <a:avLst/>
          </a:prstGeom>
          <a:noFill/>
          <a:ln w="0">
            <a:noFill/>
            <a:prstDash val="solid"/>
          </a:ln>
        </p:spPr>
        <p:txBody>
          <a:bodyPr wrap="square" lIns="66675" tIns="47625" rIns="66675" bIns="47625" anchor="ctr">
            <a:normAutofit fontScale="84610" lnSpcReduction="10000"/>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WEB / MOBILE</a:t>
            </a:r>
          </a:p>
        </p:txBody>
      </p:sp>
      <p:sp>
        <p:nvSpPr>
          <p:cNvPr id="29" name="Rectangle 28">
            <a:extLst>
              <a:ext uri="{FF2B5EF4-FFF2-40B4-BE49-F238E27FC236}">
                <a16:creationId xmlns:a16="http://schemas.microsoft.com/office/drawing/2014/main" id="{A6D2653A-BD76-479A-857D-493F9A5C97D3}"/>
              </a:ext>
            </a:extLst>
          </p:cNvPr>
          <p:cNvSpPr>
            <a:spLocks noGrp="1"/>
          </p:cNvSpPr>
          <p:nvPr/>
        </p:nvSpPr>
        <p:spPr>
          <a:xfrm>
            <a:off x="9915525" y="2305050"/>
            <a:ext cx="1619250" cy="323850"/>
          </a:xfrm>
          <a:prstGeom prst="rect">
            <a:avLst/>
          </a:prstGeom>
          <a:noFill/>
          <a:ln w="0">
            <a:noFill/>
            <a:prstDash val="solid"/>
          </a:ln>
        </p:spPr>
        <p:txBody>
          <a:bodyPr wrap="square" lIns="66675" tIns="47625" rIns="66675" bIns="47625" anchor="ctr">
            <a:normAutofit fontScale="75544" lnSpcReduction="1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Giám sát + thông báo</a:t>
            </a:r>
          </a:p>
        </p:txBody>
      </p:sp>
      <p:cxnSp>
        <p:nvCxnSpPr>
          <p:cNvPr id="76" name="Straight Arrow Connector 75"/>
          <p:cNvCxnSpPr>
            <a:stCxn id="10" idx="3"/>
            <a:endCxn id="14" idx="1"/>
          </p:cNvCxnSpPr>
          <p:nvPr/>
        </p:nvCxnSpPr>
        <p:spPr>
          <a:xfrm>
            <a:off x="2476500" y="2238375"/>
            <a:ext cx="352425" cy="0"/>
          </a:xfrm>
          <a:prstGeom prst="straightConnector1">
            <a:avLst/>
          </a:prstGeom>
          <a:ln w="19050">
            <a:solidFill>
              <a:srgbClr val="0A2D43"/>
            </a:solidFill>
            <a:prstDash val="solid"/>
            <a:tailEnd type="triangle" w="sm" len="sm"/>
          </a:ln>
        </p:spPr>
      </p:cxnSp>
      <p:cxnSp>
        <p:nvCxnSpPr>
          <p:cNvPr id="77" name="Straight Arrow Connector 76"/>
          <p:cNvCxnSpPr>
            <a:stCxn id="14" idx="3"/>
            <a:endCxn id="18" idx="1"/>
          </p:cNvCxnSpPr>
          <p:nvPr/>
        </p:nvCxnSpPr>
        <p:spPr>
          <a:xfrm>
            <a:off x="4781550" y="2238375"/>
            <a:ext cx="352425" cy="0"/>
          </a:xfrm>
          <a:prstGeom prst="straightConnector1">
            <a:avLst/>
          </a:prstGeom>
          <a:ln w="19050">
            <a:solidFill>
              <a:srgbClr val="0A2D43"/>
            </a:solidFill>
            <a:prstDash val="solid"/>
            <a:tailEnd type="triangle" w="sm" len="sm"/>
          </a:ln>
        </p:spPr>
      </p:cxnSp>
      <p:cxnSp>
        <p:nvCxnSpPr>
          <p:cNvPr id="78" name="Straight Arrow Connector 77"/>
          <p:cNvCxnSpPr>
            <a:stCxn id="18" idx="3"/>
            <a:endCxn id="22" idx="1"/>
          </p:cNvCxnSpPr>
          <p:nvPr/>
        </p:nvCxnSpPr>
        <p:spPr>
          <a:xfrm>
            <a:off x="7086600" y="2238375"/>
            <a:ext cx="352425" cy="0"/>
          </a:xfrm>
          <a:prstGeom prst="straightConnector1">
            <a:avLst/>
          </a:prstGeom>
          <a:ln w="19050">
            <a:solidFill>
              <a:srgbClr val="0A2D43"/>
            </a:solidFill>
            <a:prstDash val="solid"/>
            <a:tailEnd type="triangle" w="sm" len="sm"/>
          </a:ln>
        </p:spPr>
      </p:cxnSp>
      <p:cxnSp>
        <p:nvCxnSpPr>
          <p:cNvPr id="79" name="Straight Arrow Connector 78"/>
          <p:cNvCxnSpPr>
            <a:stCxn id="22" idx="3"/>
            <a:endCxn id="26" idx="1"/>
          </p:cNvCxnSpPr>
          <p:nvPr/>
        </p:nvCxnSpPr>
        <p:spPr>
          <a:xfrm>
            <a:off x="9391650" y="2238375"/>
            <a:ext cx="352425" cy="0"/>
          </a:xfrm>
          <a:prstGeom prst="straightConnector1">
            <a:avLst/>
          </a:prstGeom>
          <a:ln w="19050">
            <a:solidFill>
              <a:srgbClr val="0A2D43"/>
            </a:solidFill>
            <a:prstDash val="solid"/>
            <a:tailEnd type="triangle" w="sm" len="sm"/>
          </a:ln>
        </p:spPr>
      </p:cxnSp>
      <p:sp>
        <p:nvSpPr>
          <p:cNvPr id="34" name="Rectangle: Rounded Corners 33">
            <a:extLst>
              <a:ext uri="{FF2B5EF4-FFF2-40B4-BE49-F238E27FC236}">
                <a16:creationId xmlns:a16="http://schemas.microsoft.com/office/drawing/2014/main" id="{5C8727EE-B13A-4378-BFA8-BE6EA1EA1A09}"/>
              </a:ext>
            </a:extLst>
          </p:cNvPr>
          <p:cNvSpPr>
            <a:spLocks noGrp="1"/>
          </p:cNvSpPr>
          <p:nvPr/>
        </p:nvSpPr>
        <p:spPr>
          <a:xfrm>
            <a:off x="666750" y="3524250"/>
            <a:ext cx="3286125" cy="1619250"/>
          </a:xfrm>
          <a:prstGeom prst="roundRect">
            <a:avLst>
              <a:gd name="adj" fmla="val 7059"/>
            </a:avLst>
          </a:prstGeom>
          <a:solidFill>
            <a:srgbClr val="E7F4F1"/>
          </a:solidFill>
          <a:ln w="14288">
            <a:solidFill>
              <a:srgbClr val="117C78"/>
            </a:solidFill>
            <a:prstDash val="solid"/>
          </a:ln>
        </p:spPr>
        <p:txBody>
          <a:bodyPr/>
          <a:lstStyle/>
          <a:p>
            <a:endParaRPr lang="en-US"/>
          </a:p>
        </p:txBody>
      </p:sp>
      <p:sp>
        <p:nvSpPr>
          <p:cNvPr id="35" name="Rectangle 34">
            <a:extLst>
              <a:ext uri="{FF2B5EF4-FFF2-40B4-BE49-F238E27FC236}">
                <a16:creationId xmlns:a16="http://schemas.microsoft.com/office/drawing/2014/main" id="{8E07AE96-8426-4465-B41E-4FC0D1341BBE}"/>
              </a:ext>
            </a:extLst>
          </p:cNvPr>
          <p:cNvSpPr>
            <a:spLocks noGrp="1"/>
          </p:cNvSpPr>
          <p:nvPr/>
        </p:nvSpPr>
        <p:spPr>
          <a:xfrm>
            <a:off x="666750" y="3524250"/>
            <a:ext cx="66675" cy="1619250"/>
          </a:xfrm>
          <a:prstGeom prst="rect">
            <a:avLst/>
          </a:prstGeom>
          <a:solidFill>
            <a:srgbClr val="117C78"/>
          </a:solidFill>
          <a:ln w="0">
            <a:noFill/>
            <a:prstDash val="solid"/>
          </a:ln>
        </p:spPr>
        <p:txBody>
          <a:bodyPr/>
          <a:lstStyle/>
          <a:p>
            <a:endParaRPr lang="en-US"/>
          </a:p>
        </p:txBody>
      </p:sp>
      <p:sp>
        <p:nvSpPr>
          <p:cNvPr id="36" name="Rectangle 35">
            <a:extLst>
              <a:ext uri="{FF2B5EF4-FFF2-40B4-BE49-F238E27FC236}">
                <a16:creationId xmlns:a16="http://schemas.microsoft.com/office/drawing/2014/main" id="{EC153552-BF7A-410B-A552-546FD28FD0D7}"/>
              </a:ext>
            </a:extLst>
          </p:cNvPr>
          <p:cNvSpPr>
            <a:spLocks noGrp="1"/>
          </p:cNvSpPr>
          <p:nvPr/>
        </p:nvSpPr>
        <p:spPr>
          <a:xfrm>
            <a:off x="838200" y="3638550"/>
            <a:ext cx="3000375" cy="285750"/>
          </a:xfrm>
          <a:prstGeom prst="rect">
            <a:avLst/>
          </a:prstGeom>
          <a:noFill/>
          <a:ln w="0">
            <a:noFill/>
            <a:prstDash val="solid"/>
          </a:ln>
        </p:spPr>
        <p:txBody>
          <a:bodyPr wrap="square" lIns="66675" tIns="47625" rIns="66675" bIns="47625" anchor="ctr">
            <a:normAutofit fontScale="73638" lnSpcReduction="1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Edge xử lý AI</a:t>
            </a:r>
          </a:p>
        </p:txBody>
      </p:sp>
      <p:sp>
        <p:nvSpPr>
          <p:cNvPr id="37" name="Rectangle 36">
            <a:extLst>
              <a:ext uri="{FF2B5EF4-FFF2-40B4-BE49-F238E27FC236}">
                <a16:creationId xmlns:a16="http://schemas.microsoft.com/office/drawing/2014/main" id="{EEDB006E-18F6-43F5-BA43-1D79AE2F35F6}"/>
              </a:ext>
            </a:extLst>
          </p:cNvPr>
          <p:cNvSpPr>
            <a:spLocks noGrp="1"/>
          </p:cNvSpPr>
          <p:nvPr/>
        </p:nvSpPr>
        <p:spPr>
          <a:xfrm>
            <a:off x="838200" y="3962400"/>
            <a:ext cx="3000375" cy="1085850"/>
          </a:xfrm>
          <a:prstGeom prst="rect">
            <a:avLst/>
          </a:prstGeom>
          <a:noFill/>
          <a:ln w="0">
            <a:noFill/>
            <a:prstDash val="solid"/>
          </a:ln>
        </p:spPr>
        <p:txBody>
          <a:bodyPr wrap="square" lIns="66675" tIns="47625" rIns="66675" bIns="47625" anchor="t">
            <a:normAutofit fontScale="85979"/>
          </a:bodyPr>
          <a:lstStyle/>
          <a:p>
            <a:pPr algn="l">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Hình ảnh được xử lý tại Edge. Backend nhận metric, sự kiện và đường dẫn bằng chứng thay vì thực hiện suy luận camera.</a:t>
            </a:r>
          </a:p>
        </p:txBody>
      </p:sp>
      <p:sp>
        <p:nvSpPr>
          <p:cNvPr id="38" name="Rectangle: Rounded Corners 37">
            <a:extLst>
              <a:ext uri="{FF2B5EF4-FFF2-40B4-BE49-F238E27FC236}">
                <a16:creationId xmlns:a16="http://schemas.microsoft.com/office/drawing/2014/main" id="{58C875E8-6D48-4080-95CB-51328B2128FC}"/>
              </a:ext>
            </a:extLst>
          </p:cNvPr>
          <p:cNvSpPr>
            <a:spLocks noGrp="1"/>
          </p:cNvSpPr>
          <p:nvPr/>
        </p:nvSpPr>
        <p:spPr>
          <a:xfrm>
            <a:off x="4457700" y="3524250"/>
            <a:ext cx="3286125" cy="1619250"/>
          </a:xfrm>
          <a:prstGeom prst="roundRect">
            <a:avLst>
              <a:gd name="adj" fmla="val 7059"/>
            </a:avLst>
          </a:prstGeom>
          <a:solidFill>
            <a:srgbClr val="E7F2F5"/>
          </a:solidFill>
          <a:ln w="14288">
            <a:solidFill>
              <a:srgbClr val="176B8A"/>
            </a:solidFill>
            <a:prstDash val="solid"/>
          </a:ln>
        </p:spPr>
        <p:txBody>
          <a:bodyPr/>
          <a:lstStyle/>
          <a:p>
            <a:endParaRPr lang="en-US"/>
          </a:p>
        </p:txBody>
      </p:sp>
      <p:sp>
        <p:nvSpPr>
          <p:cNvPr id="39" name="Rectangle 38">
            <a:extLst>
              <a:ext uri="{FF2B5EF4-FFF2-40B4-BE49-F238E27FC236}">
                <a16:creationId xmlns:a16="http://schemas.microsoft.com/office/drawing/2014/main" id="{3FA2A1D6-B30C-4AB1-BC20-948EBE651777}"/>
              </a:ext>
            </a:extLst>
          </p:cNvPr>
          <p:cNvSpPr>
            <a:spLocks noGrp="1"/>
          </p:cNvSpPr>
          <p:nvPr/>
        </p:nvSpPr>
        <p:spPr>
          <a:xfrm>
            <a:off x="4457700" y="3524250"/>
            <a:ext cx="66675" cy="1619250"/>
          </a:xfrm>
          <a:prstGeom prst="rect">
            <a:avLst/>
          </a:prstGeom>
          <a:solidFill>
            <a:srgbClr val="176B8A"/>
          </a:solidFill>
          <a:ln w="0">
            <a:noFill/>
            <a:prstDash val="solid"/>
          </a:ln>
        </p:spPr>
        <p:txBody>
          <a:bodyPr/>
          <a:lstStyle/>
          <a:p>
            <a:endParaRPr lang="en-US"/>
          </a:p>
        </p:txBody>
      </p:sp>
      <p:sp>
        <p:nvSpPr>
          <p:cNvPr id="40" name="Rectangle 39">
            <a:extLst>
              <a:ext uri="{FF2B5EF4-FFF2-40B4-BE49-F238E27FC236}">
                <a16:creationId xmlns:a16="http://schemas.microsoft.com/office/drawing/2014/main" id="{1498081A-F422-42D6-8A20-E1B355976F1D}"/>
              </a:ext>
            </a:extLst>
          </p:cNvPr>
          <p:cNvSpPr>
            <a:spLocks noGrp="1"/>
          </p:cNvSpPr>
          <p:nvPr/>
        </p:nvSpPr>
        <p:spPr>
          <a:xfrm>
            <a:off x="4629150" y="3638550"/>
            <a:ext cx="3000375" cy="285750"/>
          </a:xfrm>
          <a:prstGeom prst="rect">
            <a:avLst/>
          </a:prstGeom>
          <a:noFill/>
          <a:ln w="0">
            <a:noFill/>
            <a:prstDash val="solid"/>
          </a:ln>
        </p:spPr>
        <p:txBody>
          <a:bodyPr wrap="square" lIns="66675" tIns="47625" rIns="66675" bIns="47625" anchor="ctr">
            <a:normAutofit fontScale="73638" lnSpcReduction="1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Backend kiểm soát nghiệp vụ</a:t>
            </a:r>
          </a:p>
        </p:txBody>
      </p:sp>
      <p:sp>
        <p:nvSpPr>
          <p:cNvPr id="41" name="Rectangle 40">
            <a:extLst>
              <a:ext uri="{FF2B5EF4-FFF2-40B4-BE49-F238E27FC236}">
                <a16:creationId xmlns:a16="http://schemas.microsoft.com/office/drawing/2014/main" id="{BB6AC8F0-CDAB-490C-B11D-2C9126C5DEF3}"/>
              </a:ext>
            </a:extLst>
          </p:cNvPr>
          <p:cNvSpPr>
            <a:spLocks noGrp="1"/>
          </p:cNvSpPr>
          <p:nvPr/>
        </p:nvSpPr>
        <p:spPr>
          <a:xfrm>
            <a:off x="4629150" y="3962400"/>
            <a:ext cx="3000375" cy="1085850"/>
          </a:xfrm>
          <a:prstGeom prst="rect">
            <a:avLst/>
          </a:prstGeom>
          <a:noFill/>
          <a:ln w="0">
            <a:noFill/>
            <a:prstDash val="solid"/>
          </a:ln>
        </p:spPr>
        <p:txBody>
          <a:bodyPr wrap="square" lIns="66675" tIns="47625" rIns="66675" bIns="47625" anchor="t">
            <a:normAutofit fontScale="93479" lnSpcReduction="10000"/>
          </a:bodyPr>
          <a:lstStyle/>
          <a:p>
            <a:pPr algn="l">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FastAPI kiểm tra API key, trạng thái chuyến, quan hệ tài xế – xe – thiết bị và quyền trước khi ghi MySQL.</a:t>
            </a:r>
          </a:p>
        </p:txBody>
      </p:sp>
      <p:sp>
        <p:nvSpPr>
          <p:cNvPr id="42" name="Rectangle: Rounded Corners 41">
            <a:extLst>
              <a:ext uri="{FF2B5EF4-FFF2-40B4-BE49-F238E27FC236}">
                <a16:creationId xmlns:a16="http://schemas.microsoft.com/office/drawing/2014/main" id="{EE5E360B-281C-4594-8A32-EBA712503E0E}"/>
              </a:ext>
            </a:extLst>
          </p:cNvPr>
          <p:cNvSpPr>
            <a:spLocks noGrp="1"/>
          </p:cNvSpPr>
          <p:nvPr/>
        </p:nvSpPr>
        <p:spPr>
          <a:xfrm>
            <a:off x="8248650" y="3524250"/>
            <a:ext cx="3286125" cy="1619250"/>
          </a:xfrm>
          <a:prstGeom prst="roundRect">
            <a:avLst>
              <a:gd name="adj" fmla="val 7059"/>
            </a:avLst>
          </a:prstGeom>
          <a:solidFill>
            <a:srgbClr val="FAECEB"/>
          </a:solidFill>
          <a:ln w="14288">
            <a:solidFill>
              <a:srgbClr val="D94C4C"/>
            </a:solidFill>
            <a:prstDash val="solid"/>
          </a:ln>
        </p:spPr>
        <p:txBody>
          <a:bodyPr/>
          <a:lstStyle/>
          <a:p>
            <a:endParaRPr lang="en-US"/>
          </a:p>
        </p:txBody>
      </p:sp>
      <p:sp>
        <p:nvSpPr>
          <p:cNvPr id="43" name="Rectangle 42">
            <a:extLst>
              <a:ext uri="{FF2B5EF4-FFF2-40B4-BE49-F238E27FC236}">
                <a16:creationId xmlns:a16="http://schemas.microsoft.com/office/drawing/2014/main" id="{61308502-00D0-4908-B93F-7F6C5B8087C9}"/>
              </a:ext>
            </a:extLst>
          </p:cNvPr>
          <p:cNvSpPr>
            <a:spLocks noGrp="1"/>
          </p:cNvSpPr>
          <p:nvPr/>
        </p:nvSpPr>
        <p:spPr>
          <a:xfrm>
            <a:off x="8248650" y="3524250"/>
            <a:ext cx="66675" cy="1619250"/>
          </a:xfrm>
          <a:prstGeom prst="rect">
            <a:avLst/>
          </a:prstGeom>
          <a:solidFill>
            <a:srgbClr val="D94C4C"/>
          </a:solidFill>
          <a:ln w="0">
            <a:noFill/>
            <a:prstDash val="solid"/>
          </a:ln>
        </p:spPr>
        <p:txBody>
          <a:bodyPr/>
          <a:lstStyle/>
          <a:p>
            <a:endParaRPr lang="en-US"/>
          </a:p>
        </p:txBody>
      </p:sp>
      <p:sp>
        <p:nvSpPr>
          <p:cNvPr id="44" name="Rectangle 43">
            <a:extLst>
              <a:ext uri="{FF2B5EF4-FFF2-40B4-BE49-F238E27FC236}">
                <a16:creationId xmlns:a16="http://schemas.microsoft.com/office/drawing/2014/main" id="{3D279939-DB84-4430-9A46-332446EB140C}"/>
              </a:ext>
            </a:extLst>
          </p:cNvPr>
          <p:cNvSpPr>
            <a:spLocks noGrp="1"/>
          </p:cNvSpPr>
          <p:nvPr/>
        </p:nvSpPr>
        <p:spPr>
          <a:xfrm>
            <a:off x="8420100" y="3638550"/>
            <a:ext cx="3000375" cy="285750"/>
          </a:xfrm>
          <a:prstGeom prst="rect">
            <a:avLst/>
          </a:prstGeom>
          <a:noFill/>
          <a:ln w="0">
            <a:noFill/>
            <a:prstDash val="solid"/>
          </a:ln>
        </p:spPr>
        <p:txBody>
          <a:bodyPr wrap="square" lIns="66675" tIns="47625" rIns="66675" bIns="47625" anchor="ctr">
            <a:normAutofit fontScale="73638" lnSpcReduction="1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Ứng dụng nhận dữ liệu</a:t>
            </a:r>
          </a:p>
        </p:txBody>
      </p:sp>
      <p:sp>
        <p:nvSpPr>
          <p:cNvPr id="45" name="Rectangle 44">
            <a:extLst>
              <a:ext uri="{FF2B5EF4-FFF2-40B4-BE49-F238E27FC236}">
                <a16:creationId xmlns:a16="http://schemas.microsoft.com/office/drawing/2014/main" id="{8186A719-64A8-4B6D-A7F9-DE59704B5E95}"/>
              </a:ext>
            </a:extLst>
          </p:cNvPr>
          <p:cNvSpPr>
            <a:spLocks noGrp="1"/>
          </p:cNvSpPr>
          <p:nvPr/>
        </p:nvSpPr>
        <p:spPr>
          <a:xfrm>
            <a:off x="8420100" y="3962400"/>
            <a:ext cx="3000375" cy="1085850"/>
          </a:xfrm>
          <a:prstGeom prst="rect">
            <a:avLst/>
          </a:prstGeom>
          <a:noFill/>
          <a:ln w="0">
            <a:noFill/>
            <a:prstDash val="solid"/>
          </a:ln>
        </p:spPr>
        <p:txBody>
          <a:bodyPr wrap="square" lIns="66675" tIns="47625" rIns="66675" bIns="47625" anchor="t">
            <a:normAutofit fontScale="93479" lnSpcReduction="10000"/>
          </a:bodyPr>
          <a:lstStyle/>
          <a:p>
            <a:pPr algn="l">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Web cập nhật phiên trực tiếp qua WebSocket. Mobile truy vấn theo tài khoản và nhận thông báo cảnh báo.</a:t>
            </a:r>
          </a:p>
        </p:txBody>
      </p:sp>
    </p:spTree>
    <p:extLst>
      <p:ext uri="{BB962C8B-B14F-4D97-AF65-F5344CB8AC3E}">
        <p14:creationId xmlns:p14="http://schemas.microsoft.com/office/powerpoint/2010/main" val="161576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7E52B618-1F16-4D10-B086-F0B7B432DCB7}"/>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9F74B528-4DFE-4B32-8C57-4E74043D769D}"/>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9165FCCE-21FC-41BA-AC83-14BB925C9063}"/>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27A63147-6CE9-4C75-B768-B8A53E9684D0}"/>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PIPELINE AI: YOLO – CNN – LSTM</a:t>
            </a:r>
          </a:p>
        </p:txBody>
      </p:sp>
      <p:sp>
        <p:nvSpPr>
          <p:cNvPr id="5" name="Rectangle 4">
            <a:extLst>
              <a:ext uri="{FF2B5EF4-FFF2-40B4-BE49-F238E27FC236}">
                <a16:creationId xmlns:a16="http://schemas.microsoft.com/office/drawing/2014/main" id="{39D76941-9B56-4F77-BF17-E75CF3E9FFD9}"/>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07</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9C3CB712-1D08-43FF-8C5E-FD88DD1CF55B}"/>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602E6511-9E08-46A2-8243-BFF334519C51}"/>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C1AD0C23-C0A8-42E5-97D8-1399CEB49211}"/>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Rounded Corners 8">
            <a:extLst>
              <a:ext uri="{FF2B5EF4-FFF2-40B4-BE49-F238E27FC236}">
                <a16:creationId xmlns:a16="http://schemas.microsoft.com/office/drawing/2014/main" id="{93F15BE8-4787-448B-A459-D4E5DDD0BB61}"/>
              </a:ext>
            </a:extLst>
          </p:cNvPr>
          <p:cNvSpPr>
            <a:spLocks noGrp="1"/>
          </p:cNvSpPr>
          <p:nvPr/>
        </p:nvSpPr>
        <p:spPr>
          <a:xfrm>
            <a:off x="523875" y="1428750"/>
            <a:ext cx="1571625" cy="2952750"/>
          </a:xfrm>
          <a:prstGeom prst="roundRect">
            <a:avLst>
              <a:gd name="adj" fmla="val 9697"/>
            </a:avLst>
          </a:prstGeom>
          <a:solidFill>
            <a:srgbClr val="0A2D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1C5D5BC-C714-4692-8A82-38E03AFF4E29}"/>
              </a:ext>
            </a:extLst>
          </p:cNvPr>
          <p:cNvSpPr>
            <a:spLocks noGrp="1"/>
          </p:cNvSpPr>
          <p:nvPr/>
        </p:nvSpPr>
        <p:spPr>
          <a:xfrm>
            <a:off x="685800" y="2095500"/>
            <a:ext cx="1238250" cy="762000"/>
          </a:xfrm>
          <a:prstGeom prst="rect">
            <a:avLst/>
          </a:prstGeom>
          <a:noFill/>
          <a:ln w="0">
            <a:noFill/>
            <a:prstDash val="solid"/>
          </a:ln>
        </p:spPr>
        <p:txBody>
          <a:bodyPr wrap="square" lIns="66675" tIns="47625" rIns="66675" bIns="47625" anchor="ctr">
            <a:normAutofit fontScale="84660" lnSpcReduction="10000"/>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KHUNG HÌNH</a:t>
            </a:r>
          </a:p>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CABIN</a:t>
            </a:r>
          </a:p>
        </p:txBody>
      </p:sp>
      <p:sp>
        <p:nvSpPr>
          <p:cNvPr id="11" name="Rectangle 10">
            <a:extLst>
              <a:ext uri="{FF2B5EF4-FFF2-40B4-BE49-F238E27FC236}">
                <a16:creationId xmlns:a16="http://schemas.microsoft.com/office/drawing/2014/main" id="{E8DD5543-71CB-4F3F-811C-EBA010D2F40B}"/>
              </a:ext>
            </a:extLst>
          </p:cNvPr>
          <p:cNvSpPr>
            <a:spLocks noGrp="1"/>
          </p:cNvSpPr>
          <p:nvPr/>
        </p:nvSpPr>
        <p:spPr>
          <a:xfrm>
            <a:off x="685800" y="3095625"/>
            <a:ext cx="1238250" cy="457200"/>
          </a:xfrm>
          <a:prstGeom prst="rect">
            <a:avLst/>
          </a:prstGeom>
          <a:noFill/>
          <a:ln w="0">
            <a:noFill/>
            <a:prstDash val="solid"/>
          </a:ln>
        </p:spPr>
        <p:txBody>
          <a:bodyPr wrap="square" lIns="66675" tIns="47625" rIns="66675" bIns="47625" anchor="t">
            <a:normAutofit fontScale="70331" lnSpcReduction="10000"/>
          </a:bodyPr>
          <a:lstStyle/>
          <a:p>
            <a:pPr algn="ctr">
              <a:lnSpc>
                <a:spcPct val="105000"/>
              </a:lnSpc>
              <a:buNone/>
              <a:defRPr b="0" i="0">
                <a:solidFill>
                  <a:srgbClr val="BDE5EB"/>
                </a:solidFill>
                <a:latin typeface="Arial"/>
                <a:ea typeface="Arial"/>
                <a:cs typeface="Arial"/>
              </a:defRPr>
            </a:pPr>
            <a:r>
              <a:rPr b="0" i="0">
                <a:solidFill>
                  <a:srgbClr val="BDE5EB"/>
                </a:solidFill>
                <a:latin typeface="Arial"/>
                <a:ea typeface="Arial"/>
                <a:cs typeface="Arial"/>
              </a:rPr>
              <a:t>Camera hoặc video</a:t>
            </a:r>
          </a:p>
        </p:txBody>
      </p:sp>
      <p:sp>
        <p:nvSpPr>
          <p:cNvPr id="12" name="Rectangle: Rounded Corners 11">
            <a:extLst>
              <a:ext uri="{FF2B5EF4-FFF2-40B4-BE49-F238E27FC236}">
                <a16:creationId xmlns:a16="http://schemas.microsoft.com/office/drawing/2014/main" id="{A09E9701-37A1-4453-91AA-0570BB7AA531}"/>
              </a:ext>
            </a:extLst>
          </p:cNvPr>
          <p:cNvSpPr>
            <a:spLocks noGrp="1"/>
          </p:cNvSpPr>
          <p:nvPr/>
        </p:nvSpPr>
        <p:spPr>
          <a:xfrm>
            <a:off x="2714625" y="1095375"/>
            <a:ext cx="2428875" cy="1285875"/>
          </a:xfrm>
          <a:prstGeom prst="roundRect">
            <a:avLst>
              <a:gd name="adj" fmla="val 10370"/>
            </a:avLst>
          </a:prstGeom>
          <a:solidFill>
            <a:srgbClr val="E7F2F5"/>
          </a:solidFill>
          <a:ln w="16193">
            <a:solidFill>
              <a:srgbClr val="176B8A"/>
            </a:solidFill>
            <a:prstDash val="solid"/>
          </a:ln>
        </p:spPr>
        <p:txBody>
          <a:bodyPr/>
          <a:lstStyle/>
          <a:p>
            <a:endParaRPr lang="en-US"/>
          </a:p>
        </p:txBody>
      </p:sp>
      <p:sp>
        <p:nvSpPr>
          <p:cNvPr id="13" name="Rectangle 12">
            <a:extLst>
              <a:ext uri="{FF2B5EF4-FFF2-40B4-BE49-F238E27FC236}">
                <a16:creationId xmlns:a16="http://schemas.microsoft.com/office/drawing/2014/main" id="{171E7066-5A4E-4E3E-A14F-C3FB4A61A959}"/>
              </a:ext>
            </a:extLst>
          </p:cNvPr>
          <p:cNvSpPr>
            <a:spLocks noGrp="1"/>
          </p:cNvSpPr>
          <p:nvPr/>
        </p:nvSpPr>
        <p:spPr>
          <a:xfrm>
            <a:off x="2924175" y="1304925"/>
            <a:ext cx="2000250" cy="342900"/>
          </a:xfrm>
          <a:prstGeom prst="rect">
            <a:avLst/>
          </a:prstGeom>
          <a:noFill/>
          <a:ln w="0">
            <a:noFill/>
            <a:prstDash val="solid"/>
          </a:ln>
        </p:spPr>
        <p:txBody>
          <a:bodyPr wrap="square" lIns="66675" tIns="47625" rIns="66675" bIns="47625" anchor="t">
            <a:normAutofit fontScale="93479" lnSpcReduction="10000"/>
          </a:bodyPr>
          <a:lstStyle/>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YOLOv8s</a:t>
            </a:r>
          </a:p>
        </p:txBody>
      </p:sp>
      <p:sp>
        <p:nvSpPr>
          <p:cNvPr id="14" name="Rectangle 13">
            <a:extLst>
              <a:ext uri="{FF2B5EF4-FFF2-40B4-BE49-F238E27FC236}">
                <a16:creationId xmlns:a16="http://schemas.microsoft.com/office/drawing/2014/main" id="{992354BB-CCC0-486D-83A2-146948F6F533}"/>
              </a:ext>
            </a:extLst>
          </p:cNvPr>
          <p:cNvSpPr>
            <a:spLocks noGrp="1"/>
          </p:cNvSpPr>
          <p:nvPr/>
        </p:nvSpPr>
        <p:spPr>
          <a:xfrm>
            <a:off x="2924175" y="1714500"/>
            <a:ext cx="2000250" cy="495300"/>
          </a:xfrm>
          <a:prstGeom prst="rect">
            <a:avLst/>
          </a:prstGeom>
          <a:noFill/>
          <a:ln w="0">
            <a:noFill/>
            <a:prstDash val="solid"/>
          </a:ln>
        </p:spPr>
        <p:txBody>
          <a:bodyPr wrap="square" lIns="66675" tIns="47625" rIns="66675" bIns="47625" anchor="t">
            <a:normAutofit fontScale="69260" lnSpcReduction="10000"/>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5 lớp: Open Eye, Closed Eye, Cigarette, Phone, Seatbelt</a:t>
            </a:r>
          </a:p>
        </p:txBody>
      </p:sp>
      <p:sp>
        <p:nvSpPr>
          <p:cNvPr id="15" name="Rectangle: Rounded Corners 14">
            <a:extLst>
              <a:ext uri="{FF2B5EF4-FFF2-40B4-BE49-F238E27FC236}">
                <a16:creationId xmlns:a16="http://schemas.microsoft.com/office/drawing/2014/main" id="{82C0AEA9-ECF7-4232-B0AF-5D76057DFEC2}"/>
              </a:ext>
            </a:extLst>
          </p:cNvPr>
          <p:cNvSpPr>
            <a:spLocks noGrp="1"/>
          </p:cNvSpPr>
          <p:nvPr/>
        </p:nvSpPr>
        <p:spPr>
          <a:xfrm>
            <a:off x="2714625" y="2714625"/>
            <a:ext cx="2428875" cy="1285875"/>
          </a:xfrm>
          <a:prstGeom prst="roundRect">
            <a:avLst>
              <a:gd name="adj" fmla="val 10370"/>
            </a:avLst>
          </a:prstGeom>
          <a:solidFill>
            <a:srgbClr val="E7F4F1"/>
          </a:solidFill>
          <a:ln w="16193">
            <a:solidFill>
              <a:srgbClr val="117C78"/>
            </a:solidFill>
            <a:prstDash val="solid"/>
          </a:ln>
        </p:spPr>
        <p:txBody>
          <a:bodyPr/>
          <a:lstStyle/>
          <a:p>
            <a:endParaRPr lang="en-US"/>
          </a:p>
        </p:txBody>
      </p:sp>
      <p:sp>
        <p:nvSpPr>
          <p:cNvPr id="16" name="Rectangle 15">
            <a:extLst>
              <a:ext uri="{FF2B5EF4-FFF2-40B4-BE49-F238E27FC236}">
                <a16:creationId xmlns:a16="http://schemas.microsoft.com/office/drawing/2014/main" id="{1CAAE59F-A1A0-47EE-B3A1-2E2F9A2079E8}"/>
              </a:ext>
            </a:extLst>
          </p:cNvPr>
          <p:cNvSpPr>
            <a:spLocks noGrp="1"/>
          </p:cNvSpPr>
          <p:nvPr/>
        </p:nvSpPr>
        <p:spPr>
          <a:xfrm>
            <a:off x="2924175" y="2924175"/>
            <a:ext cx="2000250" cy="342900"/>
          </a:xfrm>
          <a:prstGeom prst="rect">
            <a:avLst/>
          </a:prstGeom>
          <a:noFill/>
          <a:ln w="0">
            <a:noFill/>
            <a:prstDash val="solid"/>
          </a:ln>
        </p:spPr>
        <p:txBody>
          <a:bodyPr wrap="square" lIns="66675" tIns="47625" rIns="66675" bIns="47625" anchor="t">
            <a:normAutofit fontScale="93479" lnSpcReduction="1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EfficientNet-B0</a:t>
            </a:r>
          </a:p>
        </p:txBody>
      </p:sp>
      <p:sp>
        <p:nvSpPr>
          <p:cNvPr id="17" name="Rectangle 16">
            <a:extLst>
              <a:ext uri="{FF2B5EF4-FFF2-40B4-BE49-F238E27FC236}">
                <a16:creationId xmlns:a16="http://schemas.microsoft.com/office/drawing/2014/main" id="{FE43BAB3-C43E-4872-B595-B579BBAEB11F}"/>
              </a:ext>
            </a:extLst>
          </p:cNvPr>
          <p:cNvSpPr>
            <a:spLocks noGrp="1"/>
          </p:cNvSpPr>
          <p:nvPr/>
        </p:nvSpPr>
        <p:spPr>
          <a:xfrm>
            <a:off x="2924175" y="3333750"/>
            <a:ext cx="2000250" cy="495300"/>
          </a:xfrm>
          <a:prstGeom prst="rect">
            <a:avLst/>
          </a:prstGeom>
          <a:noFill/>
          <a:ln w="0">
            <a:noFill/>
            <a:prstDash val="solid"/>
          </a:ln>
        </p:spPr>
        <p:txBody>
          <a:bodyPr wrap="square" lIns="66675" tIns="47625" rIns="66675" bIns="47625" anchor="t">
            <a:normAutofit fontScale="76781" lnSpcReduction="10000"/>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Phân loại awake/drowsy và trích vector 1.280 chiều</a:t>
            </a:r>
          </a:p>
        </p:txBody>
      </p:sp>
      <p:sp>
        <p:nvSpPr>
          <p:cNvPr id="18" name="Rectangle: Rounded Corners 17">
            <a:extLst>
              <a:ext uri="{FF2B5EF4-FFF2-40B4-BE49-F238E27FC236}">
                <a16:creationId xmlns:a16="http://schemas.microsoft.com/office/drawing/2014/main" id="{082C4E3D-0836-45AF-98D3-A347ED17036B}"/>
              </a:ext>
            </a:extLst>
          </p:cNvPr>
          <p:cNvSpPr>
            <a:spLocks noGrp="1"/>
          </p:cNvSpPr>
          <p:nvPr/>
        </p:nvSpPr>
        <p:spPr>
          <a:xfrm>
            <a:off x="2714625" y="4333875"/>
            <a:ext cx="2428875" cy="1000125"/>
          </a:xfrm>
          <a:prstGeom prst="roundRect">
            <a:avLst>
              <a:gd name="adj" fmla="val 13333"/>
            </a:avLst>
          </a:prstGeom>
          <a:solidFill>
            <a:srgbClr val="FBF4E5"/>
          </a:solidFill>
          <a:ln w="16193">
            <a:solidFill>
              <a:srgbClr val="F1A33A"/>
            </a:solidFill>
            <a:prstDash val="solid"/>
          </a:ln>
        </p:spPr>
        <p:txBody>
          <a:bodyPr/>
          <a:lstStyle/>
          <a:p>
            <a:endParaRPr lang="en-US"/>
          </a:p>
        </p:txBody>
      </p:sp>
      <p:sp>
        <p:nvSpPr>
          <p:cNvPr id="19" name="Rectangle 18">
            <a:extLst>
              <a:ext uri="{FF2B5EF4-FFF2-40B4-BE49-F238E27FC236}">
                <a16:creationId xmlns:a16="http://schemas.microsoft.com/office/drawing/2014/main" id="{89BA03CB-37B0-4986-94CD-5A67CD698115}"/>
              </a:ext>
            </a:extLst>
          </p:cNvPr>
          <p:cNvSpPr>
            <a:spLocks noGrp="1"/>
          </p:cNvSpPr>
          <p:nvPr/>
        </p:nvSpPr>
        <p:spPr>
          <a:xfrm>
            <a:off x="2924175" y="4476750"/>
            <a:ext cx="2000250" cy="323850"/>
          </a:xfrm>
          <a:prstGeom prst="rect">
            <a:avLst/>
          </a:prstGeom>
          <a:noFill/>
          <a:ln w="0">
            <a:noFill/>
            <a:prstDash val="solid"/>
          </a:ln>
        </p:spPr>
        <p:txBody>
          <a:bodyPr wrap="square" lIns="66675" tIns="47625" rIns="66675" bIns="47625" anchor="t">
            <a:normAutofit fontScale="86865" lnSpcReduction="20000"/>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MediaPipe + hình học</a:t>
            </a:r>
          </a:p>
        </p:txBody>
      </p:sp>
      <p:sp>
        <p:nvSpPr>
          <p:cNvPr id="20" name="Rectangle 19">
            <a:extLst>
              <a:ext uri="{FF2B5EF4-FFF2-40B4-BE49-F238E27FC236}">
                <a16:creationId xmlns:a16="http://schemas.microsoft.com/office/drawing/2014/main" id="{DF531687-FADB-479A-AD09-1DD729341498}"/>
              </a:ext>
            </a:extLst>
          </p:cNvPr>
          <p:cNvSpPr>
            <a:spLocks noGrp="1"/>
          </p:cNvSpPr>
          <p:nvPr/>
        </p:nvSpPr>
        <p:spPr>
          <a:xfrm>
            <a:off x="2924175" y="4895850"/>
            <a:ext cx="2000250" cy="266700"/>
          </a:xfrm>
          <a:prstGeom prst="rect">
            <a:avLst/>
          </a:prstGeom>
          <a:noFill/>
          <a:ln w="0">
            <a:noFill/>
            <a:prstDash val="solid"/>
          </a:ln>
        </p:spPr>
        <p:txBody>
          <a:bodyPr wrap="square" lIns="66675" tIns="47625" rIns="66675" bIns="47625" anchor="t">
            <a:normAutofit fontScale="51298" lnSpcReduction="2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EAR · MAR · PERCLOS · pose</a:t>
            </a:r>
          </a:p>
        </p:txBody>
      </p:sp>
      <p:sp>
        <p:nvSpPr>
          <p:cNvPr id="21" name="Rectangle: Rounded Corners 20">
            <a:extLst>
              <a:ext uri="{FF2B5EF4-FFF2-40B4-BE49-F238E27FC236}">
                <a16:creationId xmlns:a16="http://schemas.microsoft.com/office/drawing/2014/main" id="{DC8E544B-4D11-49F8-9893-DB2A8C019936}"/>
              </a:ext>
            </a:extLst>
          </p:cNvPr>
          <p:cNvSpPr>
            <a:spLocks noGrp="1"/>
          </p:cNvSpPr>
          <p:nvPr/>
        </p:nvSpPr>
        <p:spPr>
          <a:xfrm>
            <a:off x="6143625" y="2190750"/>
            <a:ext cx="2381250" cy="1476375"/>
          </a:xfrm>
          <a:prstGeom prst="roundRect">
            <a:avLst>
              <a:gd name="adj" fmla="val 9032"/>
            </a:avLst>
          </a:prstGeom>
          <a:solidFill>
            <a:srgbClr val="FAECEB"/>
          </a:solidFill>
          <a:ln w="16193">
            <a:solidFill>
              <a:srgbClr val="D94C4C"/>
            </a:solidFill>
            <a:prstDash val="solid"/>
          </a:ln>
        </p:spPr>
        <p:txBody>
          <a:bodyPr/>
          <a:lstStyle/>
          <a:p>
            <a:endParaRPr lang="en-US"/>
          </a:p>
        </p:txBody>
      </p:sp>
      <p:sp>
        <p:nvSpPr>
          <p:cNvPr id="22" name="Rectangle 21">
            <a:extLst>
              <a:ext uri="{FF2B5EF4-FFF2-40B4-BE49-F238E27FC236}">
                <a16:creationId xmlns:a16="http://schemas.microsoft.com/office/drawing/2014/main" id="{43FE72B3-C45F-47C8-AF67-9F52D09E1262}"/>
              </a:ext>
            </a:extLst>
          </p:cNvPr>
          <p:cNvSpPr>
            <a:spLocks noGrp="1"/>
          </p:cNvSpPr>
          <p:nvPr/>
        </p:nvSpPr>
        <p:spPr>
          <a:xfrm>
            <a:off x="6353175" y="2400300"/>
            <a:ext cx="1962150" cy="40005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LSTM</a:t>
            </a:r>
          </a:p>
        </p:txBody>
      </p:sp>
      <p:sp>
        <p:nvSpPr>
          <p:cNvPr id="23" name="Rectangle 22">
            <a:extLst>
              <a:ext uri="{FF2B5EF4-FFF2-40B4-BE49-F238E27FC236}">
                <a16:creationId xmlns:a16="http://schemas.microsoft.com/office/drawing/2014/main" id="{C6429696-6D56-48DF-AC75-8EF2EE2772A7}"/>
              </a:ext>
            </a:extLst>
          </p:cNvPr>
          <p:cNvSpPr>
            <a:spLocks noGrp="1"/>
          </p:cNvSpPr>
          <p:nvPr/>
        </p:nvSpPr>
        <p:spPr>
          <a:xfrm>
            <a:off x="6353175" y="2914650"/>
            <a:ext cx="1962150" cy="552450"/>
          </a:xfrm>
          <a:prstGeom prst="rect">
            <a:avLst/>
          </a:prstGeom>
          <a:noFill/>
          <a:ln w="0">
            <a:noFill/>
            <a:prstDash val="solid"/>
          </a:ln>
        </p:spPr>
        <p:txBody>
          <a:bodyPr wrap="square" lIns="66675" tIns="47625" rIns="66675" bIns="47625" anchor="t">
            <a:normAutofit fontScale="85510" lnSpcReduction="20000"/>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Chuỗi 16 vector</a:t>
            </a:r>
          </a:p>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hidden_dim 128 · 2 lớp</a:t>
            </a:r>
          </a:p>
        </p:txBody>
      </p:sp>
      <p:sp>
        <p:nvSpPr>
          <p:cNvPr id="24" name="Rectangle: Rounded Corners 23">
            <a:extLst>
              <a:ext uri="{FF2B5EF4-FFF2-40B4-BE49-F238E27FC236}">
                <a16:creationId xmlns:a16="http://schemas.microsoft.com/office/drawing/2014/main" id="{DFC03E17-B667-4DCA-BEA4-00F029E67441}"/>
              </a:ext>
            </a:extLst>
          </p:cNvPr>
          <p:cNvSpPr>
            <a:spLocks noGrp="1"/>
          </p:cNvSpPr>
          <p:nvPr/>
        </p:nvSpPr>
        <p:spPr>
          <a:xfrm>
            <a:off x="9429750" y="1714500"/>
            <a:ext cx="2190750" cy="2428875"/>
          </a:xfrm>
          <a:prstGeom prst="roundRect">
            <a:avLst>
              <a:gd name="adj" fmla="val 6087"/>
            </a:avLst>
          </a:prstGeom>
          <a:solidFill>
            <a:srgbClr val="F4F7F8"/>
          </a:solidFill>
          <a:ln w="16193">
            <a:solidFill>
              <a:srgbClr val="0A2D43"/>
            </a:solidFill>
            <a:prstDash val="solid"/>
          </a:ln>
        </p:spPr>
        <p:txBody>
          <a:bodyPr/>
          <a:lstStyle/>
          <a:p>
            <a:endParaRPr lang="en-US"/>
          </a:p>
        </p:txBody>
      </p:sp>
      <p:sp>
        <p:nvSpPr>
          <p:cNvPr id="25" name="Rectangle 24">
            <a:extLst>
              <a:ext uri="{FF2B5EF4-FFF2-40B4-BE49-F238E27FC236}">
                <a16:creationId xmlns:a16="http://schemas.microsoft.com/office/drawing/2014/main" id="{6325B77C-4AD2-4A1B-B750-DDDC647B2E17}"/>
              </a:ext>
            </a:extLst>
          </p:cNvPr>
          <p:cNvSpPr>
            <a:spLocks noGrp="1"/>
          </p:cNvSpPr>
          <p:nvPr/>
        </p:nvSpPr>
        <p:spPr>
          <a:xfrm>
            <a:off x="9667875" y="2000250"/>
            <a:ext cx="1714500" cy="523875"/>
          </a:xfrm>
          <a:prstGeom prst="rect">
            <a:avLst/>
          </a:prstGeom>
          <a:noFill/>
          <a:ln w="0">
            <a:noFill/>
            <a:prstDash val="solid"/>
          </a:ln>
        </p:spPr>
        <p:txBody>
          <a:bodyPr wrap="square" lIns="66675" tIns="47625" rIns="66675" bIns="47625" anchor="ctr">
            <a:normAutofit fontScale="81905" lnSpcReduction="10000"/>
          </a:bodyPr>
          <a:lstStyle/>
          <a:p>
            <a:pPr algn="ctr">
              <a:lnSpc>
                <a:spcPct val="105000"/>
              </a:lnSpc>
              <a:buNone/>
              <a:defRPr b="1" i="0">
                <a:solidFill>
                  <a:srgbClr val="0A2D43"/>
                </a:solidFill>
                <a:latin typeface="Arial"/>
                <a:ea typeface="Arial"/>
                <a:cs typeface="Arial"/>
              </a:defRPr>
            </a:pPr>
            <a:r>
              <a:rPr b="1" i="0">
                <a:solidFill>
                  <a:srgbClr val="0A2D43"/>
                </a:solidFill>
                <a:latin typeface="Arial"/>
                <a:ea typeface="Arial"/>
                <a:cs typeface="Arial"/>
              </a:rPr>
              <a:t>HỢP NHẤT TÍN HIỆU</a:t>
            </a:r>
          </a:p>
        </p:txBody>
      </p:sp>
      <p:sp>
        <p:nvSpPr>
          <p:cNvPr id="26" name="Rectangle 25">
            <a:extLst>
              <a:ext uri="{FF2B5EF4-FFF2-40B4-BE49-F238E27FC236}">
                <a16:creationId xmlns:a16="http://schemas.microsoft.com/office/drawing/2014/main" id="{316DF181-4B49-4D69-BA4C-82EBEDC5C5D0}"/>
              </a:ext>
            </a:extLst>
          </p:cNvPr>
          <p:cNvSpPr>
            <a:spLocks noGrp="1"/>
          </p:cNvSpPr>
          <p:nvPr/>
        </p:nvSpPr>
        <p:spPr>
          <a:xfrm>
            <a:off x="9667875" y="2714625"/>
            <a:ext cx="1714500" cy="904875"/>
          </a:xfrm>
          <a:prstGeom prst="rect">
            <a:avLst/>
          </a:prstGeom>
          <a:noFill/>
          <a:ln w="0">
            <a:noFill/>
            <a:prstDash val="solid"/>
          </a:ln>
        </p:spPr>
        <p:txBody>
          <a:bodyPr wrap="square" lIns="66675" tIns="47625" rIns="66675" bIns="47625" anchor="ctr">
            <a:normAutofit fontScale="76665" lnSpcReduction="20000"/>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Độ tin cậy mô hình</a:t>
            </a:r>
          </a:p>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 chỉ số hình học</a:t>
            </a:r>
          </a:p>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 điều kiện thời gian</a:t>
            </a:r>
          </a:p>
        </p:txBody>
      </p:sp>
      <p:cxnSp>
        <p:nvCxnSpPr>
          <p:cNvPr id="63" name="Straight Arrow Connector 62"/>
          <p:cNvCxnSpPr>
            <a:stCxn id="9" idx="3"/>
            <a:endCxn id="12" idx="1"/>
          </p:cNvCxnSpPr>
          <p:nvPr/>
        </p:nvCxnSpPr>
        <p:spPr>
          <a:xfrm flipV="1">
            <a:off x="2095500" y="1738313"/>
            <a:ext cx="619125" cy="1166813"/>
          </a:xfrm>
          <a:prstGeom prst="straightConnector1">
            <a:avLst/>
          </a:prstGeom>
          <a:ln w="19050">
            <a:solidFill>
              <a:srgbClr val="0A2D43"/>
            </a:solidFill>
            <a:prstDash val="solid"/>
            <a:tailEnd type="triangle" w="sm" len="sm"/>
          </a:ln>
        </p:spPr>
      </p:cxnSp>
      <p:cxnSp>
        <p:nvCxnSpPr>
          <p:cNvPr id="64" name="Straight Arrow Connector 63"/>
          <p:cNvCxnSpPr>
            <a:stCxn id="9" idx="3"/>
            <a:endCxn id="15" idx="1"/>
          </p:cNvCxnSpPr>
          <p:nvPr/>
        </p:nvCxnSpPr>
        <p:spPr>
          <a:xfrm>
            <a:off x="2095500" y="2905125"/>
            <a:ext cx="619125" cy="452438"/>
          </a:xfrm>
          <a:prstGeom prst="straightConnector1">
            <a:avLst/>
          </a:prstGeom>
          <a:ln w="19050">
            <a:solidFill>
              <a:srgbClr val="0A2D43"/>
            </a:solidFill>
            <a:prstDash val="solid"/>
            <a:tailEnd type="triangle" w="sm" len="sm"/>
          </a:ln>
        </p:spPr>
      </p:cxnSp>
      <p:cxnSp>
        <p:nvCxnSpPr>
          <p:cNvPr id="65" name="Straight Arrow Connector 64"/>
          <p:cNvCxnSpPr>
            <a:stCxn id="9" idx="3"/>
            <a:endCxn id="18" idx="1"/>
          </p:cNvCxnSpPr>
          <p:nvPr/>
        </p:nvCxnSpPr>
        <p:spPr>
          <a:xfrm>
            <a:off x="2095500" y="2905125"/>
            <a:ext cx="619125" cy="1928813"/>
          </a:xfrm>
          <a:prstGeom prst="straightConnector1">
            <a:avLst/>
          </a:prstGeom>
          <a:ln w="19050">
            <a:solidFill>
              <a:srgbClr val="0A2D43"/>
            </a:solidFill>
            <a:prstDash val="solid"/>
            <a:tailEnd type="triangle" w="sm" len="sm"/>
          </a:ln>
        </p:spPr>
      </p:cxnSp>
      <p:cxnSp>
        <p:nvCxnSpPr>
          <p:cNvPr id="66" name="Straight Arrow Connector 65"/>
          <p:cNvCxnSpPr>
            <a:stCxn id="15" idx="3"/>
            <a:endCxn id="21" idx="1"/>
          </p:cNvCxnSpPr>
          <p:nvPr/>
        </p:nvCxnSpPr>
        <p:spPr>
          <a:xfrm flipV="1">
            <a:off x="5143500" y="2928938"/>
            <a:ext cx="1000125" cy="428625"/>
          </a:xfrm>
          <a:prstGeom prst="straightConnector1">
            <a:avLst/>
          </a:prstGeom>
          <a:ln w="19050">
            <a:solidFill>
              <a:srgbClr val="0A2D43"/>
            </a:solidFill>
            <a:prstDash val="solid"/>
            <a:tailEnd type="triangle" w="sm" len="sm"/>
          </a:ln>
        </p:spPr>
      </p:cxnSp>
      <p:cxnSp>
        <p:nvCxnSpPr>
          <p:cNvPr id="67" name="Straight Arrow Connector 66"/>
          <p:cNvCxnSpPr>
            <a:cxnSpLocks/>
          </p:cNvCxnSpPr>
          <p:nvPr/>
        </p:nvCxnSpPr>
        <p:spPr>
          <a:xfrm>
            <a:off x="5191125" y="1245109"/>
            <a:ext cx="4286250" cy="1190625"/>
          </a:xfrm>
          <a:prstGeom prst="straightConnector1">
            <a:avLst/>
          </a:prstGeom>
          <a:ln w="19050">
            <a:solidFill>
              <a:srgbClr val="0A2D43"/>
            </a:solidFill>
            <a:prstDash val="solid"/>
            <a:tailEnd type="triangle" w="sm" len="sm"/>
          </a:ln>
        </p:spPr>
      </p:cxnSp>
      <p:cxnSp>
        <p:nvCxnSpPr>
          <p:cNvPr id="68" name="Straight Arrow Connector 67"/>
          <p:cNvCxnSpPr>
            <a:stCxn id="21" idx="3"/>
            <a:endCxn id="24" idx="1"/>
          </p:cNvCxnSpPr>
          <p:nvPr/>
        </p:nvCxnSpPr>
        <p:spPr>
          <a:xfrm>
            <a:off x="8524875" y="2928938"/>
            <a:ext cx="904875" cy="0"/>
          </a:xfrm>
          <a:prstGeom prst="straightConnector1">
            <a:avLst/>
          </a:prstGeom>
          <a:ln w="19050">
            <a:solidFill>
              <a:srgbClr val="0A2D43"/>
            </a:solidFill>
            <a:prstDash val="solid"/>
            <a:tailEnd type="triangle" w="sm" len="sm"/>
          </a:ln>
        </p:spPr>
      </p:cxnSp>
      <p:cxnSp>
        <p:nvCxnSpPr>
          <p:cNvPr id="69" name="Straight Arrow Connector 68"/>
          <p:cNvCxnSpPr>
            <a:cxnSpLocks/>
          </p:cNvCxnSpPr>
          <p:nvPr/>
        </p:nvCxnSpPr>
        <p:spPr>
          <a:xfrm flipV="1">
            <a:off x="5133975" y="3379946"/>
            <a:ext cx="4286250" cy="1905000"/>
          </a:xfrm>
          <a:prstGeom prst="straightConnector1">
            <a:avLst/>
          </a:prstGeom>
          <a:ln w="19050">
            <a:solidFill>
              <a:srgbClr val="0A2D43"/>
            </a:solidFill>
            <a:prstDash val="solid"/>
            <a:tailEnd type="triangle" w="sm" len="sm"/>
          </a:ln>
        </p:spPr>
      </p:cxnSp>
      <p:sp>
        <p:nvSpPr>
          <p:cNvPr id="34" name="Rectangle: Rounded Corners 33">
            <a:extLst>
              <a:ext uri="{FF2B5EF4-FFF2-40B4-BE49-F238E27FC236}">
                <a16:creationId xmlns:a16="http://schemas.microsoft.com/office/drawing/2014/main" id="{A7881EAB-A514-4F1D-9D1D-A97451290274}"/>
              </a:ext>
            </a:extLst>
          </p:cNvPr>
          <p:cNvSpPr>
            <a:spLocks noGrp="1"/>
          </p:cNvSpPr>
          <p:nvPr/>
        </p:nvSpPr>
        <p:spPr>
          <a:xfrm>
            <a:off x="6143625" y="4429125"/>
            <a:ext cx="5476875" cy="904875"/>
          </a:xfrm>
          <a:prstGeom prst="roundRect">
            <a:avLst>
              <a:gd name="adj" fmla="val 14737"/>
            </a:avLst>
          </a:prstGeom>
          <a:solidFill>
            <a:srgbClr val="0A2D43"/>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4DF9569C-A78F-4D1A-9883-45D2B4D22EA5}"/>
              </a:ext>
            </a:extLst>
          </p:cNvPr>
          <p:cNvSpPr>
            <a:spLocks noGrp="1"/>
          </p:cNvSpPr>
          <p:nvPr/>
        </p:nvSpPr>
        <p:spPr>
          <a:xfrm>
            <a:off x="6400800" y="4610100"/>
            <a:ext cx="4953000" cy="523875"/>
          </a:xfrm>
          <a:prstGeom prst="rect">
            <a:avLst/>
          </a:prstGeom>
          <a:noFill/>
          <a:ln w="0">
            <a:noFill/>
            <a:prstDash val="solid"/>
          </a:ln>
        </p:spPr>
        <p:txBody>
          <a:bodyPr wrap="square" lIns="66675" tIns="47625" rIns="66675" bIns="47625" anchor="ctr">
            <a:normAutofit fontScale="76685" lnSpcReduction="10000"/>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RISK SCORE  →  SỰ KIỆN  →  ẢNH / CLIP  →  CẢNH BÁO</a:t>
            </a:r>
          </a:p>
        </p:txBody>
      </p:sp>
      <p:sp>
        <p:nvSpPr>
          <p:cNvPr id="36" name="Rectangle 35">
            <a:extLst>
              <a:ext uri="{FF2B5EF4-FFF2-40B4-BE49-F238E27FC236}">
                <a16:creationId xmlns:a16="http://schemas.microsoft.com/office/drawing/2014/main" id="{0B77C0B0-FB49-437E-AED0-B90626F1A438}"/>
              </a:ext>
            </a:extLst>
          </p:cNvPr>
          <p:cNvSpPr>
            <a:spLocks noGrp="1"/>
          </p:cNvSpPr>
          <p:nvPr/>
        </p:nvSpPr>
        <p:spPr>
          <a:xfrm>
            <a:off x="2381250" y="5810250"/>
            <a:ext cx="7429500" cy="342900"/>
          </a:xfrm>
          <a:prstGeom prst="rect">
            <a:avLst/>
          </a:prstGeom>
          <a:noFill/>
          <a:ln w="0">
            <a:noFill/>
            <a:prstDash val="solid"/>
          </a:ln>
        </p:spPr>
        <p:txBody>
          <a:bodyPr wrap="square" lIns="66675" tIns="47625" rIns="66675" bIns="47625" anchor="t">
            <a:normAutofit fontScale="80769" lnSpcReduction="1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LSTM làm ổn định dự đoán theo chuỗi; luật thời gian quyết định khi nào hình thành sự kiện.</a:t>
            </a:r>
          </a:p>
        </p:txBody>
      </p:sp>
    </p:spTree>
    <p:extLst>
      <p:ext uri="{BB962C8B-B14F-4D97-AF65-F5344CB8AC3E}">
        <p14:creationId xmlns:p14="http://schemas.microsoft.com/office/powerpoint/2010/main" val="2114513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DBE2D9-DCEF-4DCD-97F3-DAE0ECC22B1A}"/>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0C990FC0-3C70-4B5C-A0B4-CC364E9BB73E}"/>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66F2BF2D-0F39-4F46-9C6B-304C06FB57E4}"/>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282E8DCB-78D7-49F5-8E79-A32FB86733C6}"/>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ĐỊNH NGHĨA TRẠNG THÁI VÀ CẢNH BÁO</a:t>
            </a:r>
          </a:p>
        </p:txBody>
      </p:sp>
      <p:sp>
        <p:nvSpPr>
          <p:cNvPr id="5" name="Rectangle 4">
            <a:extLst>
              <a:ext uri="{FF2B5EF4-FFF2-40B4-BE49-F238E27FC236}">
                <a16:creationId xmlns:a16="http://schemas.microsoft.com/office/drawing/2014/main" id="{D3AA4FFC-32EE-47F1-A5AC-365BB121CC40}"/>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08</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AA14AC70-3E02-433A-A912-27A4B4BE0709}"/>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075E970C-97AA-4C83-9230-2E0777C9D880}"/>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52F72431-9D97-4A85-BF9D-4B8A8D5F94F7}"/>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Rounded Corners 8">
            <a:extLst>
              <a:ext uri="{FF2B5EF4-FFF2-40B4-BE49-F238E27FC236}">
                <a16:creationId xmlns:a16="http://schemas.microsoft.com/office/drawing/2014/main" id="{527D4988-8DE1-4AB0-B621-E4991E126737}"/>
              </a:ext>
            </a:extLst>
          </p:cNvPr>
          <p:cNvSpPr>
            <a:spLocks noGrp="1"/>
          </p:cNvSpPr>
          <p:nvPr/>
        </p:nvSpPr>
        <p:spPr>
          <a:xfrm>
            <a:off x="523875" y="1190625"/>
            <a:ext cx="5381625" cy="2000250"/>
          </a:xfrm>
          <a:prstGeom prst="roundRect">
            <a:avLst>
              <a:gd name="adj" fmla="val 7619"/>
            </a:avLst>
          </a:prstGeom>
          <a:solidFill>
            <a:srgbClr val="FAECE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E2284D45-753B-4A54-9B55-423380206702}"/>
              </a:ext>
            </a:extLst>
          </p:cNvPr>
          <p:cNvSpPr>
            <a:spLocks noGrp="1"/>
          </p:cNvSpPr>
          <p:nvPr/>
        </p:nvSpPr>
        <p:spPr>
          <a:xfrm>
            <a:off x="523875" y="1190625"/>
            <a:ext cx="95250" cy="2000250"/>
          </a:xfrm>
          <a:prstGeom prst="rect">
            <a:avLst/>
          </a:prstGeom>
          <a:solidFill>
            <a:srgbClr val="D94C4C"/>
          </a:solidFill>
          <a:ln w="0">
            <a:noFill/>
            <a:prstDash val="solid"/>
          </a:ln>
        </p:spPr>
        <p:txBody>
          <a:bodyPr/>
          <a:lstStyle/>
          <a:p>
            <a:endParaRPr lang="en-US"/>
          </a:p>
        </p:txBody>
      </p:sp>
      <p:sp>
        <p:nvSpPr>
          <p:cNvPr id="11" name="Rectangle: Rounded Corners 10">
            <a:extLst>
              <a:ext uri="{FF2B5EF4-FFF2-40B4-BE49-F238E27FC236}">
                <a16:creationId xmlns:a16="http://schemas.microsoft.com/office/drawing/2014/main" id="{C2262337-AACB-4428-A01A-DFBA72338BCD}"/>
              </a:ext>
            </a:extLst>
          </p:cNvPr>
          <p:cNvSpPr>
            <a:spLocks noGrp="1"/>
          </p:cNvSpPr>
          <p:nvPr/>
        </p:nvSpPr>
        <p:spPr>
          <a:xfrm>
            <a:off x="790575" y="1419225"/>
            <a:ext cx="1762125" cy="323850"/>
          </a:xfrm>
          <a:prstGeom prst="roundRect">
            <a:avLst>
              <a:gd name="adj" fmla="val 50000"/>
            </a:avLst>
          </a:prstGeom>
          <a:solidFill>
            <a:srgbClr val="D94C4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70052E53-8BBE-474E-807B-27C4B6497056}"/>
              </a:ext>
            </a:extLst>
          </p:cNvPr>
          <p:cNvSpPr>
            <a:spLocks noGrp="1"/>
          </p:cNvSpPr>
          <p:nvPr/>
        </p:nvSpPr>
        <p:spPr>
          <a:xfrm>
            <a:off x="790575" y="1419225"/>
            <a:ext cx="1762125"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BUỒN NGỦ</a:t>
            </a:r>
          </a:p>
        </p:txBody>
      </p:sp>
      <p:sp>
        <p:nvSpPr>
          <p:cNvPr id="13" name="Rectangle 12">
            <a:extLst>
              <a:ext uri="{FF2B5EF4-FFF2-40B4-BE49-F238E27FC236}">
                <a16:creationId xmlns:a16="http://schemas.microsoft.com/office/drawing/2014/main" id="{CDD79C5D-85E9-4B2E-8E70-09782493A5B5}"/>
              </a:ext>
            </a:extLst>
          </p:cNvPr>
          <p:cNvSpPr>
            <a:spLocks noGrp="1"/>
          </p:cNvSpPr>
          <p:nvPr/>
        </p:nvSpPr>
        <p:spPr>
          <a:xfrm>
            <a:off x="2714625" y="1419225"/>
            <a:ext cx="2857500" cy="3238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Drowsy / microsleep</a:t>
            </a:r>
          </a:p>
        </p:txBody>
      </p:sp>
      <p:sp>
        <p:nvSpPr>
          <p:cNvPr id="14" name="Rectangle 13">
            <a:extLst>
              <a:ext uri="{FF2B5EF4-FFF2-40B4-BE49-F238E27FC236}">
                <a16:creationId xmlns:a16="http://schemas.microsoft.com/office/drawing/2014/main" id="{6420370F-6E92-4E29-AA82-C3105CE13E42}"/>
              </a:ext>
            </a:extLst>
          </p:cNvPr>
          <p:cNvSpPr>
            <a:spLocks noGrp="1"/>
          </p:cNvSpPr>
          <p:nvPr/>
        </p:nvSpPr>
        <p:spPr>
          <a:xfrm>
            <a:off x="790575" y="1971675"/>
            <a:ext cx="4857750" cy="914400"/>
          </a:xfrm>
          <a:prstGeom prst="rect">
            <a:avLst/>
          </a:prstGeom>
          <a:noFill/>
          <a:ln w="0">
            <a:noFill/>
            <a:prstDash val="solid"/>
          </a:ln>
        </p:spPr>
        <p:txBody>
          <a:bodyPr wrap="square" lIns="66675" tIns="47625" rIns="66675" bIns="47625" anchor="ctr">
            <a:normAutofit/>
          </a:bodyPr>
          <a:lstStyle/>
          <a:p>
            <a:pPr algn="l">
              <a:lnSpc>
                <a:spcPct val="113000"/>
              </a:lnSpc>
              <a:buNone/>
              <a:defRPr b="0" i="0">
                <a:solidFill>
                  <a:srgbClr val="16303D"/>
                </a:solidFill>
                <a:latin typeface="Arial"/>
                <a:ea typeface="Arial"/>
                <a:cs typeface="Arial"/>
              </a:defRPr>
            </a:pPr>
            <a:r>
              <a:rPr b="0" i="0">
                <a:solidFill>
                  <a:srgbClr val="16303D"/>
                </a:solidFill>
                <a:latin typeface="Arial"/>
                <a:ea typeface="Arial"/>
                <a:cs typeface="Arial"/>
              </a:rPr>
              <a:t>Mắt đóng kéo dài, PERCLOS cao hoặc xác suất drowsy được duy trì theo chuỗi.</a:t>
            </a:r>
          </a:p>
        </p:txBody>
      </p:sp>
      <p:sp>
        <p:nvSpPr>
          <p:cNvPr id="15" name="Rectangle: Rounded Corners 14">
            <a:extLst>
              <a:ext uri="{FF2B5EF4-FFF2-40B4-BE49-F238E27FC236}">
                <a16:creationId xmlns:a16="http://schemas.microsoft.com/office/drawing/2014/main" id="{6099B6E8-378A-4B47-99D8-7C2BBD16E473}"/>
              </a:ext>
            </a:extLst>
          </p:cNvPr>
          <p:cNvSpPr>
            <a:spLocks noGrp="1"/>
          </p:cNvSpPr>
          <p:nvPr/>
        </p:nvSpPr>
        <p:spPr>
          <a:xfrm>
            <a:off x="6286500" y="1190625"/>
            <a:ext cx="5381625" cy="2000250"/>
          </a:xfrm>
          <a:prstGeom prst="roundRect">
            <a:avLst>
              <a:gd name="adj" fmla="val 7619"/>
            </a:avLst>
          </a:prstGeom>
          <a:solidFill>
            <a:srgbClr val="FBF4E5"/>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FFBAF167-1CFD-4E35-B449-F0A492D3D80C}"/>
              </a:ext>
            </a:extLst>
          </p:cNvPr>
          <p:cNvSpPr>
            <a:spLocks noGrp="1"/>
          </p:cNvSpPr>
          <p:nvPr/>
        </p:nvSpPr>
        <p:spPr>
          <a:xfrm>
            <a:off x="6286500" y="1190625"/>
            <a:ext cx="95250" cy="2000250"/>
          </a:xfrm>
          <a:prstGeom prst="rect">
            <a:avLst/>
          </a:prstGeom>
          <a:solidFill>
            <a:srgbClr val="F1A33A"/>
          </a:solidFill>
          <a:ln w="0">
            <a:noFill/>
            <a:prstDash val="solid"/>
          </a:ln>
        </p:spPr>
        <p:txBody>
          <a:bodyPr/>
          <a:lstStyle/>
          <a:p>
            <a:endParaRPr lang="en-US"/>
          </a:p>
        </p:txBody>
      </p:sp>
      <p:sp>
        <p:nvSpPr>
          <p:cNvPr id="17" name="Rectangle: Rounded Corners 16">
            <a:extLst>
              <a:ext uri="{FF2B5EF4-FFF2-40B4-BE49-F238E27FC236}">
                <a16:creationId xmlns:a16="http://schemas.microsoft.com/office/drawing/2014/main" id="{FFD67188-501A-4313-9AA6-F2854158045B}"/>
              </a:ext>
            </a:extLst>
          </p:cNvPr>
          <p:cNvSpPr>
            <a:spLocks noGrp="1"/>
          </p:cNvSpPr>
          <p:nvPr/>
        </p:nvSpPr>
        <p:spPr>
          <a:xfrm>
            <a:off x="6553200" y="1419225"/>
            <a:ext cx="1762125" cy="323850"/>
          </a:xfrm>
          <a:prstGeom prst="roundRect">
            <a:avLst>
              <a:gd name="adj" fmla="val 50000"/>
            </a:avLst>
          </a:prstGeom>
          <a:solidFill>
            <a:srgbClr val="F1A33A"/>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808AA0FC-FB6B-4669-BB36-6B9E6743C8E0}"/>
              </a:ext>
            </a:extLst>
          </p:cNvPr>
          <p:cNvSpPr>
            <a:spLocks noGrp="1"/>
          </p:cNvSpPr>
          <p:nvPr/>
        </p:nvSpPr>
        <p:spPr>
          <a:xfrm>
            <a:off x="6553200" y="1419225"/>
            <a:ext cx="1762125" cy="323850"/>
          </a:xfrm>
          <a:prstGeom prst="rect">
            <a:avLst/>
          </a:prstGeom>
          <a:noFill/>
          <a:ln w="0">
            <a:noFill/>
            <a:prstDash val="solid"/>
          </a:ln>
        </p:spPr>
        <p:txBody>
          <a:bodyPr wrap="square" lIns="38100" tIns="0" rIns="38100" bIns="0" anchor="ctr">
            <a:normAutofit fontScale="88956"/>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MẤT TẬP TRUNG</a:t>
            </a:r>
          </a:p>
        </p:txBody>
      </p:sp>
      <p:sp>
        <p:nvSpPr>
          <p:cNvPr id="19" name="Rectangle 18">
            <a:extLst>
              <a:ext uri="{FF2B5EF4-FFF2-40B4-BE49-F238E27FC236}">
                <a16:creationId xmlns:a16="http://schemas.microsoft.com/office/drawing/2014/main" id="{F62DF54F-5262-49D7-8ABE-265A4E900E9D}"/>
              </a:ext>
            </a:extLst>
          </p:cNvPr>
          <p:cNvSpPr>
            <a:spLocks noGrp="1"/>
          </p:cNvSpPr>
          <p:nvPr/>
        </p:nvSpPr>
        <p:spPr>
          <a:xfrm>
            <a:off x="8477250" y="1419225"/>
            <a:ext cx="2857500" cy="3238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Distraction</a:t>
            </a:r>
          </a:p>
        </p:txBody>
      </p:sp>
      <p:sp>
        <p:nvSpPr>
          <p:cNvPr id="20" name="Rectangle 19">
            <a:extLst>
              <a:ext uri="{FF2B5EF4-FFF2-40B4-BE49-F238E27FC236}">
                <a16:creationId xmlns:a16="http://schemas.microsoft.com/office/drawing/2014/main" id="{0F379118-25EE-4F6A-A1CC-D3B51D018F10}"/>
              </a:ext>
            </a:extLst>
          </p:cNvPr>
          <p:cNvSpPr>
            <a:spLocks noGrp="1"/>
          </p:cNvSpPr>
          <p:nvPr/>
        </p:nvSpPr>
        <p:spPr>
          <a:xfrm>
            <a:off x="6553200" y="1971675"/>
            <a:ext cx="4857750" cy="914400"/>
          </a:xfrm>
          <a:prstGeom prst="rect">
            <a:avLst/>
          </a:prstGeom>
          <a:noFill/>
          <a:ln w="0">
            <a:noFill/>
            <a:prstDash val="solid"/>
          </a:ln>
        </p:spPr>
        <p:txBody>
          <a:bodyPr wrap="square" lIns="66675" tIns="47625" rIns="66675" bIns="47625" anchor="ctr">
            <a:normAutofit fontScale="94306" lnSpcReduction="10000"/>
          </a:bodyPr>
          <a:lstStyle/>
          <a:p>
            <a:pPr algn="l">
              <a:lnSpc>
                <a:spcPct val="113000"/>
              </a:lnSpc>
              <a:buNone/>
              <a:defRPr b="0" i="0">
                <a:solidFill>
                  <a:srgbClr val="16303D"/>
                </a:solidFill>
                <a:latin typeface="Arial"/>
                <a:ea typeface="Arial"/>
                <a:cs typeface="Arial"/>
              </a:defRPr>
            </a:pPr>
            <a:r>
              <a:rPr b="0" i="0">
                <a:solidFill>
                  <a:srgbClr val="16303D"/>
                </a:solidFill>
                <a:latin typeface="Arial"/>
                <a:ea typeface="Arial"/>
                <a:cs typeface="Arial"/>
              </a:rPr>
              <a:t>Hướng nhìn hoặc tư thế đầu lệch khỏi vùng quan sát phía trước trong khoảng thời gian xác định.</a:t>
            </a:r>
          </a:p>
        </p:txBody>
      </p:sp>
      <p:sp>
        <p:nvSpPr>
          <p:cNvPr id="21" name="Rectangle: Rounded Corners 20">
            <a:extLst>
              <a:ext uri="{FF2B5EF4-FFF2-40B4-BE49-F238E27FC236}">
                <a16:creationId xmlns:a16="http://schemas.microsoft.com/office/drawing/2014/main" id="{F9A428FF-6908-48DA-A2A0-4D6C4EA06B8B}"/>
              </a:ext>
            </a:extLst>
          </p:cNvPr>
          <p:cNvSpPr>
            <a:spLocks noGrp="1"/>
          </p:cNvSpPr>
          <p:nvPr/>
        </p:nvSpPr>
        <p:spPr>
          <a:xfrm>
            <a:off x="523875" y="3667125"/>
            <a:ext cx="5381625" cy="2000250"/>
          </a:xfrm>
          <a:prstGeom prst="roundRect">
            <a:avLst>
              <a:gd name="adj" fmla="val 7619"/>
            </a:avLst>
          </a:prstGeom>
          <a:solidFill>
            <a:srgbClr val="E7F4F1"/>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4F3721ED-055F-43A3-96B8-CB27E231F3B0}"/>
              </a:ext>
            </a:extLst>
          </p:cNvPr>
          <p:cNvSpPr>
            <a:spLocks noGrp="1"/>
          </p:cNvSpPr>
          <p:nvPr/>
        </p:nvSpPr>
        <p:spPr>
          <a:xfrm>
            <a:off x="523875" y="3667125"/>
            <a:ext cx="95250" cy="2000250"/>
          </a:xfrm>
          <a:prstGeom prst="rect">
            <a:avLst/>
          </a:prstGeom>
          <a:solidFill>
            <a:srgbClr val="117C78"/>
          </a:solidFill>
          <a:ln w="0">
            <a:noFill/>
            <a:prstDash val="solid"/>
          </a:ln>
        </p:spPr>
        <p:txBody>
          <a:bodyPr/>
          <a:lstStyle/>
          <a:p>
            <a:endParaRPr lang="en-US"/>
          </a:p>
        </p:txBody>
      </p:sp>
      <p:sp>
        <p:nvSpPr>
          <p:cNvPr id="23" name="Rectangle: Rounded Corners 22">
            <a:extLst>
              <a:ext uri="{FF2B5EF4-FFF2-40B4-BE49-F238E27FC236}">
                <a16:creationId xmlns:a16="http://schemas.microsoft.com/office/drawing/2014/main" id="{DF375770-52E5-43DA-9E3B-E467433CA237}"/>
              </a:ext>
            </a:extLst>
          </p:cNvPr>
          <p:cNvSpPr>
            <a:spLocks noGrp="1"/>
          </p:cNvSpPr>
          <p:nvPr/>
        </p:nvSpPr>
        <p:spPr>
          <a:xfrm>
            <a:off x="790575" y="3895725"/>
            <a:ext cx="1762125" cy="323850"/>
          </a:xfrm>
          <a:prstGeom prst="roundRect">
            <a:avLst>
              <a:gd name="adj" fmla="val 50000"/>
            </a:avLst>
          </a:prstGeom>
          <a:solidFill>
            <a:srgbClr val="117C78"/>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26159913-043B-4D20-A2D7-329C2436D362}"/>
              </a:ext>
            </a:extLst>
          </p:cNvPr>
          <p:cNvSpPr>
            <a:spLocks noGrp="1"/>
          </p:cNvSpPr>
          <p:nvPr/>
        </p:nvSpPr>
        <p:spPr>
          <a:xfrm>
            <a:off x="790575" y="3895725"/>
            <a:ext cx="1762125"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NGÁP</a:t>
            </a:r>
          </a:p>
        </p:txBody>
      </p:sp>
      <p:sp>
        <p:nvSpPr>
          <p:cNvPr id="25" name="Rectangle 24">
            <a:extLst>
              <a:ext uri="{FF2B5EF4-FFF2-40B4-BE49-F238E27FC236}">
                <a16:creationId xmlns:a16="http://schemas.microsoft.com/office/drawing/2014/main" id="{05363CA0-4697-4354-8613-793446257576}"/>
              </a:ext>
            </a:extLst>
          </p:cNvPr>
          <p:cNvSpPr>
            <a:spLocks noGrp="1"/>
          </p:cNvSpPr>
          <p:nvPr/>
        </p:nvSpPr>
        <p:spPr>
          <a:xfrm>
            <a:off x="2714625" y="3895725"/>
            <a:ext cx="2857500" cy="3238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Yawn</a:t>
            </a:r>
          </a:p>
        </p:txBody>
      </p:sp>
      <p:sp>
        <p:nvSpPr>
          <p:cNvPr id="26" name="Rectangle 25">
            <a:extLst>
              <a:ext uri="{FF2B5EF4-FFF2-40B4-BE49-F238E27FC236}">
                <a16:creationId xmlns:a16="http://schemas.microsoft.com/office/drawing/2014/main" id="{D36A6E53-B8D6-41AE-B5E4-3D6513247C5E}"/>
              </a:ext>
            </a:extLst>
          </p:cNvPr>
          <p:cNvSpPr>
            <a:spLocks noGrp="1"/>
          </p:cNvSpPr>
          <p:nvPr/>
        </p:nvSpPr>
        <p:spPr>
          <a:xfrm>
            <a:off x="790575" y="4448175"/>
            <a:ext cx="4857750" cy="914400"/>
          </a:xfrm>
          <a:prstGeom prst="rect">
            <a:avLst/>
          </a:prstGeom>
          <a:noFill/>
          <a:ln w="0">
            <a:noFill/>
            <a:prstDash val="solid"/>
          </a:ln>
        </p:spPr>
        <p:txBody>
          <a:bodyPr wrap="square" lIns="66675" tIns="47625" rIns="66675" bIns="47625" anchor="ctr">
            <a:normAutofit/>
          </a:bodyPr>
          <a:lstStyle/>
          <a:p>
            <a:pPr algn="l">
              <a:lnSpc>
                <a:spcPct val="113000"/>
              </a:lnSpc>
              <a:buNone/>
              <a:defRPr b="0" i="0">
                <a:solidFill>
                  <a:srgbClr val="16303D"/>
                </a:solidFill>
                <a:latin typeface="Arial"/>
                <a:ea typeface="Arial"/>
                <a:cs typeface="Arial"/>
              </a:defRPr>
            </a:pPr>
            <a:r>
              <a:rPr b="0" i="0">
                <a:solidFill>
                  <a:srgbClr val="16303D"/>
                </a:solidFill>
                <a:latin typeface="Arial"/>
                <a:ea typeface="Arial"/>
                <a:cs typeface="Arial"/>
              </a:rPr>
              <a:t>MAR vượt ngưỡng và duy trì đủ số khung hình; không đồng nhất với mất tập trung.</a:t>
            </a:r>
          </a:p>
        </p:txBody>
      </p:sp>
      <p:sp>
        <p:nvSpPr>
          <p:cNvPr id="27" name="Rectangle: Rounded Corners 26">
            <a:extLst>
              <a:ext uri="{FF2B5EF4-FFF2-40B4-BE49-F238E27FC236}">
                <a16:creationId xmlns:a16="http://schemas.microsoft.com/office/drawing/2014/main" id="{0D9F00BE-0D6D-4C5F-91FD-2A0700DCB81C}"/>
              </a:ext>
            </a:extLst>
          </p:cNvPr>
          <p:cNvSpPr>
            <a:spLocks noGrp="1"/>
          </p:cNvSpPr>
          <p:nvPr/>
        </p:nvSpPr>
        <p:spPr>
          <a:xfrm>
            <a:off x="6286500" y="3667125"/>
            <a:ext cx="5381625" cy="2000250"/>
          </a:xfrm>
          <a:prstGeom prst="roundRect">
            <a:avLst>
              <a:gd name="adj" fmla="val 7619"/>
            </a:avLst>
          </a:prstGeom>
          <a:solidFill>
            <a:srgbClr val="E7F2F5"/>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67FC56AA-066E-4C68-81D4-56F8AE1E6806}"/>
              </a:ext>
            </a:extLst>
          </p:cNvPr>
          <p:cNvSpPr>
            <a:spLocks noGrp="1"/>
          </p:cNvSpPr>
          <p:nvPr/>
        </p:nvSpPr>
        <p:spPr>
          <a:xfrm>
            <a:off x="6286500" y="3667125"/>
            <a:ext cx="95250" cy="2000250"/>
          </a:xfrm>
          <a:prstGeom prst="rect">
            <a:avLst/>
          </a:prstGeom>
          <a:solidFill>
            <a:srgbClr val="176B8A"/>
          </a:solidFill>
          <a:ln w="0">
            <a:noFill/>
            <a:prstDash val="solid"/>
          </a:ln>
        </p:spPr>
        <p:txBody>
          <a:bodyPr/>
          <a:lstStyle/>
          <a:p>
            <a:endParaRPr lang="en-US"/>
          </a:p>
        </p:txBody>
      </p:sp>
      <p:sp>
        <p:nvSpPr>
          <p:cNvPr id="29" name="Rectangle: Rounded Corners 28">
            <a:extLst>
              <a:ext uri="{FF2B5EF4-FFF2-40B4-BE49-F238E27FC236}">
                <a16:creationId xmlns:a16="http://schemas.microsoft.com/office/drawing/2014/main" id="{A1A6666F-8EEE-456A-A6BE-FD83269D5395}"/>
              </a:ext>
            </a:extLst>
          </p:cNvPr>
          <p:cNvSpPr>
            <a:spLocks noGrp="1"/>
          </p:cNvSpPr>
          <p:nvPr/>
        </p:nvSpPr>
        <p:spPr>
          <a:xfrm>
            <a:off x="6553200" y="3895725"/>
            <a:ext cx="1762125" cy="323850"/>
          </a:xfrm>
          <a:prstGeom prst="roundRect">
            <a:avLst>
              <a:gd name="adj" fmla="val 50000"/>
            </a:avLst>
          </a:prstGeom>
          <a:solidFill>
            <a:srgbClr val="176B8A"/>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671EFB1B-6487-425E-A1D0-BE8111D3F61B}"/>
              </a:ext>
            </a:extLst>
          </p:cNvPr>
          <p:cNvSpPr>
            <a:spLocks noGrp="1"/>
          </p:cNvSpPr>
          <p:nvPr/>
        </p:nvSpPr>
        <p:spPr>
          <a:xfrm>
            <a:off x="6553200" y="3895725"/>
            <a:ext cx="1762125"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NGUY HIỂM</a:t>
            </a:r>
          </a:p>
        </p:txBody>
      </p:sp>
      <p:sp>
        <p:nvSpPr>
          <p:cNvPr id="31" name="Rectangle 30">
            <a:extLst>
              <a:ext uri="{FF2B5EF4-FFF2-40B4-BE49-F238E27FC236}">
                <a16:creationId xmlns:a16="http://schemas.microsoft.com/office/drawing/2014/main" id="{99029274-F986-4C31-B4D0-0045488FDB6C}"/>
              </a:ext>
            </a:extLst>
          </p:cNvPr>
          <p:cNvSpPr>
            <a:spLocks noGrp="1"/>
          </p:cNvSpPr>
          <p:nvPr/>
        </p:nvSpPr>
        <p:spPr>
          <a:xfrm>
            <a:off x="8477250" y="3895725"/>
            <a:ext cx="2857500" cy="3238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Phone / cigarette / seatbelt</a:t>
            </a:r>
          </a:p>
        </p:txBody>
      </p:sp>
      <p:sp>
        <p:nvSpPr>
          <p:cNvPr id="32" name="Rectangle 31">
            <a:extLst>
              <a:ext uri="{FF2B5EF4-FFF2-40B4-BE49-F238E27FC236}">
                <a16:creationId xmlns:a16="http://schemas.microsoft.com/office/drawing/2014/main" id="{A40ACC47-9057-4998-BF85-58D95B71D9E7}"/>
              </a:ext>
            </a:extLst>
          </p:cNvPr>
          <p:cNvSpPr>
            <a:spLocks noGrp="1"/>
          </p:cNvSpPr>
          <p:nvPr/>
        </p:nvSpPr>
        <p:spPr>
          <a:xfrm>
            <a:off x="6553200" y="4448175"/>
            <a:ext cx="4857750" cy="914400"/>
          </a:xfrm>
          <a:prstGeom prst="rect">
            <a:avLst/>
          </a:prstGeom>
          <a:noFill/>
          <a:ln w="0">
            <a:noFill/>
            <a:prstDash val="solid"/>
          </a:ln>
        </p:spPr>
        <p:txBody>
          <a:bodyPr wrap="square" lIns="66675" tIns="47625" rIns="66675" bIns="47625" anchor="ctr">
            <a:normAutofit fontScale="96206"/>
          </a:bodyPr>
          <a:lstStyle/>
          <a:p>
            <a:pPr algn="l">
              <a:lnSpc>
                <a:spcPct val="113000"/>
              </a:lnSpc>
              <a:buNone/>
              <a:defRPr b="0" i="0">
                <a:solidFill>
                  <a:srgbClr val="16303D"/>
                </a:solidFill>
                <a:latin typeface="Arial"/>
                <a:ea typeface="Arial"/>
                <a:cs typeface="Arial"/>
              </a:defRPr>
            </a:pPr>
            <a:r>
              <a:rPr b="0" i="0">
                <a:solidFill>
                  <a:srgbClr val="16303D"/>
                </a:solidFill>
                <a:latin typeface="Arial"/>
                <a:ea typeface="Arial"/>
                <a:cs typeface="Arial"/>
              </a:rPr>
              <a:t>Được xác định từ lớp YOLO tương ứng và điều kiện duy trì nhằm hạn chế phát hiện tức thời sai.</a:t>
            </a:r>
          </a:p>
        </p:txBody>
      </p:sp>
      <p:sp>
        <p:nvSpPr>
          <p:cNvPr id="33" name="Rectangle 32">
            <a:extLst>
              <a:ext uri="{FF2B5EF4-FFF2-40B4-BE49-F238E27FC236}">
                <a16:creationId xmlns:a16="http://schemas.microsoft.com/office/drawing/2014/main" id="{AB2A0823-4613-49F4-8DE4-90A1FC52E8F5}"/>
              </a:ext>
            </a:extLst>
          </p:cNvPr>
          <p:cNvSpPr>
            <a:spLocks noGrp="1"/>
          </p:cNvSpPr>
          <p:nvPr/>
        </p:nvSpPr>
        <p:spPr>
          <a:xfrm>
            <a:off x="1143000" y="5953125"/>
            <a:ext cx="9906000" cy="342900"/>
          </a:xfrm>
          <a:prstGeom prst="rect">
            <a:avLst/>
          </a:prstGeom>
          <a:noFill/>
          <a:ln w="0">
            <a:noFill/>
            <a:prstDash val="solid"/>
          </a:ln>
        </p:spPr>
        <p:txBody>
          <a:bodyPr wrap="square" lIns="66675" tIns="47625" rIns="66675" bIns="47625" anchor="t">
            <a:normAutofit fontScale="85979"/>
          </a:bodyPr>
          <a:lstStyle/>
          <a:p>
            <a:pPr algn="ctr">
              <a:lnSpc>
                <a:spcPct val="105000"/>
              </a:lnSpc>
              <a:buNone/>
              <a:defRPr b="1" i="0">
                <a:solidFill>
                  <a:srgbClr val="0A2D43"/>
                </a:solidFill>
                <a:latin typeface="Arial"/>
                <a:ea typeface="Arial"/>
                <a:cs typeface="Arial"/>
              </a:defRPr>
            </a:pPr>
            <a:r>
              <a:rPr b="1" i="0">
                <a:solidFill>
                  <a:srgbClr val="0A2D43"/>
                </a:solidFill>
                <a:latin typeface="Arial"/>
                <a:ea typeface="Arial"/>
                <a:cs typeface="Arial"/>
              </a:rPr>
              <a:t>Nguyên tắc chung: một tín hiệu đơn lẻ chưa đủ kết luận; hệ thống xét độ tin cậy và thời gian duy trì.</a:t>
            </a:r>
          </a:p>
        </p:txBody>
      </p:sp>
    </p:spTree>
    <p:extLst>
      <p:ext uri="{BB962C8B-B14F-4D97-AF65-F5344CB8AC3E}">
        <p14:creationId xmlns:p14="http://schemas.microsoft.com/office/powerpoint/2010/main" val="336230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1086AA7-F774-4141-B4F7-490389CA505B}"/>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37F5FD1E-F447-4282-867D-96B0EF9451BB}"/>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EB165D60-FA78-488C-A6C5-B7A24EB646EC}"/>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A338F302-74CF-4276-8EBB-E06978855F0C}"/>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DỮ LIỆU VÀ QUY TRÌNH HUẤN LUYỆN</a:t>
            </a:r>
          </a:p>
        </p:txBody>
      </p:sp>
      <p:sp>
        <p:nvSpPr>
          <p:cNvPr id="5" name="Rectangle 4">
            <a:extLst>
              <a:ext uri="{FF2B5EF4-FFF2-40B4-BE49-F238E27FC236}">
                <a16:creationId xmlns:a16="http://schemas.microsoft.com/office/drawing/2014/main" id="{9EFA441D-A9E1-4AA1-8952-27E1F70352F5}"/>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09</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97D231D5-DD6C-4644-B02A-682C2E1B2C31}"/>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17A11D50-FDFF-4EBF-9926-FE72325D0157}"/>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27B812D8-F2B1-461B-8F61-8098CE70E271}"/>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Rounded Corners 8">
            <a:extLst>
              <a:ext uri="{FF2B5EF4-FFF2-40B4-BE49-F238E27FC236}">
                <a16:creationId xmlns:a16="http://schemas.microsoft.com/office/drawing/2014/main" id="{33D138A2-5C68-458A-A8F7-27F5923B63BF}"/>
              </a:ext>
            </a:extLst>
          </p:cNvPr>
          <p:cNvSpPr>
            <a:spLocks noGrp="1"/>
          </p:cNvSpPr>
          <p:nvPr/>
        </p:nvSpPr>
        <p:spPr>
          <a:xfrm>
            <a:off x="571500" y="1381125"/>
            <a:ext cx="3476625" cy="3333750"/>
          </a:xfrm>
          <a:prstGeom prst="roundRect">
            <a:avLst>
              <a:gd name="adj" fmla="val 4571"/>
            </a:avLst>
          </a:prstGeom>
          <a:solidFill>
            <a:srgbClr val="E7F2F5"/>
          </a:solidFill>
          <a:ln w="14288">
            <a:solidFill>
              <a:srgbClr val="176B8A"/>
            </a:solidFill>
            <a:prstDash val="solid"/>
          </a:ln>
        </p:spPr>
        <p:txBody>
          <a:bodyPr/>
          <a:lstStyle/>
          <a:p>
            <a:endParaRPr lang="en-US"/>
          </a:p>
        </p:txBody>
      </p:sp>
      <p:sp>
        <p:nvSpPr>
          <p:cNvPr id="10" name="Oval 9">
            <a:extLst>
              <a:ext uri="{FF2B5EF4-FFF2-40B4-BE49-F238E27FC236}">
                <a16:creationId xmlns:a16="http://schemas.microsoft.com/office/drawing/2014/main" id="{CCD723EF-1372-4832-BF58-D275CFBD9E52}"/>
              </a:ext>
            </a:extLst>
          </p:cNvPr>
          <p:cNvSpPr>
            <a:spLocks noGrp="1"/>
          </p:cNvSpPr>
          <p:nvPr/>
        </p:nvSpPr>
        <p:spPr>
          <a:xfrm>
            <a:off x="838200" y="1638300"/>
            <a:ext cx="514350" cy="514350"/>
          </a:xfrm>
          <a:prstGeom prst="ellipse">
            <a:avLst/>
          </a:prstGeom>
          <a:solidFill>
            <a:srgbClr val="176B8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88A4C9A9-AF57-4A8B-9E2F-56BFC95D6D20}"/>
              </a:ext>
            </a:extLst>
          </p:cNvPr>
          <p:cNvSpPr>
            <a:spLocks noGrp="1"/>
          </p:cNvSpPr>
          <p:nvPr/>
        </p:nvSpPr>
        <p:spPr>
          <a:xfrm>
            <a:off x="838200" y="1638300"/>
            <a:ext cx="514350" cy="5143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01</a:t>
            </a:r>
            <a:endParaRPr b="1" i="0">
              <a:solidFill>
                <a:srgbClr val="FFFFFF"/>
              </a:solidFill>
              <a:latin typeface="Arial"/>
              <a:ea typeface="Arial"/>
              <a:cs typeface="Arial"/>
            </a:endParaRPr>
          </a:p>
        </p:txBody>
      </p:sp>
      <p:sp>
        <p:nvSpPr>
          <p:cNvPr id="12" name="Rectangle 11">
            <a:extLst>
              <a:ext uri="{FF2B5EF4-FFF2-40B4-BE49-F238E27FC236}">
                <a16:creationId xmlns:a16="http://schemas.microsoft.com/office/drawing/2014/main" id="{72EC0EE9-426F-43E0-8330-F7A49DB86149}"/>
              </a:ext>
            </a:extLst>
          </p:cNvPr>
          <p:cNvSpPr>
            <a:spLocks noGrp="1"/>
          </p:cNvSpPr>
          <p:nvPr/>
        </p:nvSpPr>
        <p:spPr>
          <a:xfrm>
            <a:off x="1524000" y="1695450"/>
            <a:ext cx="2190750" cy="428625"/>
          </a:xfrm>
          <a:prstGeom prst="rect">
            <a:avLst/>
          </a:prstGeom>
          <a:noFill/>
          <a:ln w="0">
            <a:noFill/>
            <a:prstDash val="solid"/>
          </a:ln>
        </p:spPr>
        <p:txBody>
          <a:bodyPr wrap="square" lIns="66675" tIns="47625" rIns="66675" bIns="47625" anchor="ctr">
            <a:normAutofit/>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YOLOv8s</a:t>
            </a:r>
          </a:p>
        </p:txBody>
      </p:sp>
      <p:sp>
        <p:nvSpPr>
          <p:cNvPr id="13" name="Rectangle 12">
            <a:extLst>
              <a:ext uri="{FF2B5EF4-FFF2-40B4-BE49-F238E27FC236}">
                <a16:creationId xmlns:a16="http://schemas.microsoft.com/office/drawing/2014/main" id="{0ACAEC85-808C-4605-A40B-514952112A4A}"/>
              </a:ext>
            </a:extLst>
          </p:cNvPr>
          <p:cNvSpPr>
            <a:spLocks noGrp="1"/>
          </p:cNvSpPr>
          <p:nvPr/>
        </p:nvSpPr>
        <p:spPr>
          <a:xfrm>
            <a:off x="876300" y="2524125"/>
            <a:ext cx="2857500" cy="78105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DMS dataset</a:t>
            </a:r>
          </a:p>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5 lớp đối tượng</a:t>
            </a:r>
          </a:p>
        </p:txBody>
      </p:sp>
      <p:sp>
        <p:nvSpPr>
          <p:cNvPr id="14" name="Rectangle 13">
            <a:extLst>
              <a:ext uri="{FF2B5EF4-FFF2-40B4-BE49-F238E27FC236}">
                <a16:creationId xmlns:a16="http://schemas.microsoft.com/office/drawing/2014/main" id="{B73FF67B-3AA0-447F-B0C5-66638EDB3CE4}"/>
              </a:ext>
            </a:extLst>
          </p:cNvPr>
          <p:cNvSpPr>
            <a:spLocks noGrp="1"/>
          </p:cNvSpPr>
          <p:nvPr/>
        </p:nvSpPr>
        <p:spPr>
          <a:xfrm>
            <a:off x="904875" y="3524250"/>
            <a:ext cx="2809875" cy="19050"/>
          </a:xfrm>
          <a:prstGeom prst="rect">
            <a:avLst/>
          </a:prstGeom>
          <a:solidFill>
            <a:srgbClr val="176B8A"/>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247285E-D5D1-4310-B07C-150591D6C567}"/>
              </a:ext>
            </a:extLst>
          </p:cNvPr>
          <p:cNvSpPr>
            <a:spLocks noGrp="1"/>
          </p:cNvSpPr>
          <p:nvPr/>
        </p:nvSpPr>
        <p:spPr>
          <a:xfrm>
            <a:off x="904875" y="3762375"/>
            <a:ext cx="2809875" cy="609600"/>
          </a:xfrm>
          <a:prstGeom prst="rect">
            <a:avLst/>
          </a:prstGeom>
          <a:noFill/>
          <a:ln w="0">
            <a:noFill/>
            <a:prstDash val="solid"/>
          </a:ln>
        </p:spPr>
        <p:txBody>
          <a:bodyPr wrap="square" lIns="66675" tIns="47625" rIns="66675" bIns="47625" anchor="ctr">
            <a:normAutofit/>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Fine-tune từ yolov8s.pt</a:t>
            </a:r>
          </a:p>
        </p:txBody>
      </p:sp>
      <p:sp>
        <p:nvSpPr>
          <p:cNvPr id="16" name="Rectangle: Rounded Corners 15">
            <a:extLst>
              <a:ext uri="{FF2B5EF4-FFF2-40B4-BE49-F238E27FC236}">
                <a16:creationId xmlns:a16="http://schemas.microsoft.com/office/drawing/2014/main" id="{79D955F6-BBF4-4679-A030-2ADA1C39F02C}"/>
              </a:ext>
            </a:extLst>
          </p:cNvPr>
          <p:cNvSpPr>
            <a:spLocks noGrp="1"/>
          </p:cNvSpPr>
          <p:nvPr/>
        </p:nvSpPr>
        <p:spPr>
          <a:xfrm>
            <a:off x="4429125" y="1381125"/>
            <a:ext cx="3476625" cy="3333750"/>
          </a:xfrm>
          <a:prstGeom prst="roundRect">
            <a:avLst>
              <a:gd name="adj" fmla="val 4571"/>
            </a:avLst>
          </a:prstGeom>
          <a:solidFill>
            <a:srgbClr val="E7F4F1"/>
          </a:solidFill>
          <a:ln w="14288">
            <a:solidFill>
              <a:srgbClr val="117C78"/>
            </a:solidFill>
            <a:prstDash val="solid"/>
          </a:ln>
        </p:spPr>
        <p:txBody>
          <a:bodyPr/>
          <a:lstStyle/>
          <a:p>
            <a:endParaRPr lang="en-US"/>
          </a:p>
        </p:txBody>
      </p:sp>
      <p:sp>
        <p:nvSpPr>
          <p:cNvPr id="17" name="Oval 16">
            <a:extLst>
              <a:ext uri="{FF2B5EF4-FFF2-40B4-BE49-F238E27FC236}">
                <a16:creationId xmlns:a16="http://schemas.microsoft.com/office/drawing/2014/main" id="{76D2BB53-CEC2-4F41-8B3A-2E89BB76FDE0}"/>
              </a:ext>
            </a:extLst>
          </p:cNvPr>
          <p:cNvSpPr>
            <a:spLocks noGrp="1"/>
          </p:cNvSpPr>
          <p:nvPr/>
        </p:nvSpPr>
        <p:spPr>
          <a:xfrm>
            <a:off x="4695825" y="1638300"/>
            <a:ext cx="514350" cy="514350"/>
          </a:xfrm>
          <a:prstGeom prst="ellipse">
            <a:avLst/>
          </a:prstGeom>
          <a:solidFill>
            <a:srgbClr val="117C78"/>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7F8898EE-6308-4458-93A9-3FD9E8CAC637}"/>
              </a:ext>
            </a:extLst>
          </p:cNvPr>
          <p:cNvSpPr>
            <a:spLocks noGrp="1"/>
          </p:cNvSpPr>
          <p:nvPr/>
        </p:nvSpPr>
        <p:spPr>
          <a:xfrm>
            <a:off x="4695825" y="1638300"/>
            <a:ext cx="514350" cy="5143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02</a:t>
            </a:r>
            <a:endParaRPr b="1" i="0">
              <a:solidFill>
                <a:srgbClr val="FFFFFF"/>
              </a:solidFill>
              <a:latin typeface="Arial"/>
              <a:ea typeface="Arial"/>
              <a:cs typeface="Arial"/>
            </a:endParaRPr>
          </a:p>
        </p:txBody>
      </p:sp>
      <p:sp>
        <p:nvSpPr>
          <p:cNvPr id="19" name="Rectangle 18">
            <a:extLst>
              <a:ext uri="{FF2B5EF4-FFF2-40B4-BE49-F238E27FC236}">
                <a16:creationId xmlns:a16="http://schemas.microsoft.com/office/drawing/2014/main" id="{E2D3B6CA-7BC2-4F7C-873C-D32723F90A19}"/>
              </a:ext>
            </a:extLst>
          </p:cNvPr>
          <p:cNvSpPr>
            <a:spLocks noGrp="1"/>
          </p:cNvSpPr>
          <p:nvPr/>
        </p:nvSpPr>
        <p:spPr>
          <a:xfrm>
            <a:off x="5381625" y="1695450"/>
            <a:ext cx="2190750" cy="428625"/>
          </a:xfrm>
          <a:prstGeom prst="rect">
            <a:avLst/>
          </a:prstGeom>
          <a:noFill/>
          <a:ln w="0">
            <a:noFill/>
            <a:prstDash val="solid"/>
          </a:ln>
        </p:spPr>
        <p:txBody>
          <a:bodyPr wrap="square" lIns="66675" tIns="47625" rIns="66675" bIns="47625" anchor="ctr">
            <a:normAutofit/>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EfficientNet-B0</a:t>
            </a:r>
          </a:p>
        </p:txBody>
      </p:sp>
      <p:sp>
        <p:nvSpPr>
          <p:cNvPr id="20" name="Rectangle 19">
            <a:extLst>
              <a:ext uri="{FF2B5EF4-FFF2-40B4-BE49-F238E27FC236}">
                <a16:creationId xmlns:a16="http://schemas.microsoft.com/office/drawing/2014/main" id="{D16CF73E-DA37-4827-B21F-DF283FAA0B3B}"/>
              </a:ext>
            </a:extLst>
          </p:cNvPr>
          <p:cNvSpPr>
            <a:spLocks noGrp="1"/>
          </p:cNvSpPr>
          <p:nvPr/>
        </p:nvSpPr>
        <p:spPr>
          <a:xfrm>
            <a:off x="4733925" y="2524125"/>
            <a:ext cx="2857500" cy="78105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DDD → NTHU</a:t>
            </a:r>
          </a:p>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subject-wise</a:t>
            </a:r>
          </a:p>
        </p:txBody>
      </p:sp>
      <p:sp>
        <p:nvSpPr>
          <p:cNvPr id="21" name="Rectangle 20">
            <a:extLst>
              <a:ext uri="{FF2B5EF4-FFF2-40B4-BE49-F238E27FC236}">
                <a16:creationId xmlns:a16="http://schemas.microsoft.com/office/drawing/2014/main" id="{48C473E5-8553-4767-89CE-38C512FEBC7A}"/>
              </a:ext>
            </a:extLst>
          </p:cNvPr>
          <p:cNvSpPr>
            <a:spLocks noGrp="1"/>
          </p:cNvSpPr>
          <p:nvPr/>
        </p:nvSpPr>
        <p:spPr>
          <a:xfrm>
            <a:off x="4762500" y="3524250"/>
            <a:ext cx="2809875" cy="19050"/>
          </a:xfrm>
          <a:prstGeom prst="rect">
            <a:avLst/>
          </a:prstGeom>
          <a:solidFill>
            <a:srgbClr val="117C7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F84B545E-358E-4F63-89A9-C2FD1E00ABD6}"/>
              </a:ext>
            </a:extLst>
          </p:cNvPr>
          <p:cNvSpPr>
            <a:spLocks noGrp="1"/>
          </p:cNvSpPr>
          <p:nvPr/>
        </p:nvSpPr>
        <p:spPr>
          <a:xfrm>
            <a:off x="4762500" y="3762375"/>
            <a:ext cx="2809875" cy="609600"/>
          </a:xfrm>
          <a:prstGeom prst="rect">
            <a:avLst/>
          </a:prstGeom>
          <a:noFill/>
          <a:ln w="0">
            <a:noFill/>
            <a:prstDash val="solid"/>
          </a:ln>
        </p:spPr>
        <p:txBody>
          <a:bodyPr wrap="square" lIns="66675" tIns="47625" rIns="66675" bIns="47625" anchor="ctr">
            <a:normAutofit/>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awake / drowsy</a:t>
            </a:r>
          </a:p>
        </p:txBody>
      </p:sp>
      <p:sp>
        <p:nvSpPr>
          <p:cNvPr id="23" name="Rectangle: Rounded Corners 22">
            <a:extLst>
              <a:ext uri="{FF2B5EF4-FFF2-40B4-BE49-F238E27FC236}">
                <a16:creationId xmlns:a16="http://schemas.microsoft.com/office/drawing/2014/main" id="{16F37C92-7B86-4C39-B407-74A4B9384750}"/>
              </a:ext>
            </a:extLst>
          </p:cNvPr>
          <p:cNvSpPr>
            <a:spLocks noGrp="1"/>
          </p:cNvSpPr>
          <p:nvPr/>
        </p:nvSpPr>
        <p:spPr>
          <a:xfrm>
            <a:off x="8286750" y="1381125"/>
            <a:ext cx="3476625" cy="3333750"/>
          </a:xfrm>
          <a:prstGeom prst="roundRect">
            <a:avLst>
              <a:gd name="adj" fmla="val 4571"/>
            </a:avLst>
          </a:prstGeom>
          <a:solidFill>
            <a:srgbClr val="FAECEB"/>
          </a:solidFill>
          <a:ln w="14288">
            <a:solidFill>
              <a:srgbClr val="D94C4C"/>
            </a:solidFill>
            <a:prstDash val="solid"/>
          </a:ln>
        </p:spPr>
        <p:txBody>
          <a:bodyPr/>
          <a:lstStyle/>
          <a:p>
            <a:endParaRPr lang="en-US"/>
          </a:p>
        </p:txBody>
      </p:sp>
      <p:sp>
        <p:nvSpPr>
          <p:cNvPr id="24" name="Oval 23">
            <a:extLst>
              <a:ext uri="{FF2B5EF4-FFF2-40B4-BE49-F238E27FC236}">
                <a16:creationId xmlns:a16="http://schemas.microsoft.com/office/drawing/2014/main" id="{AD147FFC-04FA-4688-AC0F-BA3A2F4B502B}"/>
              </a:ext>
            </a:extLst>
          </p:cNvPr>
          <p:cNvSpPr>
            <a:spLocks noGrp="1"/>
          </p:cNvSpPr>
          <p:nvPr/>
        </p:nvSpPr>
        <p:spPr>
          <a:xfrm>
            <a:off x="8553450" y="1638300"/>
            <a:ext cx="514350" cy="514350"/>
          </a:xfrm>
          <a:prstGeom prst="ellipse">
            <a:avLst/>
          </a:prstGeom>
          <a:solidFill>
            <a:srgbClr val="D94C4C"/>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7D364B44-86F2-4FD6-A005-4ADDC6C30648}"/>
              </a:ext>
            </a:extLst>
          </p:cNvPr>
          <p:cNvSpPr>
            <a:spLocks noGrp="1"/>
          </p:cNvSpPr>
          <p:nvPr/>
        </p:nvSpPr>
        <p:spPr>
          <a:xfrm>
            <a:off x="8553450" y="1638300"/>
            <a:ext cx="514350" cy="5143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03</a:t>
            </a:r>
            <a:endParaRPr b="1" i="0">
              <a:solidFill>
                <a:srgbClr val="FFFFFF"/>
              </a:solidFill>
              <a:latin typeface="Arial"/>
              <a:ea typeface="Arial"/>
              <a:cs typeface="Arial"/>
            </a:endParaRPr>
          </a:p>
        </p:txBody>
      </p:sp>
      <p:sp>
        <p:nvSpPr>
          <p:cNvPr id="26" name="Rectangle 25">
            <a:extLst>
              <a:ext uri="{FF2B5EF4-FFF2-40B4-BE49-F238E27FC236}">
                <a16:creationId xmlns:a16="http://schemas.microsoft.com/office/drawing/2014/main" id="{24041567-B26B-4A08-BE34-2664B3854D58}"/>
              </a:ext>
            </a:extLst>
          </p:cNvPr>
          <p:cNvSpPr>
            <a:spLocks noGrp="1"/>
          </p:cNvSpPr>
          <p:nvPr/>
        </p:nvSpPr>
        <p:spPr>
          <a:xfrm>
            <a:off x="9239250" y="1695450"/>
            <a:ext cx="2190750" cy="428625"/>
          </a:xfrm>
          <a:prstGeom prst="rect">
            <a:avLst/>
          </a:prstGeom>
          <a:noFill/>
          <a:ln w="0">
            <a:noFill/>
            <a:prstDash val="solid"/>
          </a:ln>
        </p:spPr>
        <p:txBody>
          <a:bodyPr wrap="square" lIns="66675" tIns="47625" rIns="66675" bIns="47625" anchor="ctr">
            <a:normAutofit/>
          </a:bodyPr>
          <a:lstStyle/>
          <a:p>
            <a:pPr algn="l">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LSTM</a:t>
            </a:r>
          </a:p>
        </p:txBody>
      </p:sp>
      <p:sp>
        <p:nvSpPr>
          <p:cNvPr id="27" name="Rectangle 26">
            <a:extLst>
              <a:ext uri="{FF2B5EF4-FFF2-40B4-BE49-F238E27FC236}">
                <a16:creationId xmlns:a16="http://schemas.microsoft.com/office/drawing/2014/main" id="{E55AFAC0-CCD3-4305-8F6A-46891C303E7A}"/>
              </a:ext>
            </a:extLst>
          </p:cNvPr>
          <p:cNvSpPr>
            <a:spLocks noGrp="1"/>
          </p:cNvSpPr>
          <p:nvPr/>
        </p:nvSpPr>
        <p:spPr>
          <a:xfrm>
            <a:off x="8591550" y="2524125"/>
            <a:ext cx="2857500" cy="78105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Feature 1.280 chiều</a:t>
            </a:r>
          </a:p>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chuỗi 16 bước</a:t>
            </a:r>
          </a:p>
        </p:txBody>
      </p:sp>
      <p:sp>
        <p:nvSpPr>
          <p:cNvPr id="28" name="Rectangle 27">
            <a:extLst>
              <a:ext uri="{FF2B5EF4-FFF2-40B4-BE49-F238E27FC236}">
                <a16:creationId xmlns:a16="http://schemas.microsoft.com/office/drawing/2014/main" id="{E582E965-AFB8-4B7B-9BD6-E73E4C7E3FA2}"/>
              </a:ext>
            </a:extLst>
          </p:cNvPr>
          <p:cNvSpPr>
            <a:spLocks noGrp="1"/>
          </p:cNvSpPr>
          <p:nvPr/>
        </p:nvSpPr>
        <p:spPr>
          <a:xfrm>
            <a:off x="8620125" y="3524250"/>
            <a:ext cx="2809875" cy="19050"/>
          </a:xfrm>
          <a:prstGeom prst="rect">
            <a:avLst/>
          </a:prstGeom>
          <a:solidFill>
            <a:srgbClr val="D94C4C"/>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63B8C274-652E-4EBF-8AF9-0D14CB8A8BE2}"/>
              </a:ext>
            </a:extLst>
          </p:cNvPr>
          <p:cNvSpPr>
            <a:spLocks noGrp="1"/>
          </p:cNvSpPr>
          <p:nvPr/>
        </p:nvSpPr>
        <p:spPr>
          <a:xfrm>
            <a:off x="8620125" y="3762375"/>
            <a:ext cx="2809875" cy="609600"/>
          </a:xfrm>
          <a:prstGeom prst="rect">
            <a:avLst/>
          </a:prstGeom>
          <a:noFill/>
          <a:ln w="0">
            <a:noFill/>
            <a:prstDash val="solid"/>
          </a:ln>
        </p:spPr>
        <p:txBody>
          <a:bodyPr wrap="square" lIns="66675" tIns="47625" rIns="66675" bIns="47625" anchor="ctr">
            <a:normAutofit fontScale="96786" lnSpcReduction="10000"/>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10.001 train · 1.658 val · 4.637 test</a:t>
            </a:r>
          </a:p>
        </p:txBody>
      </p:sp>
      <p:sp>
        <p:nvSpPr>
          <p:cNvPr id="30" name="Rectangle: Rounded Corners 29">
            <a:extLst>
              <a:ext uri="{FF2B5EF4-FFF2-40B4-BE49-F238E27FC236}">
                <a16:creationId xmlns:a16="http://schemas.microsoft.com/office/drawing/2014/main" id="{9868E01A-BAF8-4A68-B4CF-5A25EAC07E6C}"/>
              </a:ext>
            </a:extLst>
          </p:cNvPr>
          <p:cNvSpPr>
            <a:spLocks noGrp="1"/>
          </p:cNvSpPr>
          <p:nvPr/>
        </p:nvSpPr>
        <p:spPr>
          <a:xfrm>
            <a:off x="672786" y="5286375"/>
            <a:ext cx="2381250" cy="552450"/>
          </a:xfrm>
          <a:prstGeom prst="roundRect">
            <a:avLst>
              <a:gd name="adj" fmla="val 17241"/>
            </a:avLst>
          </a:prstGeom>
          <a:solidFill>
            <a:srgbClr val="F4F7F8"/>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69EF1D6B-9905-427D-98E4-147E6D856331}"/>
              </a:ext>
            </a:extLst>
          </p:cNvPr>
          <p:cNvSpPr>
            <a:spLocks noGrp="1"/>
          </p:cNvSpPr>
          <p:nvPr/>
        </p:nvSpPr>
        <p:spPr>
          <a:xfrm>
            <a:off x="809625" y="5381625"/>
            <a:ext cx="1960735" cy="361950"/>
          </a:xfrm>
          <a:prstGeom prst="rect">
            <a:avLst/>
          </a:prstGeom>
          <a:noFill/>
          <a:ln w="0">
            <a:noFill/>
            <a:prstDash val="solid"/>
          </a:ln>
        </p:spPr>
        <p:txBody>
          <a:bodyPr wrap="square" lIns="66675" tIns="47625" rIns="66675" bIns="47625" anchor="ctr">
            <a:normAutofit fontScale="59010" lnSpcReduction="20000"/>
          </a:bodyPr>
          <a:lstStyle/>
          <a:p>
            <a:pPr algn="ctr">
              <a:lnSpc>
                <a:spcPct val="105000"/>
              </a:lnSpc>
              <a:buNone/>
              <a:defRPr b="1" i="0">
                <a:solidFill>
                  <a:srgbClr val="0A2D43"/>
                </a:solidFill>
                <a:latin typeface="Arial"/>
                <a:ea typeface="Arial"/>
                <a:cs typeface="Arial"/>
              </a:defRPr>
            </a:pPr>
            <a:r>
              <a:rPr b="1" i="0">
                <a:solidFill>
                  <a:srgbClr val="0A2D43"/>
                </a:solidFill>
                <a:latin typeface="Arial"/>
                <a:ea typeface="Arial"/>
                <a:cs typeface="Arial"/>
              </a:rPr>
              <a:t>Tách dữ liệu theo chủ thể</a:t>
            </a:r>
          </a:p>
        </p:txBody>
      </p:sp>
      <p:sp>
        <p:nvSpPr>
          <p:cNvPr id="32" name="Rectangle: Rounded Corners 31">
            <a:extLst>
              <a:ext uri="{FF2B5EF4-FFF2-40B4-BE49-F238E27FC236}">
                <a16:creationId xmlns:a16="http://schemas.microsoft.com/office/drawing/2014/main" id="{050F7A88-10DC-45C6-BD43-FA5491B25993}"/>
              </a:ext>
            </a:extLst>
          </p:cNvPr>
          <p:cNvSpPr>
            <a:spLocks noGrp="1"/>
          </p:cNvSpPr>
          <p:nvPr/>
        </p:nvSpPr>
        <p:spPr>
          <a:xfrm>
            <a:off x="3524250" y="5286375"/>
            <a:ext cx="2381250" cy="552450"/>
          </a:xfrm>
          <a:prstGeom prst="roundRect">
            <a:avLst>
              <a:gd name="adj" fmla="val 17241"/>
            </a:avLst>
          </a:prstGeom>
          <a:solidFill>
            <a:srgbClr val="F4F7F8"/>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01C33ABB-0364-44B6-8B68-C4474EDB1E94}"/>
              </a:ext>
            </a:extLst>
          </p:cNvPr>
          <p:cNvSpPr>
            <a:spLocks noGrp="1"/>
          </p:cNvSpPr>
          <p:nvPr/>
        </p:nvSpPr>
        <p:spPr>
          <a:xfrm>
            <a:off x="3619500" y="5381625"/>
            <a:ext cx="2190750" cy="361950"/>
          </a:xfrm>
          <a:prstGeom prst="rect">
            <a:avLst/>
          </a:prstGeom>
          <a:noFill/>
          <a:ln w="0">
            <a:noFill/>
            <a:prstDash val="solid"/>
          </a:ln>
        </p:spPr>
        <p:txBody>
          <a:bodyPr wrap="square" lIns="66675" tIns="47625" rIns="66675" bIns="47625" anchor="ctr">
            <a:normAutofit fontScale="51040" lnSpcReduction="20000"/>
          </a:bodyPr>
          <a:lstStyle/>
          <a:p>
            <a:pPr algn="ctr">
              <a:lnSpc>
                <a:spcPct val="105000"/>
              </a:lnSpc>
              <a:buNone/>
              <a:defRPr b="1" i="0">
                <a:solidFill>
                  <a:srgbClr val="0A2D43"/>
                </a:solidFill>
                <a:latin typeface="Arial"/>
                <a:ea typeface="Arial"/>
                <a:cs typeface="Arial"/>
              </a:defRPr>
            </a:pPr>
            <a:r>
              <a:rPr b="1" i="0">
                <a:solidFill>
                  <a:srgbClr val="0A2D43"/>
                </a:solidFill>
                <a:latin typeface="Arial"/>
                <a:ea typeface="Arial"/>
                <a:cs typeface="Arial"/>
              </a:rPr>
              <a:t>Chọn checkpoint theo validation</a:t>
            </a:r>
          </a:p>
        </p:txBody>
      </p:sp>
      <p:sp>
        <p:nvSpPr>
          <p:cNvPr id="34" name="Rectangle: Rounded Corners 33">
            <a:extLst>
              <a:ext uri="{FF2B5EF4-FFF2-40B4-BE49-F238E27FC236}">
                <a16:creationId xmlns:a16="http://schemas.microsoft.com/office/drawing/2014/main" id="{89975288-3E1F-43CE-8D64-FDE899DBF699}"/>
              </a:ext>
            </a:extLst>
          </p:cNvPr>
          <p:cNvSpPr>
            <a:spLocks noGrp="1"/>
          </p:cNvSpPr>
          <p:nvPr/>
        </p:nvSpPr>
        <p:spPr>
          <a:xfrm>
            <a:off x="6334125" y="5286375"/>
            <a:ext cx="2381250" cy="552450"/>
          </a:xfrm>
          <a:prstGeom prst="roundRect">
            <a:avLst>
              <a:gd name="adj" fmla="val 17241"/>
            </a:avLst>
          </a:prstGeom>
          <a:solidFill>
            <a:srgbClr val="F4F7F8"/>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C6F272BC-DE42-48E4-BA38-8337F1777354}"/>
              </a:ext>
            </a:extLst>
          </p:cNvPr>
          <p:cNvSpPr>
            <a:spLocks noGrp="1"/>
          </p:cNvSpPr>
          <p:nvPr/>
        </p:nvSpPr>
        <p:spPr>
          <a:xfrm>
            <a:off x="6429375" y="5381625"/>
            <a:ext cx="2190750" cy="361950"/>
          </a:xfrm>
          <a:prstGeom prst="rect">
            <a:avLst/>
          </a:prstGeom>
          <a:noFill/>
          <a:ln w="0">
            <a:noFill/>
            <a:prstDash val="solid"/>
          </a:ln>
        </p:spPr>
        <p:txBody>
          <a:bodyPr wrap="square" lIns="66675" tIns="47625" rIns="66675" bIns="47625" anchor="ctr">
            <a:normAutofit fontScale="53073" lnSpcReduction="20000"/>
          </a:bodyPr>
          <a:lstStyle/>
          <a:p>
            <a:pPr algn="ctr">
              <a:lnSpc>
                <a:spcPct val="105000"/>
              </a:lnSpc>
              <a:buNone/>
              <a:defRPr b="1" i="0">
                <a:solidFill>
                  <a:srgbClr val="0A2D43"/>
                </a:solidFill>
                <a:latin typeface="Arial"/>
                <a:ea typeface="Arial"/>
                <a:cs typeface="Arial"/>
              </a:defRPr>
            </a:pPr>
            <a:r>
              <a:rPr b="1" i="0">
                <a:solidFill>
                  <a:srgbClr val="0A2D43"/>
                </a:solidFill>
                <a:latin typeface="Arial"/>
                <a:ea typeface="Arial"/>
                <a:cs typeface="Arial"/>
              </a:rPr>
              <a:t>Đánh giá một lần trên test khóa</a:t>
            </a:r>
          </a:p>
        </p:txBody>
      </p:sp>
      <p:sp>
        <p:nvSpPr>
          <p:cNvPr id="36" name="Rectangle: Rounded Corners 35">
            <a:extLst>
              <a:ext uri="{FF2B5EF4-FFF2-40B4-BE49-F238E27FC236}">
                <a16:creationId xmlns:a16="http://schemas.microsoft.com/office/drawing/2014/main" id="{A33A9F49-3A6B-4110-9537-EE921337CB06}"/>
              </a:ext>
            </a:extLst>
          </p:cNvPr>
          <p:cNvSpPr>
            <a:spLocks noGrp="1"/>
          </p:cNvSpPr>
          <p:nvPr/>
        </p:nvSpPr>
        <p:spPr>
          <a:xfrm>
            <a:off x="9144000" y="5286375"/>
            <a:ext cx="2381250" cy="552450"/>
          </a:xfrm>
          <a:prstGeom prst="roundRect">
            <a:avLst>
              <a:gd name="adj" fmla="val 17241"/>
            </a:avLst>
          </a:prstGeom>
          <a:solidFill>
            <a:srgbClr val="F4F7F8"/>
          </a:solidFill>
          <a:ln w="0">
            <a:noFill/>
            <a:prstDash val="solid"/>
          </a:ln>
        </p:spPr>
        <p:txBody>
          <a:bodyPr/>
          <a:lstStyle/>
          <a:p>
            <a:endParaRPr lang="en-US"/>
          </a:p>
        </p:txBody>
      </p:sp>
      <p:sp>
        <p:nvSpPr>
          <p:cNvPr id="37" name="Rectangle 36">
            <a:extLst>
              <a:ext uri="{FF2B5EF4-FFF2-40B4-BE49-F238E27FC236}">
                <a16:creationId xmlns:a16="http://schemas.microsoft.com/office/drawing/2014/main" id="{D03AAD3D-645B-4A90-A0AF-94A1F8D179B6}"/>
              </a:ext>
            </a:extLst>
          </p:cNvPr>
          <p:cNvSpPr>
            <a:spLocks noGrp="1"/>
          </p:cNvSpPr>
          <p:nvPr/>
        </p:nvSpPr>
        <p:spPr>
          <a:xfrm>
            <a:off x="9239250" y="5381625"/>
            <a:ext cx="2190750" cy="361950"/>
          </a:xfrm>
          <a:prstGeom prst="rect">
            <a:avLst/>
          </a:prstGeom>
          <a:noFill/>
          <a:ln w="0">
            <a:noFill/>
            <a:prstDash val="solid"/>
          </a:ln>
        </p:spPr>
        <p:txBody>
          <a:bodyPr wrap="square" lIns="66675" tIns="47625" rIns="66675" bIns="47625" anchor="ctr">
            <a:normAutofit fontScale="68760" lnSpcReduction="10000"/>
          </a:bodyPr>
          <a:lstStyle/>
          <a:p>
            <a:pPr algn="ctr">
              <a:lnSpc>
                <a:spcPct val="105000"/>
              </a:lnSpc>
              <a:buNone/>
              <a:defRPr b="1" i="0">
                <a:solidFill>
                  <a:srgbClr val="0A2D43"/>
                </a:solidFill>
                <a:latin typeface="Arial"/>
                <a:ea typeface="Arial"/>
                <a:cs typeface="Arial"/>
              </a:defRPr>
            </a:pPr>
            <a:r>
              <a:rPr b="1" i="0">
                <a:solidFill>
                  <a:srgbClr val="0A2D43"/>
                </a:solidFill>
                <a:latin typeface="Arial"/>
                <a:ea typeface="Arial"/>
                <a:cs typeface="Arial"/>
              </a:rPr>
              <a:t>Đóng gói ba mô hình cho Edge</a:t>
            </a:r>
          </a:p>
        </p:txBody>
      </p:sp>
    </p:spTree>
    <p:extLst>
      <p:ext uri="{BB962C8B-B14F-4D97-AF65-F5344CB8AC3E}">
        <p14:creationId xmlns:p14="http://schemas.microsoft.com/office/powerpoint/2010/main" val="128258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BE520EB1-4177-4916-B7ED-04A59F41D8AA}"/>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7206B3D1-D29F-402E-8790-DFE3B72EA3DA}"/>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A17C6A43-3710-4658-8329-5EF8B6F0035D}"/>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02B5507F-FABF-4B2B-8171-A69694B64939}"/>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KẾT QUẢ ĐÁNH GIÁ MÔ HÌNH</a:t>
            </a:r>
          </a:p>
        </p:txBody>
      </p:sp>
      <p:sp>
        <p:nvSpPr>
          <p:cNvPr id="5" name="Rectangle 4">
            <a:extLst>
              <a:ext uri="{FF2B5EF4-FFF2-40B4-BE49-F238E27FC236}">
                <a16:creationId xmlns:a16="http://schemas.microsoft.com/office/drawing/2014/main" id="{3821E7D3-27B1-4BD0-95F8-7E1348B2826C}"/>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10</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CFD6FAA6-5503-403C-8899-4E2F57ED9847}"/>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4EDBBF64-407D-4FF5-A70B-1C0F388B3E21}"/>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AC4E53C5-99BC-4549-9190-A632203DED90}"/>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8">
            <a:extLst>
              <a:ext uri="{FF2B5EF4-FFF2-40B4-BE49-F238E27FC236}">
                <a16:creationId xmlns:a16="http://schemas.microsoft.com/office/drawing/2014/main" id="{6540C5DA-1EEF-4419-89E0-82077814D19E}"/>
              </a:ext>
            </a:extLst>
          </p:cNvPr>
          <p:cNvSpPr>
            <a:spLocks noGrp="1"/>
          </p:cNvSpPr>
          <p:nvPr/>
        </p:nvSpPr>
        <p:spPr>
          <a:xfrm>
            <a:off x="523875" y="1047750"/>
            <a:ext cx="2381250" cy="323850"/>
          </a:xfrm>
          <a:prstGeom prst="rect">
            <a:avLst/>
          </a:prstGeom>
          <a:noFill/>
          <a:ln w="0">
            <a:noFill/>
            <a:prstDash val="solid"/>
          </a:ln>
        </p:spPr>
        <p:txBody>
          <a:bodyPr wrap="square" lIns="66675" tIns="47625" rIns="66675" bIns="47625" anchor="t">
            <a:normAutofit fontScale="86865" lnSpcReduction="20000"/>
          </a:bodyPr>
          <a:lstStyle/>
          <a:p>
            <a:pPr algn="l">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YOLOv8s</a:t>
            </a:r>
          </a:p>
        </p:txBody>
      </p:sp>
      <p:sp>
        <p:nvSpPr>
          <p:cNvPr id="10" name="Rectangle: Rounded Corners 9">
            <a:extLst>
              <a:ext uri="{FF2B5EF4-FFF2-40B4-BE49-F238E27FC236}">
                <a16:creationId xmlns:a16="http://schemas.microsoft.com/office/drawing/2014/main" id="{2B0F6DB1-5A18-4AEE-9F3C-B283432BFAA4}"/>
              </a:ext>
            </a:extLst>
          </p:cNvPr>
          <p:cNvSpPr>
            <a:spLocks noGrp="1"/>
          </p:cNvSpPr>
          <p:nvPr/>
        </p:nvSpPr>
        <p:spPr>
          <a:xfrm>
            <a:off x="523875" y="1476375"/>
            <a:ext cx="1809750" cy="1000125"/>
          </a:xfrm>
          <a:prstGeom prst="roundRect">
            <a:avLst>
              <a:gd name="adj" fmla="val 11429"/>
            </a:avLst>
          </a:prstGeom>
          <a:solidFill>
            <a:srgbClr val="F4F7F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B530DA16-EEAC-45BF-BD3E-8D86F9427E83}"/>
              </a:ext>
            </a:extLst>
          </p:cNvPr>
          <p:cNvSpPr>
            <a:spLocks noGrp="1"/>
          </p:cNvSpPr>
          <p:nvPr/>
        </p:nvSpPr>
        <p:spPr>
          <a:xfrm>
            <a:off x="523875" y="1562100"/>
            <a:ext cx="1809750" cy="49530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91,32%</a:t>
            </a:r>
          </a:p>
        </p:txBody>
      </p:sp>
      <p:sp>
        <p:nvSpPr>
          <p:cNvPr id="12" name="Rectangle 11">
            <a:extLst>
              <a:ext uri="{FF2B5EF4-FFF2-40B4-BE49-F238E27FC236}">
                <a16:creationId xmlns:a16="http://schemas.microsoft.com/office/drawing/2014/main" id="{B4EDF5F2-EB2B-4CC2-A08E-F09D97043887}"/>
              </a:ext>
            </a:extLst>
          </p:cNvPr>
          <p:cNvSpPr>
            <a:spLocks noGrp="1"/>
          </p:cNvSpPr>
          <p:nvPr/>
        </p:nvSpPr>
        <p:spPr>
          <a:xfrm>
            <a:off x="600075" y="2085975"/>
            <a:ext cx="165735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mAP50</a:t>
            </a:r>
          </a:p>
        </p:txBody>
      </p:sp>
      <p:sp>
        <p:nvSpPr>
          <p:cNvPr id="13" name="Rectangle: Rounded Corners 12">
            <a:extLst>
              <a:ext uri="{FF2B5EF4-FFF2-40B4-BE49-F238E27FC236}">
                <a16:creationId xmlns:a16="http://schemas.microsoft.com/office/drawing/2014/main" id="{F3319309-F80D-4BA6-AA86-97AB23DA1550}"/>
              </a:ext>
            </a:extLst>
          </p:cNvPr>
          <p:cNvSpPr>
            <a:spLocks noGrp="1"/>
          </p:cNvSpPr>
          <p:nvPr/>
        </p:nvSpPr>
        <p:spPr>
          <a:xfrm>
            <a:off x="2524125" y="1476375"/>
            <a:ext cx="1809750" cy="1000125"/>
          </a:xfrm>
          <a:prstGeom prst="roundRect">
            <a:avLst>
              <a:gd name="adj" fmla="val 11429"/>
            </a:avLst>
          </a:prstGeom>
          <a:solidFill>
            <a:srgbClr val="F4F7F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8B6C086-C914-40CA-945D-A0704DF85AEC}"/>
              </a:ext>
            </a:extLst>
          </p:cNvPr>
          <p:cNvSpPr>
            <a:spLocks noGrp="1"/>
          </p:cNvSpPr>
          <p:nvPr/>
        </p:nvSpPr>
        <p:spPr>
          <a:xfrm>
            <a:off x="2524125" y="1562100"/>
            <a:ext cx="1809750" cy="49530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F1A33A"/>
                </a:solidFill>
                <a:latin typeface="Arial"/>
                <a:ea typeface="Arial"/>
                <a:cs typeface="Arial"/>
              </a:defRPr>
            </a:pPr>
            <a:r>
              <a:rPr b="1" i="0">
                <a:solidFill>
                  <a:srgbClr val="F1A33A"/>
                </a:solidFill>
                <a:latin typeface="Arial"/>
                <a:ea typeface="Arial"/>
                <a:cs typeface="Arial"/>
              </a:rPr>
              <a:t>66,18%</a:t>
            </a:r>
          </a:p>
        </p:txBody>
      </p:sp>
      <p:sp>
        <p:nvSpPr>
          <p:cNvPr id="15" name="Rectangle 14">
            <a:extLst>
              <a:ext uri="{FF2B5EF4-FFF2-40B4-BE49-F238E27FC236}">
                <a16:creationId xmlns:a16="http://schemas.microsoft.com/office/drawing/2014/main" id="{649C5BC3-4099-44FD-A82F-F5460324DEA1}"/>
              </a:ext>
            </a:extLst>
          </p:cNvPr>
          <p:cNvSpPr>
            <a:spLocks noGrp="1"/>
          </p:cNvSpPr>
          <p:nvPr/>
        </p:nvSpPr>
        <p:spPr>
          <a:xfrm>
            <a:off x="2600325" y="2085975"/>
            <a:ext cx="165735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mAP50–95</a:t>
            </a:r>
          </a:p>
        </p:txBody>
      </p:sp>
      <p:sp>
        <p:nvSpPr>
          <p:cNvPr id="16" name="Rectangle: Rounded Corners 15">
            <a:extLst>
              <a:ext uri="{FF2B5EF4-FFF2-40B4-BE49-F238E27FC236}">
                <a16:creationId xmlns:a16="http://schemas.microsoft.com/office/drawing/2014/main" id="{3C58CB88-E55D-4A29-A984-4C1822FC85D3}"/>
              </a:ext>
            </a:extLst>
          </p:cNvPr>
          <p:cNvSpPr>
            <a:spLocks noGrp="1"/>
          </p:cNvSpPr>
          <p:nvPr/>
        </p:nvSpPr>
        <p:spPr>
          <a:xfrm>
            <a:off x="523875" y="2667000"/>
            <a:ext cx="1809750" cy="1000125"/>
          </a:xfrm>
          <a:prstGeom prst="roundRect">
            <a:avLst>
              <a:gd name="adj" fmla="val 11429"/>
            </a:avLst>
          </a:prstGeom>
          <a:solidFill>
            <a:srgbClr val="F4F7F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6A090556-91D6-46B8-9546-230E85CE4EA2}"/>
              </a:ext>
            </a:extLst>
          </p:cNvPr>
          <p:cNvSpPr>
            <a:spLocks noGrp="1"/>
          </p:cNvSpPr>
          <p:nvPr/>
        </p:nvSpPr>
        <p:spPr>
          <a:xfrm>
            <a:off x="523875" y="2752725"/>
            <a:ext cx="1809750" cy="49530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89,94%</a:t>
            </a:r>
          </a:p>
        </p:txBody>
      </p:sp>
      <p:sp>
        <p:nvSpPr>
          <p:cNvPr id="18" name="Rectangle 17">
            <a:extLst>
              <a:ext uri="{FF2B5EF4-FFF2-40B4-BE49-F238E27FC236}">
                <a16:creationId xmlns:a16="http://schemas.microsoft.com/office/drawing/2014/main" id="{2B9372A0-5587-4F56-8AE0-43ED0C871884}"/>
              </a:ext>
            </a:extLst>
          </p:cNvPr>
          <p:cNvSpPr>
            <a:spLocks noGrp="1"/>
          </p:cNvSpPr>
          <p:nvPr/>
        </p:nvSpPr>
        <p:spPr>
          <a:xfrm>
            <a:off x="600075" y="3276600"/>
            <a:ext cx="165735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Precision</a:t>
            </a:r>
          </a:p>
        </p:txBody>
      </p:sp>
      <p:sp>
        <p:nvSpPr>
          <p:cNvPr id="19" name="Rectangle: Rounded Corners 18">
            <a:extLst>
              <a:ext uri="{FF2B5EF4-FFF2-40B4-BE49-F238E27FC236}">
                <a16:creationId xmlns:a16="http://schemas.microsoft.com/office/drawing/2014/main" id="{C310A74E-516C-4E0E-96C6-494E5F05B5D6}"/>
              </a:ext>
            </a:extLst>
          </p:cNvPr>
          <p:cNvSpPr>
            <a:spLocks noGrp="1"/>
          </p:cNvSpPr>
          <p:nvPr/>
        </p:nvSpPr>
        <p:spPr>
          <a:xfrm>
            <a:off x="2524125" y="2667000"/>
            <a:ext cx="1809750" cy="1000125"/>
          </a:xfrm>
          <a:prstGeom prst="roundRect">
            <a:avLst>
              <a:gd name="adj" fmla="val 11429"/>
            </a:avLst>
          </a:prstGeom>
          <a:solidFill>
            <a:srgbClr val="F4F7F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6DF3C0F8-E9A9-4B6D-B03B-9868E00FF16A}"/>
              </a:ext>
            </a:extLst>
          </p:cNvPr>
          <p:cNvSpPr>
            <a:spLocks noGrp="1"/>
          </p:cNvSpPr>
          <p:nvPr/>
        </p:nvSpPr>
        <p:spPr>
          <a:xfrm>
            <a:off x="2524125" y="2752725"/>
            <a:ext cx="1809750" cy="49530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88,06%</a:t>
            </a:r>
          </a:p>
        </p:txBody>
      </p:sp>
      <p:sp>
        <p:nvSpPr>
          <p:cNvPr id="21" name="Rectangle 20">
            <a:extLst>
              <a:ext uri="{FF2B5EF4-FFF2-40B4-BE49-F238E27FC236}">
                <a16:creationId xmlns:a16="http://schemas.microsoft.com/office/drawing/2014/main" id="{5608E8EF-2B18-45B7-89CB-78D0A529F622}"/>
              </a:ext>
            </a:extLst>
          </p:cNvPr>
          <p:cNvSpPr>
            <a:spLocks noGrp="1"/>
          </p:cNvSpPr>
          <p:nvPr/>
        </p:nvSpPr>
        <p:spPr>
          <a:xfrm>
            <a:off x="2600325" y="3276600"/>
            <a:ext cx="165735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Recall</a:t>
            </a:r>
          </a:p>
        </p:txBody>
      </p:sp>
      <p:sp>
        <p:nvSpPr>
          <p:cNvPr id="22" name="Rectangle 21">
            <a:extLst>
              <a:ext uri="{FF2B5EF4-FFF2-40B4-BE49-F238E27FC236}">
                <a16:creationId xmlns:a16="http://schemas.microsoft.com/office/drawing/2014/main" id="{64179A04-16CF-403F-91CB-BF233C9786D6}"/>
              </a:ext>
            </a:extLst>
          </p:cNvPr>
          <p:cNvSpPr>
            <a:spLocks noGrp="1"/>
          </p:cNvSpPr>
          <p:nvPr/>
        </p:nvSpPr>
        <p:spPr>
          <a:xfrm>
            <a:off x="5095875" y="1047750"/>
            <a:ext cx="4762500" cy="323850"/>
          </a:xfrm>
          <a:prstGeom prst="rect">
            <a:avLst/>
          </a:prstGeom>
          <a:noFill/>
          <a:ln w="0">
            <a:noFill/>
            <a:prstDash val="solid"/>
          </a:ln>
        </p:spPr>
        <p:txBody>
          <a:bodyPr wrap="square" lIns="66675" tIns="47625" rIns="66675" bIns="47625" anchor="t">
            <a:normAutofit fontScale="86865" lnSpcReduction="20000"/>
          </a:bodyPr>
          <a:lstStyle/>
          <a:p>
            <a:pPr algn="l">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CNN so với CNN + LSTM</a:t>
            </a:r>
          </a:p>
        </p:txBody>
      </p:sp>
      <p:sp>
        <p:nvSpPr>
          <p:cNvPr id="23" name="Straight Connector 22">
            <a:extLst>
              <a:ext uri="{FF2B5EF4-FFF2-40B4-BE49-F238E27FC236}">
                <a16:creationId xmlns:a16="http://schemas.microsoft.com/office/drawing/2014/main" id="{273CB8B3-9EC8-47FC-9096-A5F311E31474}"/>
              </a:ext>
            </a:extLst>
          </p:cNvPr>
          <p:cNvSpPr>
            <a:spLocks noGrp="1"/>
          </p:cNvSpPr>
          <p:nvPr/>
        </p:nvSpPr>
        <p:spPr>
          <a:xfrm>
            <a:off x="5381625" y="4333875"/>
            <a:ext cx="5810250" cy="0"/>
          </a:xfrm>
          <a:prstGeom prst="line">
            <a:avLst/>
          </a:prstGeom>
          <a:noFill/>
          <a:ln w="14288">
            <a:solidFill>
              <a:srgbClr val="B8C8CE"/>
            </a:solidFill>
            <a:prstDash val="solid"/>
          </a:ln>
        </p:spPr>
        <p:txBody>
          <a:bodyPr/>
          <a:lstStyle/>
          <a:p>
            <a:endParaRPr lang="en-US"/>
          </a:p>
        </p:txBody>
      </p:sp>
      <p:sp>
        <p:nvSpPr>
          <p:cNvPr id="24" name="Straight Connector 23">
            <a:extLst>
              <a:ext uri="{FF2B5EF4-FFF2-40B4-BE49-F238E27FC236}">
                <a16:creationId xmlns:a16="http://schemas.microsoft.com/office/drawing/2014/main" id="{66CB58BB-FD59-4D2B-BC3F-AA875E5AB75B}"/>
              </a:ext>
            </a:extLst>
          </p:cNvPr>
          <p:cNvSpPr>
            <a:spLocks noGrp="1"/>
          </p:cNvSpPr>
          <p:nvPr/>
        </p:nvSpPr>
        <p:spPr>
          <a:xfrm>
            <a:off x="5381625" y="1857375"/>
            <a:ext cx="0" cy="2476500"/>
          </a:xfrm>
          <a:prstGeom prst="line">
            <a:avLst/>
          </a:prstGeom>
          <a:noFill/>
          <a:ln w="14288">
            <a:solidFill>
              <a:srgbClr val="B8C8CE"/>
            </a:solidFill>
            <a:prstDash val="solid"/>
          </a:ln>
        </p:spPr>
        <p:txBody>
          <a:bodyPr/>
          <a:lstStyle/>
          <a:p>
            <a:endParaRPr lang="en-US"/>
          </a:p>
        </p:txBody>
      </p:sp>
      <p:sp>
        <p:nvSpPr>
          <p:cNvPr id="25" name="Rectangle: Rounded Corners 24">
            <a:extLst>
              <a:ext uri="{FF2B5EF4-FFF2-40B4-BE49-F238E27FC236}">
                <a16:creationId xmlns:a16="http://schemas.microsoft.com/office/drawing/2014/main" id="{6E64D3D5-E040-46E7-B087-B28F181E6FCC}"/>
              </a:ext>
            </a:extLst>
          </p:cNvPr>
          <p:cNvSpPr>
            <a:spLocks noGrp="1"/>
          </p:cNvSpPr>
          <p:nvPr/>
        </p:nvSpPr>
        <p:spPr>
          <a:xfrm>
            <a:off x="5905500" y="2317385"/>
            <a:ext cx="762000" cy="2016490"/>
          </a:xfrm>
          <a:prstGeom prst="roundRect">
            <a:avLst>
              <a:gd name="adj" fmla="val 10000"/>
            </a:avLst>
          </a:prstGeom>
          <a:solidFill>
            <a:srgbClr val="176B8A"/>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BCD02541-AE8B-40EF-BBA7-6DA25EF3A89B}"/>
              </a:ext>
            </a:extLst>
          </p:cNvPr>
          <p:cNvSpPr>
            <a:spLocks noGrp="1"/>
          </p:cNvSpPr>
          <p:nvPr/>
        </p:nvSpPr>
        <p:spPr>
          <a:xfrm>
            <a:off x="5810250" y="1993535"/>
            <a:ext cx="952500" cy="266700"/>
          </a:xfrm>
          <a:prstGeom prst="rect">
            <a:avLst/>
          </a:prstGeom>
          <a:noFill/>
          <a:ln w="0">
            <a:noFill/>
            <a:prstDash val="solid"/>
          </a:ln>
        </p:spPr>
        <p:txBody>
          <a:bodyPr wrap="square" lIns="66675" tIns="47625" rIns="66675" bIns="47625" anchor="t">
            <a:normAutofit fontScale="67024" lnSpcReduction="10000"/>
          </a:bodyPr>
          <a:lstStyle/>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65,14%</a:t>
            </a:r>
          </a:p>
        </p:txBody>
      </p:sp>
      <p:sp>
        <p:nvSpPr>
          <p:cNvPr id="27" name="Rectangle 26">
            <a:extLst>
              <a:ext uri="{FF2B5EF4-FFF2-40B4-BE49-F238E27FC236}">
                <a16:creationId xmlns:a16="http://schemas.microsoft.com/office/drawing/2014/main" id="{CF72F90B-B4AC-455E-9491-DE1E5233F182}"/>
              </a:ext>
            </a:extLst>
          </p:cNvPr>
          <p:cNvSpPr>
            <a:spLocks noGrp="1"/>
          </p:cNvSpPr>
          <p:nvPr/>
        </p:nvSpPr>
        <p:spPr>
          <a:xfrm>
            <a:off x="5676900" y="4419600"/>
            <a:ext cx="1219200" cy="400050"/>
          </a:xfrm>
          <a:prstGeom prst="rect">
            <a:avLst/>
          </a:prstGeom>
          <a:noFill/>
          <a:ln w="0">
            <a:noFill/>
            <a:prstDash val="solid"/>
          </a:ln>
        </p:spPr>
        <p:txBody>
          <a:bodyPr wrap="square" lIns="66675" tIns="47625" rIns="66675" bIns="47625" anchor="t">
            <a:normAutofit fontScale="76194" lnSpcReduction="10000"/>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CNN Accuracy</a:t>
            </a:r>
          </a:p>
        </p:txBody>
      </p:sp>
      <p:sp>
        <p:nvSpPr>
          <p:cNvPr id="28" name="Rectangle: Rounded Corners 27">
            <a:extLst>
              <a:ext uri="{FF2B5EF4-FFF2-40B4-BE49-F238E27FC236}">
                <a16:creationId xmlns:a16="http://schemas.microsoft.com/office/drawing/2014/main" id="{C63B4C02-5C95-4D36-A8F0-F0D45631628F}"/>
              </a:ext>
            </a:extLst>
          </p:cNvPr>
          <p:cNvSpPr>
            <a:spLocks noGrp="1"/>
          </p:cNvSpPr>
          <p:nvPr/>
        </p:nvSpPr>
        <p:spPr>
          <a:xfrm>
            <a:off x="7191375" y="2233493"/>
            <a:ext cx="762000" cy="2100382"/>
          </a:xfrm>
          <a:prstGeom prst="roundRect">
            <a:avLst>
              <a:gd name="adj" fmla="val 10000"/>
            </a:avLst>
          </a:prstGeom>
          <a:solidFill>
            <a:srgbClr val="117C78"/>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CD59517E-6C87-457A-88CC-D4931E83C573}"/>
              </a:ext>
            </a:extLst>
          </p:cNvPr>
          <p:cNvSpPr>
            <a:spLocks noGrp="1"/>
          </p:cNvSpPr>
          <p:nvPr/>
        </p:nvSpPr>
        <p:spPr>
          <a:xfrm>
            <a:off x="7096125" y="1909643"/>
            <a:ext cx="952500" cy="266700"/>
          </a:xfrm>
          <a:prstGeom prst="rect">
            <a:avLst/>
          </a:prstGeom>
          <a:noFill/>
          <a:ln w="0">
            <a:noFill/>
            <a:prstDash val="solid"/>
          </a:ln>
        </p:spPr>
        <p:txBody>
          <a:bodyPr wrap="square" lIns="66675" tIns="47625" rIns="66675" bIns="47625" anchor="t">
            <a:normAutofit fontScale="67024" lnSpcReduction="1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67,85%</a:t>
            </a:r>
          </a:p>
        </p:txBody>
      </p:sp>
      <p:sp>
        <p:nvSpPr>
          <p:cNvPr id="30" name="Rectangle 29">
            <a:extLst>
              <a:ext uri="{FF2B5EF4-FFF2-40B4-BE49-F238E27FC236}">
                <a16:creationId xmlns:a16="http://schemas.microsoft.com/office/drawing/2014/main" id="{754EE8B0-1034-4029-9A64-319392467CD6}"/>
              </a:ext>
            </a:extLst>
          </p:cNvPr>
          <p:cNvSpPr>
            <a:spLocks noGrp="1"/>
          </p:cNvSpPr>
          <p:nvPr/>
        </p:nvSpPr>
        <p:spPr>
          <a:xfrm>
            <a:off x="6962775" y="4419600"/>
            <a:ext cx="1219200" cy="400050"/>
          </a:xfrm>
          <a:prstGeom prst="rect">
            <a:avLst/>
          </a:prstGeom>
          <a:noFill/>
          <a:ln w="0">
            <a:noFill/>
            <a:prstDash val="solid"/>
          </a:ln>
        </p:spPr>
        <p:txBody>
          <a:bodyPr wrap="square" lIns="66675" tIns="47625" rIns="66675" bIns="47625" anchor="t">
            <a:normAutofit fontScale="70573" lnSpcReduction="10000"/>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LSTM Accuracy</a:t>
            </a:r>
          </a:p>
        </p:txBody>
      </p:sp>
      <p:sp>
        <p:nvSpPr>
          <p:cNvPr id="31" name="Rectangle: Rounded Corners 30">
            <a:extLst>
              <a:ext uri="{FF2B5EF4-FFF2-40B4-BE49-F238E27FC236}">
                <a16:creationId xmlns:a16="http://schemas.microsoft.com/office/drawing/2014/main" id="{43BF7B4B-EFF4-4799-AF05-61809BBFCDAD}"/>
              </a:ext>
            </a:extLst>
          </p:cNvPr>
          <p:cNvSpPr>
            <a:spLocks noGrp="1"/>
          </p:cNvSpPr>
          <p:nvPr/>
        </p:nvSpPr>
        <p:spPr>
          <a:xfrm>
            <a:off x="8477250" y="2318004"/>
            <a:ext cx="762000" cy="2015871"/>
          </a:xfrm>
          <a:prstGeom prst="roundRect">
            <a:avLst>
              <a:gd name="adj" fmla="val 10000"/>
            </a:avLst>
          </a:prstGeom>
          <a:solidFill>
            <a:srgbClr val="6D8FA0"/>
          </a:solidFill>
          <a:ln w="0">
            <a:noFill/>
            <a:prstDash val="solid"/>
          </a:ln>
        </p:spPr>
        <p:txBody>
          <a:bodyPr/>
          <a:lstStyle/>
          <a:p>
            <a:endParaRPr lang="en-US"/>
          </a:p>
        </p:txBody>
      </p:sp>
      <p:sp>
        <p:nvSpPr>
          <p:cNvPr id="32" name="Rectangle 31">
            <a:extLst>
              <a:ext uri="{FF2B5EF4-FFF2-40B4-BE49-F238E27FC236}">
                <a16:creationId xmlns:a16="http://schemas.microsoft.com/office/drawing/2014/main" id="{1A63D970-78BF-4CAF-849A-1308F5877A6E}"/>
              </a:ext>
            </a:extLst>
          </p:cNvPr>
          <p:cNvSpPr>
            <a:spLocks noGrp="1"/>
          </p:cNvSpPr>
          <p:nvPr/>
        </p:nvSpPr>
        <p:spPr>
          <a:xfrm>
            <a:off x="8382000" y="1994154"/>
            <a:ext cx="952500" cy="266700"/>
          </a:xfrm>
          <a:prstGeom prst="rect">
            <a:avLst/>
          </a:prstGeom>
          <a:noFill/>
          <a:ln w="0">
            <a:noFill/>
            <a:prstDash val="solid"/>
          </a:ln>
        </p:spPr>
        <p:txBody>
          <a:bodyPr wrap="square" lIns="66675" tIns="47625" rIns="66675" bIns="47625" anchor="t">
            <a:normAutofit fontScale="67024" lnSpcReduction="10000"/>
          </a:bodyPr>
          <a:lstStyle/>
          <a:p>
            <a:pPr algn="ctr">
              <a:lnSpc>
                <a:spcPct val="105000"/>
              </a:lnSpc>
              <a:buNone/>
              <a:defRPr b="1" i="0">
                <a:solidFill>
                  <a:srgbClr val="6D8FA0"/>
                </a:solidFill>
                <a:latin typeface="Arial"/>
                <a:ea typeface="Arial"/>
                <a:cs typeface="Arial"/>
              </a:defRPr>
            </a:pPr>
            <a:r>
              <a:rPr b="1" i="0">
                <a:solidFill>
                  <a:srgbClr val="6D8FA0"/>
                </a:solidFill>
                <a:latin typeface="Arial"/>
                <a:ea typeface="Arial"/>
                <a:cs typeface="Arial"/>
              </a:rPr>
              <a:t>65,12%</a:t>
            </a:r>
          </a:p>
        </p:txBody>
      </p:sp>
      <p:sp>
        <p:nvSpPr>
          <p:cNvPr id="33" name="Rectangle 32">
            <a:extLst>
              <a:ext uri="{FF2B5EF4-FFF2-40B4-BE49-F238E27FC236}">
                <a16:creationId xmlns:a16="http://schemas.microsoft.com/office/drawing/2014/main" id="{0BF1E056-6A22-460F-8B0E-6B71443BAFB9}"/>
              </a:ext>
            </a:extLst>
          </p:cNvPr>
          <p:cNvSpPr>
            <a:spLocks noGrp="1"/>
          </p:cNvSpPr>
          <p:nvPr/>
        </p:nvSpPr>
        <p:spPr>
          <a:xfrm>
            <a:off x="8248650" y="4419600"/>
            <a:ext cx="1219200" cy="40005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CNN F1</a:t>
            </a:r>
          </a:p>
        </p:txBody>
      </p:sp>
      <p:sp>
        <p:nvSpPr>
          <p:cNvPr id="34" name="Rectangle: Rounded Corners 33">
            <a:extLst>
              <a:ext uri="{FF2B5EF4-FFF2-40B4-BE49-F238E27FC236}">
                <a16:creationId xmlns:a16="http://schemas.microsoft.com/office/drawing/2014/main" id="{DA34ABCD-C838-41AE-B624-D96360571232}"/>
              </a:ext>
            </a:extLst>
          </p:cNvPr>
          <p:cNvSpPr>
            <a:spLocks noGrp="1"/>
          </p:cNvSpPr>
          <p:nvPr/>
        </p:nvSpPr>
        <p:spPr>
          <a:xfrm>
            <a:off x="9763125" y="2233803"/>
            <a:ext cx="762000" cy="2100072"/>
          </a:xfrm>
          <a:prstGeom prst="roundRect">
            <a:avLst>
              <a:gd name="adj" fmla="val 10000"/>
            </a:avLst>
          </a:prstGeom>
          <a:solidFill>
            <a:srgbClr val="D94C4C"/>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CDAA72D0-1ED7-4814-817E-8E8E80B8E866}"/>
              </a:ext>
            </a:extLst>
          </p:cNvPr>
          <p:cNvSpPr>
            <a:spLocks noGrp="1"/>
          </p:cNvSpPr>
          <p:nvPr/>
        </p:nvSpPr>
        <p:spPr>
          <a:xfrm>
            <a:off x="9667875" y="1909953"/>
            <a:ext cx="952500" cy="266700"/>
          </a:xfrm>
          <a:prstGeom prst="rect">
            <a:avLst/>
          </a:prstGeom>
          <a:noFill/>
          <a:ln w="0">
            <a:noFill/>
            <a:prstDash val="solid"/>
          </a:ln>
        </p:spPr>
        <p:txBody>
          <a:bodyPr wrap="square" lIns="66675" tIns="47625" rIns="66675" bIns="47625" anchor="t">
            <a:normAutofit fontScale="67024" lnSpcReduction="10000"/>
          </a:bodyPr>
          <a:lstStyle/>
          <a:p>
            <a:pPr algn="ctr">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67,84%</a:t>
            </a:r>
          </a:p>
        </p:txBody>
      </p:sp>
      <p:sp>
        <p:nvSpPr>
          <p:cNvPr id="36" name="Rectangle 35">
            <a:extLst>
              <a:ext uri="{FF2B5EF4-FFF2-40B4-BE49-F238E27FC236}">
                <a16:creationId xmlns:a16="http://schemas.microsoft.com/office/drawing/2014/main" id="{FA9F1938-3B1D-48C1-A2ED-44E37F8D62A0}"/>
              </a:ext>
            </a:extLst>
          </p:cNvPr>
          <p:cNvSpPr>
            <a:spLocks noGrp="1"/>
          </p:cNvSpPr>
          <p:nvPr/>
        </p:nvSpPr>
        <p:spPr>
          <a:xfrm>
            <a:off x="9534525" y="4419600"/>
            <a:ext cx="1219200" cy="40005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LSTM F1</a:t>
            </a:r>
          </a:p>
        </p:txBody>
      </p:sp>
      <p:sp>
        <p:nvSpPr>
          <p:cNvPr id="37" name="Rectangle: Rounded Corners 36">
            <a:extLst>
              <a:ext uri="{FF2B5EF4-FFF2-40B4-BE49-F238E27FC236}">
                <a16:creationId xmlns:a16="http://schemas.microsoft.com/office/drawing/2014/main" id="{A6A28C09-D835-4832-A426-0A5C394FCD4C}"/>
              </a:ext>
            </a:extLst>
          </p:cNvPr>
          <p:cNvSpPr>
            <a:spLocks noGrp="1"/>
          </p:cNvSpPr>
          <p:nvPr/>
        </p:nvSpPr>
        <p:spPr>
          <a:xfrm>
            <a:off x="5048250" y="4953000"/>
            <a:ext cx="6191250" cy="857250"/>
          </a:xfrm>
          <a:prstGeom prst="roundRect">
            <a:avLst>
              <a:gd name="adj" fmla="val 13333"/>
            </a:avLst>
          </a:prstGeom>
          <a:solidFill>
            <a:srgbClr val="E7F4F1"/>
          </a:solidFill>
          <a:ln w="0">
            <a:noFill/>
            <a:prstDash val="solid"/>
          </a:ln>
        </p:spPr>
        <p:txBody>
          <a:bodyPr/>
          <a:lstStyle/>
          <a:p>
            <a:endParaRPr lang="en-US"/>
          </a:p>
        </p:txBody>
      </p:sp>
      <p:sp>
        <p:nvSpPr>
          <p:cNvPr id="38" name="Rectangle 37">
            <a:extLst>
              <a:ext uri="{FF2B5EF4-FFF2-40B4-BE49-F238E27FC236}">
                <a16:creationId xmlns:a16="http://schemas.microsoft.com/office/drawing/2014/main" id="{F41AE57C-B149-4474-9297-B5A944649752}"/>
              </a:ext>
            </a:extLst>
          </p:cNvPr>
          <p:cNvSpPr>
            <a:spLocks noGrp="1"/>
          </p:cNvSpPr>
          <p:nvPr/>
        </p:nvSpPr>
        <p:spPr>
          <a:xfrm>
            <a:off x="5286375" y="5105400"/>
            <a:ext cx="5715000" cy="552450"/>
          </a:xfrm>
          <a:prstGeom prst="rect">
            <a:avLst/>
          </a:prstGeom>
          <a:noFill/>
          <a:ln w="0">
            <a:noFill/>
            <a:prstDash val="solid"/>
          </a:ln>
        </p:spPr>
        <p:txBody>
          <a:bodyPr wrap="square" lIns="66675" tIns="47625" rIns="66675" bIns="47625" anchor="ctr">
            <a:normAutofit fontScale="59723" lnSpcReduction="2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LSTM tăng 2,71 điểm phần trăm accuracy so với CNN theo kết quả hiện có. CNN đánh giá theo khung hình, LSTM đánh giá theo chuỗi nên cần đọc cùng đơn vị đánh giá.</a:t>
            </a:r>
          </a:p>
        </p:txBody>
      </p:sp>
    </p:spTree>
    <p:extLst>
      <p:ext uri="{BB962C8B-B14F-4D97-AF65-F5344CB8AC3E}">
        <p14:creationId xmlns:p14="http://schemas.microsoft.com/office/powerpoint/2010/main" val="134566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FBA57FD3-155F-4212-98AD-E2CD4CC62560}"/>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795B1973-52BD-4EAA-9A0D-3B83375737B3}"/>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3CFB0D06-E370-4172-AC3D-14AB278628AC}"/>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D99E4066-F7E6-40E7-BDE3-92710A84C51D}"/>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TỪ SUY LUẬN ĐẾN CẢNH BÁO CÓ BẰNG CHỨNG</a:t>
            </a:r>
          </a:p>
        </p:txBody>
      </p:sp>
      <p:sp>
        <p:nvSpPr>
          <p:cNvPr id="5" name="Rectangle 4">
            <a:extLst>
              <a:ext uri="{FF2B5EF4-FFF2-40B4-BE49-F238E27FC236}">
                <a16:creationId xmlns:a16="http://schemas.microsoft.com/office/drawing/2014/main" id="{73E9258A-6365-47D9-85B6-AF4E711E67AB}"/>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11</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F0966D24-4DE3-470F-A20E-ECC32CA61B97}"/>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EE3B9E8E-5FC7-4673-9260-C675C48CDDDA}"/>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3BE1467C-7779-43C8-8128-07AEA3DABE2B}"/>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Rounded Corners 8">
            <a:extLst>
              <a:ext uri="{FF2B5EF4-FFF2-40B4-BE49-F238E27FC236}">
                <a16:creationId xmlns:a16="http://schemas.microsoft.com/office/drawing/2014/main" id="{890A1855-234A-4BDD-84D4-048CCEFFD4D7}"/>
              </a:ext>
            </a:extLst>
          </p:cNvPr>
          <p:cNvSpPr>
            <a:spLocks noGrp="1"/>
          </p:cNvSpPr>
          <p:nvPr/>
        </p:nvSpPr>
        <p:spPr>
          <a:xfrm>
            <a:off x="523875" y="1666875"/>
            <a:ext cx="2571750" cy="2571750"/>
          </a:xfrm>
          <a:prstGeom prst="roundRect">
            <a:avLst>
              <a:gd name="adj" fmla="val 5926"/>
            </a:avLst>
          </a:prstGeom>
          <a:solidFill>
            <a:srgbClr val="E7F2F5"/>
          </a:solidFill>
          <a:ln w="14288">
            <a:solidFill>
              <a:srgbClr val="176B8A"/>
            </a:solidFill>
            <a:prstDash val="solid"/>
          </a:ln>
        </p:spPr>
        <p:txBody>
          <a:bodyPr/>
          <a:lstStyle/>
          <a:p>
            <a:endParaRPr lang="en-US"/>
          </a:p>
        </p:txBody>
      </p:sp>
      <p:sp>
        <p:nvSpPr>
          <p:cNvPr id="10" name="Oval 9">
            <a:extLst>
              <a:ext uri="{FF2B5EF4-FFF2-40B4-BE49-F238E27FC236}">
                <a16:creationId xmlns:a16="http://schemas.microsoft.com/office/drawing/2014/main" id="{C58C2B6D-70DF-43C8-933F-ABCB73345491}"/>
              </a:ext>
            </a:extLst>
          </p:cNvPr>
          <p:cNvSpPr>
            <a:spLocks noGrp="1"/>
          </p:cNvSpPr>
          <p:nvPr/>
        </p:nvSpPr>
        <p:spPr>
          <a:xfrm>
            <a:off x="762000" y="1905000"/>
            <a:ext cx="495300" cy="495300"/>
          </a:xfrm>
          <a:prstGeom prst="ellipse">
            <a:avLst/>
          </a:prstGeom>
          <a:solidFill>
            <a:srgbClr val="176B8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B23A946D-EA13-4E19-AF10-1849073DBAB1}"/>
              </a:ext>
            </a:extLst>
          </p:cNvPr>
          <p:cNvSpPr>
            <a:spLocks noGrp="1"/>
          </p:cNvSpPr>
          <p:nvPr/>
        </p:nvSpPr>
        <p:spPr>
          <a:xfrm>
            <a:off x="762000" y="1905000"/>
            <a:ext cx="495300" cy="49530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01</a:t>
            </a:r>
            <a:endParaRPr b="1" i="0">
              <a:solidFill>
                <a:srgbClr val="FFFFFF"/>
              </a:solidFill>
              <a:latin typeface="Arial"/>
              <a:ea typeface="Arial"/>
              <a:cs typeface="Arial"/>
            </a:endParaRPr>
          </a:p>
        </p:txBody>
      </p:sp>
      <p:sp>
        <p:nvSpPr>
          <p:cNvPr id="12" name="Rectangle 11">
            <a:extLst>
              <a:ext uri="{FF2B5EF4-FFF2-40B4-BE49-F238E27FC236}">
                <a16:creationId xmlns:a16="http://schemas.microsoft.com/office/drawing/2014/main" id="{EC0FC90D-C327-48CE-8D3D-EAE75B177920}"/>
              </a:ext>
            </a:extLst>
          </p:cNvPr>
          <p:cNvSpPr>
            <a:spLocks noGrp="1"/>
          </p:cNvSpPr>
          <p:nvPr/>
        </p:nvSpPr>
        <p:spPr>
          <a:xfrm>
            <a:off x="762000" y="2609850"/>
            <a:ext cx="2095500" cy="45720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Suy luận tại Edge</a:t>
            </a:r>
          </a:p>
        </p:txBody>
      </p:sp>
      <p:sp>
        <p:nvSpPr>
          <p:cNvPr id="13" name="Rectangle 12">
            <a:extLst>
              <a:ext uri="{FF2B5EF4-FFF2-40B4-BE49-F238E27FC236}">
                <a16:creationId xmlns:a16="http://schemas.microsoft.com/office/drawing/2014/main" id="{86117401-ABA2-4430-A63B-163E82AD0610}"/>
              </a:ext>
            </a:extLst>
          </p:cNvPr>
          <p:cNvSpPr>
            <a:spLocks noGrp="1"/>
          </p:cNvSpPr>
          <p:nvPr/>
        </p:nvSpPr>
        <p:spPr>
          <a:xfrm>
            <a:off x="762000" y="3238500"/>
            <a:ext cx="2095500" cy="685800"/>
          </a:xfrm>
          <a:prstGeom prst="rect">
            <a:avLst/>
          </a:prstGeom>
          <a:noFill/>
          <a:ln w="0">
            <a:noFill/>
            <a:prstDash val="solid"/>
          </a:ln>
        </p:spPr>
        <p:txBody>
          <a:bodyPr wrap="square" lIns="66675" tIns="47625" rIns="66675" bIns="47625" anchor="ctr">
            <a:normAutofit fontScale="86785" lnSpcReduction="2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YOLO · CNN · LSTM</a:t>
            </a:r>
          </a:p>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EAR · MAR · PERCLOS</a:t>
            </a:r>
          </a:p>
        </p:txBody>
      </p:sp>
      <p:sp>
        <p:nvSpPr>
          <p:cNvPr id="14" name="Rectangle: Rounded Corners 13">
            <a:extLst>
              <a:ext uri="{FF2B5EF4-FFF2-40B4-BE49-F238E27FC236}">
                <a16:creationId xmlns:a16="http://schemas.microsoft.com/office/drawing/2014/main" id="{F800DD30-EDB1-4912-A73E-DC4548A3BD23}"/>
              </a:ext>
            </a:extLst>
          </p:cNvPr>
          <p:cNvSpPr>
            <a:spLocks noGrp="1"/>
          </p:cNvSpPr>
          <p:nvPr/>
        </p:nvSpPr>
        <p:spPr>
          <a:xfrm>
            <a:off x="3429000" y="1666875"/>
            <a:ext cx="2571750" cy="2571750"/>
          </a:xfrm>
          <a:prstGeom prst="roundRect">
            <a:avLst>
              <a:gd name="adj" fmla="val 5926"/>
            </a:avLst>
          </a:prstGeom>
          <a:solidFill>
            <a:srgbClr val="E7F4F1"/>
          </a:solidFill>
          <a:ln w="14288">
            <a:solidFill>
              <a:srgbClr val="117C78"/>
            </a:solidFill>
            <a:prstDash val="solid"/>
          </a:ln>
        </p:spPr>
        <p:txBody>
          <a:bodyPr/>
          <a:lstStyle/>
          <a:p>
            <a:endParaRPr lang="en-US"/>
          </a:p>
        </p:txBody>
      </p:sp>
      <p:sp>
        <p:nvSpPr>
          <p:cNvPr id="15" name="Oval 14">
            <a:extLst>
              <a:ext uri="{FF2B5EF4-FFF2-40B4-BE49-F238E27FC236}">
                <a16:creationId xmlns:a16="http://schemas.microsoft.com/office/drawing/2014/main" id="{87B010F8-400C-4086-A9F2-85C23DF90E1B}"/>
              </a:ext>
            </a:extLst>
          </p:cNvPr>
          <p:cNvSpPr>
            <a:spLocks noGrp="1"/>
          </p:cNvSpPr>
          <p:nvPr/>
        </p:nvSpPr>
        <p:spPr>
          <a:xfrm>
            <a:off x="3667125" y="1905000"/>
            <a:ext cx="495300" cy="495300"/>
          </a:xfrm>
          <a:prstGeom prst="ellipse">
            <a:avLst/>
          </a:prstGeom>
          <a:solidFill>
            <a:srgbClr val="117C7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CA9E631-7D34-40A4-984F-8CE53D2F2ABF}"/>
              </a:ext>
            </a:extLst>
          </p:cNvPr>
          <p:cNvSpPr>
            <a:spLocks noGrp="1"/>
          </p:cNvSpPr>
          <p:nvPr/>
        </p:nvSpPr>
        <p:spPr>
          <a:xfrm>
            <a:off x="3667125" y="1905000"/>
            <a:ext cx="495300" cy="49530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02</a:t>
            </a:r>
            <a:endParaRPr b="1" i="0">
              <a:solidFill>
                <a:srgbClr val="FFFFFF"/>
              </a:solidFill>
              <a:latin typeface="Arial"/>
              <a:ea typeface="Arial"/>
              <a:cs typeface="Arial"/>
            </a:endParaRPr>
          </a:p>
        </p:txBody>
      </p:sp>
      <p:sp>
        <p:nvSpPr>
          <p:cNvPr id="17" name="Rectangle 16">
            <a:extLst>
              <a:ext uri="{FF2B5EF4-FFF2-40B4-BE49-F238E27FC236}">
                <a16:creationId xmlns:a16="http://schemas.microsoft.com/office/drawing/2014/main" id="{B0BED4DA-36FE-4227-BF45-9A2A07D40B5C}"/>
              </a:ext>
            </a:extLst>
          </p:cNvPr>
          <p:cNvSpPr>
            <a:spLocks noGrp="1"/>
          </p:cNvSpPr>
          <p:nvPr/>
        </p:nvSpPr>
        <p:spPr>
          <a:xfrm>
            <a:off x="3667125" y="2609850"/>
            <a:ext cx="2095500" cy="45720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Kiểm tra thời gian</a:t>
            </a:r>
          </a:p>
        </p:txBody>
      </p:sp>
      <p:sp>
        <p:nvSpPr>
          <p:cNvPr id="18" name="Rectangle 17">
            <a:extLst>
              <a:ext uri="{FF2B5EF4-FFF2-40B4-BE49-F238E27FC236}">
                <a16:creationId xmlns:a16="http://schemas.microsoft.com/office/drawing/2014/main" id="{63C8A56D-BC80-47A1-8587-AA14F6005145}"/>
              </a:ext>
            </a:extLst>
          </p:cNvPr>
          <p:cNvSpPr>
            <a:spLocks noGrp="1"/>
          </p:cNvSpPr>
          <p:nvPr/>
        </p:nvSpPr>
        <p:spPr>
          <a:xfrm>
            <a:off x="3667125" y="3238500"/>
            <a:ext cx="2095500" cy="685800"/>
          </a:xfrm>
          <a:prstGeom prst="rect">
            <a:avLst/>
          </a:prstGeom>
          <a:noFill/>
          <a:ln w="0">
            <a:noFill/>
            <a:prstDash val="solid"/>
          </a:ln>
        </p:spPr>
        <p:txBody>
          <a:bodyPr wrap="square" lIns="66675" tIns="47625" rIns="66675" bIns="47625" anchor="ctr">
            <a:normAutofit fontScale="90823"/>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Độ tin cậy + thời gian duy trì + cooldown</a:t>
            </a:r>
          </a:p>
        </p:txBody>
      </p:sp>
      <p:sp>
        <p:nvSpPr>
          <p:cNvPr id="19" name="Rectangle: Rounded Corners 18">
            <a:extLst>
              <a:ext uri="{FF2B5EF4-FFF2-40B4-BE49-F238E27FC236}">
                <a16:creationId xmlns:a16="http://schemas.microsoft.com/office/drawing/2014/main" id="{4AD9D60F-425E-4C0F-BE88-5B6740BA315F}"/>
              </a:ext>
            </a:extLst>
          </p:cNvPr>
          <p:cNvSpPr>
            <a:spLocks noGrp="1"/>
          </p:cNvSpPr>
          <p:nvPr/>
        </p:nvSpPr>
        <p:spPr>
          <a:xfrm>
            <a:off x="6334125" y="1666875"/>
            <a:ext cx="2571750" cy="2571750"/>
          </a:xfrm>
          <a:prstGeom prst="roundRect">
            <a:avLst>
              <a:gd name="adj" fmla="val 5926"/>
            </a:avLst>
          </a:prstGeom>
          <a:solidFill>
            <a:srgbClr val="FAECEB"/>
          </a:solidFill>
          <a:ln w="14288">
            <a:solidFill>
              <a:srgbClr val="D94C4C"/>
            </a:solidFill>
            <a:prstDash val="solid"/>
          </a:ln>
        </p:spPr>
        <p:txBody>
          <a:bodyPr/>
          <a:lstStyle/>
          <a:p>
            <a:endParaRPr lang="en-US"/>
          </a:p>
        </p:txBody>
      </p:sp>
      <p:sp>
        <p:nvSpPr>
          <p:cNvPr id="20" name="Oval 19">
            <a:extLst>
              <a:ext uri="{FF2B5EF4-FFF2-40B4-BE49-F238E27FC236}">
                <a16:creationId xmlns:a16="http://schemas.microsoft.com/office/drawing/2014/main" id="{100CF7D0-9FAD-406C-9CBC-1A368CA1307C}"/>
              </a:ext>
            </a:extLst>
          </p:cNvPr>
          <p:cNvSpPr>
            <a:spLocks noGrp="1"/>
          </p:cNvSpPr>
          <p:nvPr/>
        </p:nvSpPr>
        <p:spPr>
          <a:xfrm>
            <a:off x="6572250" y="1905000"/>
            <a:ext cx="495300" cy="495300"/>
          </a:xfrm>
          <a:prstGeom prst="ellipse">
            <a:avLst/>
          </a:prstGeom>
          <a:solidFill>
            <a:srgbClr val="D94C4C"/>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72A13A15-07F7-4D69-B0DA-C8D14A92AAE0}"/>
              </a:ext>
            </a:extLst>
          </p:cNvPr>
          <p:cNvSpPr>
            <a:spLocks noGrp="1"/>
          </p:cNvSpPr>
          <p:nvPr/>
        </p:nvSpPr>
        <p:spPr>
          <a:xfrm>
            <a:off x="6572250" y="1905000"/>
            <a:ext cx="495300" cy="49530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03</a:t>
            </a:r>
            <a:endParaRPr b="1" i="0">
              <a:solidFill>
                <a:srgbClr val="FFFFFF"/>
              </a:solidFill>
              <a:latin typeface="Arial"/>
              <a:ea typeface="Arial"/>
              <a:cs typeface="Arial"/>
            </a:endParaRPr>
          </a:p>
        </p:txBody>
      </p:sp>
      <p:sp>
        <p:nvSpPr>
          <p:cNvPr id="22" name="Rectangle 21">
            <a:extLst>
              <a:ext uri="{FF2B5EF4-FFF2-40B4-BE49-F238E27FC236}">
                <a16:creationId xmlns:a16="http://schemas.microsoft.com/office/drawing/2014/main" id="{60C386FB-B470-4E35-BCB1-0CCBB472892A}"/>
              </a:ext>
            </a:extLst>
          </p:cNvPr>
          <p:cNvSpPr>
            <a:spLocks noGrp="1"/>
          </p:cNvSpPr>
          <p:nvPr/>
        </p:nvSpPr>
        <p:spPr>
          <a:xfrm>
            <a:off x="6572250" y="2609850"/>
            <a:ext cx="2095500" cy="45720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Tạo sự kiện</a:t>
            </a:r>
          </a:p>
        </p:txBody>
      </p:sp>
      <p:sp>
        <p:nvSpPr>
          <p:cNvPr id="23" name="Rectangle 22">
            <a:extLst>
              <a:ext uri="{FF2B5EF4-FFF2-40B4-BE49-F238E27FC236}">
                <a16:creationId xmlns:a16="http://schemas.microsoft.com/office/drawing/2014/main" id="{0998DCF5-7F93-4D52-8508-7F3F1AB2D065}"/>
              </a:ext>
            </a:extLst>
          </p:cNvPr>
          <p:cNvSpPr>
            <a:spLocks noGrp="1"/>
          </p:cNvSpPr>
          <p:nvPr/>
        </p:nvSpPr>
        <p:spPr>
          <a:xfrm>
            <a:off x="6572250" y="3238500"/>
            <a:ext cx="2095500" cy="685800"/>
          </a:xfrm>
          <a:prstGeom prst="rect">
            <a:avLst/>
          </a:prstGeom>
          <a:noFill/>
          <a:ln w="0">
            <a:noFill/>
            <a:prstDash val="solid"/>
          </a:ln>
        </p:spPr>
        <p:txBody>
          <a:bodyPr wrap="square" lIns="66675" tIns="47625" rIns="66675" bIns="47625" anchor="ctr">
            <a:normAutofit fontScale="75690" lnSpcReduction="2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Loại cảnh báo · risk · timestamp · snapshot/clip</a:t>
            </a:r>
          </a:p>
        </p:txBody>
      </p:sp>
      <p:sp>
        <p:nvSpPr>
          <p:cNvPr id="24" name="Rectangle: Rounded Corners 23">
            <a:extLst>
              <a:ext uri="{FF2B5EF4-FFF2-40B4-BE49-F238E27FC236}">
                <a16:creationId xmlns:a16="http://schemas.microsoft.com/office/drawing/2014/main" id="{6810F129-3205-415D-93E4-D64E4F588C1E}"/>
              </a:ext>
            </a:extLst>
          </p:cNvPr>
          <p:cNvSpPr>
            <a:spLocks noGrp="1"/>
          </p:cNvSpPr>
          <p:nvPr/>
        </p:nvSpPr>
        <p:spPr>
          <a:xfrm>
            <a:off x="9239250" y="1666875"/>
            <a:ext cx="2571750" cy="2571750"/>
          </a:xfrm>
          <a:prstGeom prst="roundRect">
            <a:avLst>
              <a:gd name="adj" fmla="val 5926"/>
            </a:avLst>
          </a:prstGeom>
          <a:solidFill>
            <a:srgbClr val="FBF4E5"/>
          </a:solidFill>
          <a:ln w="14288">
            <a:solidFill>
              <a:srgbClr val="F1A33A"/>
            </a:solidFill>
            <a:prstDash val="solid"/>
          </a:ln>
        </p:spPr>
        <p:txBody>
          <a:bodyPr/>
          <a:lstStyle/>
          <a:p>
            <a:endParaRPr lang="en-US"/>
          </a:p>
        </p:txBody>
      </p:sp>
      <p:sp>
        <p:nvSpPr>
          <p:cNvPr id="25" name="Oval 24">
            <a:extLst>
              <a:ext uri="{FF2B5EF4-FFF2-40B4-BE49-F238E27FC236}">
                <a16:creationId xmlns:a16="http://schemas.microsoft.com/office/drawing/2014/main" id="{BA0A8649-8905-443E-AEAB-51B745DFB34F}"/>
              </a:ext>
            </a:extLst>
          </p:cNvPr>
          <p:cNvSpPr>
            <a:spLocks noGrp="1"/>
          </p:cNvSpPr>
          <p:nvPr/>
        </p:nvSpPr>
        <p:spPr>
          <a:xfrm>
            <a:off x="9477375" y="1905000"/>
            <a:ext cx="495300" cy="495300"/>
          </a:xfrm>
          <a:prstGeom prst="ellipse">
            <a:avLst/>
          </a:prstGeom>
          <a:solidFill>
            <a:srgbClr val="F1A33A"/>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4719C7A9-3AD5-43BE-8563-F624A57A5B40}"/>
              </a:ext>
            </a:extLst>
          </p:cNvPr>
          <p:cNvSpPr>
            <a:spLocks noGrp="1"/>
          </p:cNvSpPr>
          <p:nvPr/>
        </p:nvSpPr>
        <p:spPr>
          <a:xfrm>
            <a:off x="9477375" y="1905000"/>
            <a:ext cx="495300" cy="49530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04</a:t>
            </a:r>
            <a:endParaRPr b="1" i="0">
              <a:solidFill>
                <a:srgbClr val="FFFFFF"/>
              </a:solidFill>
              <a:latin typeface="Arial"/>
              <a:ea typeface="Arial"/>
              <a:cs typeface="Arial"/>
            </a:endParaRPr>
          </a:p>
        </p:txBody>
      </p:sp>
      <p:sp>
        <p:nvSpPr>
          <p:cNvPr id="27" name="Rectangle 26">
            <a:extLst>
              <a:ext uri="{FF2B5EF4-FFF2-40B4-BE49-F238E27FC236}">
                <a16:creationId xmlns:a16="http://schemas.microsoft.com/office/drawing/2014/main" id="{9626DFB8-3EA0-4135-A957-EB643463418E}"/>
              </a:ext>
            </a:extLst>
          </p:cNvPr>
          <p:cNvSpPr>
            <a:spLocks noGrp="1"/>
          </p:cNvSpPr>
          <p:nvPr/>
        </p:nvSpPr>
        <p:spPr>
          <a:xfrm>
            <a:off x="9477375" y="2609850"/>
            <a:ext cx="2095500" cy="45720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16303D"/>
                </a:solidFill>
                <a:latin typeface="Arial"/>
                <a:ea typeface="Arial"/>
                <a:cs typeface="Arial"/>
              </a:defRPr>
            </a:pPr>
            <a:r>
              <a:rPr b="1" i="0">
                <a:solidFill>
                  <a:srgbClr val="16303D"/>
                </a:solidFill>
                <a:latin typeface="Arial"/>
                <a:ea typeface="Arial"/>
                <a:cs typeface="Arial"/>
              </a:rPr>
              <a:t>Phân phối</a:t>
            </a:r>
          </a:p>
        </p:txBody>
      </p:sp>
      <p:sp>
        <p:nvSpPr>
          <p:cNvPr id="28" name="Rectangle 27">
            <a:extLst>
              <a:ext uri="{FF2B5EF4-FFF2-40B4-BE49-F238E27FC236}">
                <a16:creationId xmlns:a16="http://schemas.microsoft.com/office/drawing/2014/main" id="{F1E1585D-91D3-4DC3-A718-86F9426441F4}"/>
              </a:ext>
            </a:extLst>
          </p:cNvPr>
          <p:cNvSpPr>
            <a:spLocks noGrp="1"/>
          </p:cNvSpPr>
          <p:nvPr/>
        </p:nvSpPr>
        <p:spPr>
          <a:xfrm>
            <a:off x="9477375" y="3238500"/>
            <a:ext cx="2095500" cy="685800"/>
          </a:xfrm>
          <a:prstGeom prst="rect">
            <a:avLst/>
          </a:prstGeom>
          <a:noFill/>
          <a:ln w="0">
            <a:noFill/>
            <a:prstDash val="solid"/>
          </a:ln>
        </p:spPr>
        <p:txBody>
          <a:bodyPr wrap="square" lIns="66675" tIns="47625" rIns="66675" bIns="47625" anchor="ctr">
            <a:normAutofit fontScale="75842" lnSpcReduction="10000"/>
          </a:bodyPr>
          <a:lstStyle/>
          <a:p>
            <a:pPr algn="ctr">
              <a:lnSpc>
                <a:spcPct val="105000"/>
              </a:lnSpc>
              <a:buNone/>
              <a:defRPr b="0" i="0">
                <a:solidFill>
                  <a:srgbClr val="60727B"/>
                </a:solidFill>
                <a:latin typeface="Arial"/>
                <a:ea typeface="Arial"/>
                <a:cs typeface="Arial"/>
              </a:defRPr>
            </a:pPr>
            <a:r>
              <a:rPr b="0" i="0">
                <a:solidFill>
                  <a:srgbClr val="60727B"/>
                </a:solidFill>
                <a:latin typeface="Arial"/>
                <a:ea typeface="Arial"/>
                <a:cs typeface="Arial"/>
              </a:rPr>
              <a:t>Âm thanh tại Edge · WebSocket · thông báo Mobile</a:t>
            </a:r>
          </a:p>
        </p:txBody>
      </p:sp>
      <p:cxnSp>
        <p:nvCxnSpPr>
          <p:cNvPr id="63" name="Straight Arrow Connector 62"/>
          <p:cNvCxnSpPr>
            <a:stCxn id="9" idx="3"/>
            <a:endCxn id="14" idx="1"/>
          </p:cNvCxnSpPr>
          <p:nvPr/>
        </p:nvCxnSpPr>
        <p:spPr>
          <a:xfrm>
            <a:off x="3095625" y="2952750"/>
            <a:ext cx="333375" cy="0"/>
          </a:xfrm>
          <a:prstGeom prst="straightConnector1">
            <a:avLst/>
          </a:prstGeom>
          <a:ln w="19050">
            <a:solidFill>
              <a:srgbClr val="0A2D43"/>
            </a:solidFill>
            <a:prstDash val="solid"/>
            <a:tailEnd type="triangle" w="sm" len="sm"/>
          </a:ln>
        </p:spPr>
      </p:cxnSp>
      <p:cxnSp>
        <p:nvCxnSpPr>
          <p:cNvPr id="64" name="Straight Arrow Connector 63"/>
          <p:cNvCxnSpPr>
            <a:stCxn id="14" idx="3"/>
            <a:endCxn id="19" idx="1"/>
          </p:cNvCxnSpPr>
          <p:nvPr/>
        </p:nvCxnSpPr>
        <p:spPr>
          <a:xfrm>
            <a:off x="6000750" y="2952750"/>
            <a:ext cx="333375" cy="0"/>
          </a:xfrm>
          <a:prstGeom prst="straightConnector1">
            <a:avLst/>
          </a:prstGeom>
          <a:ln w="19050">
            <a:solidFill>
              <a:srgbClr val="0A2D43"/>
            </a:solidFill>
            <a:prstDash val="solid"/>
            <a:tailEnd type="triangle" w="sm" len="sm"/>
          </a:ln>
        </p:spPr>
      </p:cxnSp>
      <p:cxnSp>
        <p:nvCxnSpPr>
          <p:cNvPr id="65" name="Straight Arrow Connector 64"/>
          <p:cNvCxnSpPr>
            <a:stCxn id="19" idx="3"/>
            <a:endCxn id="24" idx="1"/>
          </p:cNvCxnSpPr>
          <p:nvPr/>
        </p:nvCxnSpPr>
        <p:spPr>
          <a:xfrm>
            <a:off x="8905875" y="2952750"/>
            <a:ext cx="333375" cy="0"/>
          </a:xfrm>
          <a:prstGeom prst="straightConnector1">
            <a:avLst/>
          </a:prstGeom>
          <a:ln w="19050">
            <a:solidFill>
              <a:srgbClr val="0A2D43"/>
            </a:solidFill>
            <a:prstDash val="solid"/>
            <a:tailEnd type="triangle" w="sm" len="sm"/>
          </a:ln>
        </p:spPr>
      </p:cxnSp>
      <p:sp>
        <p:nvSpPr>
          <p:cNvPr id="32" name="Rectangle: Rounded Corners 31">
            <a:extLst>
              <a:ext uri="{FF2B5EF4-FFF2-40B4-BE49-F238E27FC236}">
                <a16:creationId xmlns:a16="http://schemas.microsoft.com/office/drawing/2014/main" id="{E33D8C4C-D0FC-4E94-BCB3-F2B8DA2EE101}"/>
              </a:ext>
            </a:extLst>
          </p:cNvPr>
          <p:cNvSpPr>
            <a:spLocks noGrp="1"/>
          </p:cNvSpPr>
          <p:nvPr/>
        </p:nvSpPr>
        <p:spPr>
          <a:xfrm>
            <a:off x="1428750" y="4953000"/>
            <a:ext cx="9334500" cy="1000125"/>
          </a:xfrm>
          <a:prstGeom prst="roundRect">
            <a:avLst>
              <a:gd name="adj" fmla="val 13333"/>
            </a:avLst>
          </a:prstGeom>
          <a:solidFill>
            <a:srgbClr val="0A2D43"/>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91C90F35-5F38-417D-BB8D-3E437F1F5A1A}"/>
              </a:ext>
            </a:extLst>
          </p:cNvPr>
          <p:cNvSpPr>
            <a:spLocks noGrp="1"/>
          </p:cNvSpPr>
          <p:nvPr/>
        </p:nvSpPr>
        <p:spPr>
          <a:xfrm>
            <a:off x="1714500" y="5124450"/>
            <a:ext cx="8763000" cy="304800"/>
          </a:xfrm>
          <a:prstGeom prst="rect">
            <a:avLst/>
          </a:prstGeom>
          <a:noFill/>
          <a:ln w="0">
            <a:noFill/>
            <a:prstDash val="solid"/>
          </a:ln>
        </p:spPr>
        <p:txBody>
          <a:bodyPr wrap="square" lIns="66675" tIns="47625" rIns="66675" bIns="47625" anchor="t">
            <a:normAutofit fontScale="87751" lnSpcReduction="20000"/>
          </a:bodyPr>
          <a:lstStyle/>
          <a:p>
            <a:pPr algn="ctr">
              <a:lnSpc>
                <a:spcPct val="105000"/>
              </a:lnSpc>
              <a:buNone/>
              <a:defRPr b="1" i="0">
                <a:solidFill>
                  <a:srgbClr val="58D0D8"/>
                </a:solidFill>
                <a:latin typeface="Arial"/>
                <a:ea typeface="Arial"/>
                <a:cs typeface="Arial"/>
              </a:defRPr>
            </a:pPr>
            <a:r>
              <a:rPr b="1" i="0">
                <a:solidFill>
                  <a:srgbClr val="58D0D8"/>
                </a:solidFill>
                <a:latin typeface="Arial"/>
                <a:ea typeface="Arial"/>
                <a:cs typeface="Arial"/>
              </a:rPr>
              <a:t>Mục tiêu của lớp luật thời gian</a:t>
            </a:r>
          </a:p>
        </p:txBody>
      </p:sp>
      <p:sp>
        <p:nvSpPr>
          <p:cNvPr id="34" name="Rectangle 33">
            <a:extLst>
              <a:ext uri="{FF2B5EF4-FFF2-40B4-BE49-F238E27FC236}">
                <a16:creationId xmlns:a16="http://schemas.microsoft.com/office/drawing/2014/main" id="{4C338EC0-A644-4756-BFD4-FE2C417ACB4A}"/>
              </a:ext>
            </a:extLst>
          </p:cNvPr>
          <p:cNvSpPr>
            <a:spLocks noGrp="1"/>
          </p:cNvSpPr>
          <p:nvPr/>
        </p:nvSpPr>
        <p:spPr>
          <a:xfrm>
            <a:off x="1809750" y="5467350"/>
            <a:ext cx="8572500" cy="342900"/>
          </a:xfrm>
          <a:prstGeom prst="rect">
            <a:avLst/>
          </a:prstGeom>
          <a:noFill/>
          <a:ln w="0">
            <a:noFill/>
            <a:prstDash val="solid"/>
          </a:ln>
        </p:spPr>
        <p:txBody>
          <a:bodyPr wrap="square" lIns="66675" tIns="47625" rIns="66675" bIns="47625" anchor="ctr">
            <a:normAutofit fontScale="85548" lnSpcReduction="20000"/>
          </a:bodyPr>
          <a:lstStyle/>
          <a:p>
            <a:pPr algn="ctr">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Hạn chế cảnh báo tức thời sai, tránh phát lặp liên tục và bảo đảm mỗi sự kiện có dữ liệu đủ để kiểm tra lại.</a:t>
            </a:r>
          </a:p>
        </p:txBody>
      </p:sp>
    </p:spTree>
    <p:extLst>
      <p:ext uri="{BB962C8B-B14F-4D97-AF65-F5344CB8AC3E}">
        <p14:creationId xmlns:p14="http://schemas.microsoft.com/office/powerpoint/2010/main" val="647728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E8A8608-7092-4A6D-BE8F-40099528D416}"/>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08CED9F1-6F7B-4239-8483-4F7F25407F6D}"/>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A4BA3321-F66D-4865-B91C-5D57F3497D2F}"/>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B5FEB6E8-B961-4DD7-928A-2C145B12C98E}"/>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BACKEND, CƠ SỞ DỮ LIỆU VÀ PHÂN QUYỀN</a:t>
            </a:r>
          </a:p>
        </p:txBody>
      </p:sp>
      <p:sp>
        <p:nvSpPr>
          <p:cNvPr id="5" name="Rectangle 4">
            <a:extLst>
              <a:ext uri="{FF2B5EF4-FFF2-40B4-BE49-F238E27FC236}">
                <a16:creationId xmlns:a16="http://schemas.microsoft.com/office/drawing/2014/main" id="{BA154DB7-3674-40B1-8478-1FF4508809D8}"/>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12</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8EA66321-882D-454D-B3C0-33F0EA0A8437}"/>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7C605B9E-8666-4938-835D-8AE1795B45E2}"/>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05BAEDC4-EB4B-4C10-AE02-2C8E63210EFB}"/>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Rounded Corners 8">
            <a:extLst>
              <a:ext uri="{FF2B5EF4-FFF2-40B4-BE49-F238E27FC236}">
                <a16:creationId xmlns:a16="http://schemas.microsoft.com/office/drawing/2014/main" id="{57D4D88C-5334-4ECC-90D3-41B619498505}"/>
              </a:ext>
            </a:extLst>
          </p:cNvPr>
          <p:cNvSpPr>
            <a:spLocks noGrp="1"/>
          </p:cNvSpPr>
          <p:nvPr/>
        </p:nvSpPr>
        <p:spPr>
          <a:xfrm>
            <a:off x="4429125" y="1238250"/>
            <a:ext cx="3333750" cy="1190625"/>
          </a:xfrm>
          <a:prstGeom prst="roundRect">
            <a:avLst>
              <a:gd name="adj" fmla="val 12800"/>
            </a:avLst>
          </a:prstGeom>
          <a:solidFill>
            <a:srgbClr val="0A2D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D376ADB8-CC0F-422B-9249-665728BB318A}"/>
              </a:ext>
            </a:extLst>
          </p:cNvPr>
          <p:cNvSpPr>
            <a:spLocks noGrp="1"/>
          </p:cNvSpPr>
          <p:nvPr/>
        </p:nvSpPr>
        <p:spPr>
          <a:xfrm>
            <a:off x="4762500" y="1428750"/>
            <a:ext cx="2667000" cy="342900"/>
          </a:xfrm>
          <a:prstGeom prst="rect">
            <a:avLst/>
          </a:prstGeom>
          <a:noFill/>
          <a:ln w="0">
            <a:noFill/>
            <a:prstDash val="solid"/>
          </a:ln>
        </p:spPr>
        <p:txBody>
          <a:bodyPr wrap="square" lIns="66675" tIns="47625" rIns="66675" bIns="47625" anchor="t">
            <a:normAutofit fontScale="93479" lnSpcReduction="10000"/>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FASTAPI</a:t>
            </a:r>
          </a:p>
        </p:txBody>
      </p:sp>
      <p:sp>
        <p:nvSpPr>
          <p:cNvPr id="11" name="Rectangle 10">
            <a:extLst>
              <a:ext uri="{FF2B5EF4-FFF2-40B4-BE49-F238E27FC236}">
                <a16:creationId xmlns:a16="http://schemas.microsoft.com/office/drawing/2014/main" id="{F689B83E-3A65-446C-8C45-4A13170F2543}"/>
              </a:ext>
            </a:extLst>
          </p:cNvPr>
          <p:cNvSpPr>
            <a:spLocks noGrp="1"/>
          </p:cNvSpPr>
          <p:nvPr/>
        </p:nvSpPr>
        <p:spPr>
          <a:xfrm>
            <a:off x="4762500" y="1885950"/>
            <a:ext cx="2667000" cy="285750"/>
          </a:xfrm>
          <a:prstGeom prst="rect">
            <a:avLst/>
          </a:prstGeom>
          <a:noFill/>
          <a:ln w="0">
            <a:noFill/>
            <a:prstDash val="solid"/>
          </a:ln>
        </p:spPr>
        <p:txBody>
          <a:bodyPr wrap="square" lIns="66675" tIns="47625" rIns="66675" bIns="47625" anchor="t">
            <a:normAutofit fontScale="69448" lnSpcReduction="10000"/>
          </a:bodyPr>
          <a:lstStyle/>
          <a:p>
            <a:pPr algn="ctr">
              <a:lnSpc>
                <a:spcPct val="105000"/>
              </a:lnSpc>
              <a:buNone/>
              <a:defRPr b="0" i="0">
                <a:solidFill>
                  <a:srgbClr val="BDE5EB"/>
                </a:solidFill>
                <a:latin typeface="Arial"/>
                <a:ea typeface="Arial"/>
                <a:cs typeface="Arial"/>
              </a:defRPr>
            </a:pPr>
            <a:r>
              <a:rPr b="0" i="0">
                <a:solidFill>
                  <a:srgbClr val="BDE5EB"/>
                </a:solidFill>
                <a:latin typeface="Arial"/>
                <a:ea typeface="Arial"/>
                <a:cs typeface="Arial"/>
              </a:rPr>
              <a:t>REST API · JWT · API key · WebSocket</a:t>
            </a:r>
          </a:p>
        </p:txBody>
      </p:sp>
      <p:sp>
        <p:nvSpPr>
          <p:cNvPr id="12" name="Rectangle: Rounded Corners 11">
            <a:extLst>
              <a:ext uri="{FF2B5EF4-FFF2-40B4-BE49-F238E27FC236}">
                <a16:creationId xmlns:a16="http://schemas.microsoft.com/office/drawing/2014/main" id="{B925BAF7-E489-45ED-B191-246D4CB5EA81}"/>
              </a:ext>
            </a:extLst>
          </p:cNvPr>
          <p:cNvSpPr>
            <a:spLocks noGrp="1"/>
          </p:cNvSpPr>
          <p:nvPr/>
        </p:nvSpPr>
        <p:spPr>
          <a:xfrm>
            <a:off x="857250" y="3000375"/>
            <a:ext cx="3429000" cy="1000125"/>
          </a:xfrm>
          <a:prstGeom prst="roundRect">
            <a:avLst>
              <a:gd name="adj" fmla="val 11429"/>
            </a:avLst>
          </a:prstGeom>
          <a:solidFill>
            <a:srgbClr val="E7F2F5"/>
          </a:solidFill>
          <a:ln w="14288">
            <a:solidFill>
              <a:srgbClr val="176B8A"/>
            </a:solidFill>
            <a:prstDash val="solid"/>
          </a:ln>
        </p:spPr>
        <p:txBody>
          <a:bodyPr/>
          <a:lstStyle/>
          <a:p>
            <a:endParaRPr lang="en-US"/>
          </a:p>
        </p:txBody>
      </p:sp>
      <p:sp>
        <p:nvSpPr>
          <p:cNvPr id="13" name="Rectangle 12">
            <a:extLst>
              <a:ext uri="{FF2B5EF4-FFF2-40B4-BE49-F238E27FC236}">
                <a16:creationId xmlns:a16="http://schemas.microsoft.com/office/drawing/2014/main" id="{2AEC392B-9786-4E57-B097-112BD95561B0}"/>
              </a:ext>
            </a:extLst>
          </p:cNvPr>
          <p:cNvSpPr>
            <a:spLocks noGrp="1"/>
          </p:cNvSpPr>
          <p:nvPr/>
        </p:nvSpPr>
        <p:spPr>
          <a:xfrm>
            <a:off x="1047750" y="3152775"/>
            <a:ext cx="142875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NGHIỆP VỤ</a:t>
            </a:r>
          </a:p>
        </p:txBody>
      </p:sp>
      <p:sp>
        <p:nvSpPr>
          <p:cNvPr id="14" name="Rectangle 13">
            <a:extLst>
              <a:ext uri="{FF2B5EF4-FFF2-40B4-BE49-F238E27FC236}">
                <a16:creationId xmlns:a16="http://schemas.microsoft.com/office/drawing/2014/main" id="{FED7EA30-0220-4AB4-94BF-7BA9234BF061}"/>
              </a:ext>
            </a:extLst>
          </p:cNvPr>
          <p:cNvSpPr>
            <a:spLocks noGrp="1"/>
          </p:cNvSpPr>
          <p:nvPr/>
        </p:nvSpPr>
        <p:spPr>
          <a:xfrm>
            <a:off x="1047750" y="3514725"/>
            <a:ext cx="3000375" cy="266700"/>
          </a:xfrm>
          <a:prstGeom prst="rect">
            <a:avLst/>
          </a:prstGeom>
          <a:noFill/>
          <a:ln w="0">
            <a:noFill/>
            <a:prstDash val="solid"/>
          </a:ln>
        </p:spPr>
        <p:txBody>
          <a:bodyPr wrap="square" lIns="66675" tIns="47625" rIns="66675" bIns="47625" anchor="t">
            <a:normAutofit fontScale="67024"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drivers · vehicles · routes · trips</a:t>
            </a:r>
          </a:p>
        </p:txBody>
      </p:sp>
      <p:sp>
        <p:nvSpPr>
          <p:cNvPr id="15" name="Rectangle: Rounded Corners 14">
            <a:extLst>
              <a:ext uri="{FF2B5EF4-FFF2-40B4-BE49-F238E27FC236}">
                <a16:creationId xmlns:a16="http://schemas.microsoft.com/office/drawing/2014/main" id="{7C34A699-4954-48BA-B79E-B98B684D459E}"/>
              </a:ext>
            </a:extLst>
          </p:cNvPr>
          <p:cNvSpPr>
            <a:spLocks noGrp="1"/>
          </p:cNvSpPr>
          <p:nvPr/>
        </p:nvSpPr>
        <p:spPr>
          <a:xfrm>
            <a:off x="7905750" y="3000375"/>
            <a:ext cx="3429000" cy="1000125"/>
          </a:xfrm>
          <a:prstGeom prst="roundRect">
            <a:avLst>
              <a:gd name="adj" fmla="val 11429"/>
            </a:avLst>
          </a:prstGeom>
          <a:solidFill>
            <a:srgbClr val="FAECEB"/>
          </a:solidFill>
          <a:ln w="14288">
            <a:solidFill>
              <a:srgbClr val="D94C4C"/>
            </a:solidFill>
            <a:prstDash val="solid"/>
          </a:ln>
        </p:spPr>
        <p:txBody>
          <a:bodyPr/>
          <a:lstStyle/>
          <a:p>
            <a:endParaRPr lang="en-US"/>
          </a:p>
        </p:txBody>
      </p:sp>
      <p:sp>
        <p:nvSpPr>
          <p:cNvPr id="16" name="Rectangle 15">
            <a:extLst>
              <a:ext uri="{FF2B5EF4-FFF2-40B4-BE49-F238E27FC236}">
                <a16:creationId xmlns:a16="http://schemas.microsoft.com/office/drawing/2014/main" id="{539769B1-7861-4A52-A146-0F61D17607AC}"/>
              </a:ext>
            </a:extLst>
          </p:cNvPr>
          <p:cNvSpPr>
            <a:spLocks noGrp="1"/>
          </p:cNvSpPr>
          <p:nvPr/>
        </p:nvSpPr>
        <p:spPr>
          <a:xfrm>
            <a:off x="8096250" y="3152775"/>
            <a:ext cx="142875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D94C4C"/>
                </a:solidFill>
                <a:latin typeface="Arial"/>
                <a:ea typeface="Arial"/>
                <a:cs typeface="Arial"/>
              </a:defRPr>
            </a:pPr>
            <a:r>
              <a:rPr b="1" i="0">
                <a:solidFill>
                  <a:srgbClr val="D94C4C"/>
                </a:solidFill>
                <a:latin typeface="Arial"/>
                <a:ea typeface="Arial"/>
                <a:cs typeface="Arial"/>
              </a:rPr>
              <a:t>GIÁM SÁT</a:t>
            </a:r>
          </a:p>
        </p:txBody>
      </p:sp>
      <p:sp>
        <p:nvSpPr>
          <p:cNvPr id="17" name="Rectangle 16">
            <a:extLst>
              <a:ext uri="{FF2B5EF4-FFF2-40B4-BE49-F238E27FC236}">
                <a16:creationId xmlns:a16="http://schemas.microsoft.com/office/drawing/2014/main" id="{16663E4E-3795-4423-9BA0-ABBB343EADB7}"/>
              </a:ext>
            </a:extLst>
          </p:cNvPr>
          <p:cNvSpPr>
            <a:spLocks noGrp="1"/>
          </p:cNvSpPr>
          <p:nvPr/>
        </p:nvSpPr>
        <p:spPr>
          <a:xfrm>
            <a:off x="8096250" y="3514725"/>
            <a:ext cx="3000375" cy="266700"/>
          </a:xfrm>
          <a:prstGeom prst="rect">
            <a:avLst/>
          </a:prstGeom>
          <a:noFill/>
          <a:ln w="0">
            <a:noFill/>
            <a:prstDash val="solid"/>
          </a:ln>
        </p:spPr>
        <p:txBody>
          <a:bodyPr wrap="square" lIns="66675" tIns="47625" rIns="66675" bIns="47625" anchor="t">
            <a:normAutofit fontScale="67024"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monitoring_sessions · frame_metrics</a:t>
            </a:r>
          </a:p>
        </p:txBody>
      </p:sp>
      <p:cxnSp>
        <p:nvCxnSpPr>
          <p:cNvPr id="49" name="Straight Arrow Connector 48"/>
          <p:cNvCxnSpPr>
            <a:stCxn id="9" idx="2"/>
            <a:endCxn id="12" idx="0"/>
          </p:cNvCxnSpPr>
          <p:nvPr/>
        </p:nvCxnSpPr>
        <p:spPr>
          <a:xfrm flipH="1">
            <a:off x="2571750" y="2428875"/>
            <a:ext cx="3524250" cy="571500"/>
          </a:xfrm>
          <a:prstGeom prst="straightConnector1">
            <a:avLst/>
          </a:prstGeom>
          <a:ln w="19050">
            <a:solidFill>
              <a:srgbClr val="B8C8CE"/>
            </a:solidFill>
            <a:prstDash val="solid"/>
            <a:tailEnd type="triangle" w="sm" len="sm"/>
          </a:ln>
        </p:spPr>
      </p:cxnSp>
      <p:cxnSp>
        <p:nvCxnSpPr>
          <p:cNvPr id="50" name="Straight Arrow Connector 49"/>
          <p:cNvCxnSpPr>
            <a:stCxn id="9" idx="2"/>
            <a:endCxn id="15" idx="0"/>
          </p:cNvCxnSpPr>
          <p:nvPr/>
        </p:nvCxnSpPr>
        <p:spPr>
          <a:xfrm>
            <a:off x="6096000" y="2428875"/>
            <a:ext cx="3524250" cy="571500"/>
          </a:xfrm>
          <a:prstGeom prst="straightConnector1">
            <a:avLst/>
          </a:prstGeom>
          <a:ln w="19050">
            <a:solidFill>
              <a:srgbClr val="B8C8CE"/>
            </a:solidFill>
            <a:prstDash val="solid"/>
            <a:tailEnd type="triangle" w="sm" len="sm"/>
          </a:ln>
        </p:spPr>
      </p:cxnSp>
      <p:sp>
        <p:nvSpPr>
          <p:cNvPr id="20" name="Rectangle: Rounded Corners 19">
            <a:extLst>
              <a:ext uri="{FF2B5EF4-FFF2-40B4-BE49-F238E27FC236}">
                <a16:creationId xmlns:a16="http://schemas.microsoft.com/office/drawing/2014/main" id="{370802F8-FE98-4D77-A9A3-8EA8DEDD605E}"/>
              </a:ext>
            </a:extLst>
          </p:cNvPr>
          <p:cNvSpPr>
            <a:spLocks noGrp="1"/>
          </p:cNvSpPr>
          <p:nvPr/>
        </p:nvSpPr>
        <p:spPr>
          <a:xfrm>
            <a:off x="857250" y="4381500"/>
            <a:ext cx="3429000" cy="1000125"/>
          </a:xfrm>
          <a:prstGeom prst="roundRect">
            <a:avLst>
              <a:gd name="adj" fmla="val 11429"/>
            </a:avLst>
          </a:prstGeom>
          <a:solidFill>
            <a:srgbClr val="E7F4F1"/>
          </a:solidFill>
          <a:ln w="14288">
            <a:solidFill>
              <a:srgbClr val="117C78"/>
            </a:solidFill>
            <a:prstDash val="solid"/>
          </a:ln>
        </p:spPr>
        <p:txBody>
          <a:bodyPr/>
          <a:lstStyle/>
          <a:p>
            <a:endParaRPr lang="en-US"/>
          </a:p>
        </p:txBody>
      </p:sp>
      <p:sp>
        <p:nvSpPr>
          <p:cNvPr id="21" name="Rectangle 20">
            <a:extLst>
              <a:ext uri="{FF2B5EF4-FFF2-40B4-BE49-F238E27FC236}">
                <a16:creationId xmlns:a16="http://schemas.microsoft.com/office/drawing/2014/main" id="{03A451FA-B352-4175-8909-8B27BBBD7FA7}"/>
              </a:ext>
            </a:extLst>
          </p:cNvPr>
          <p:cNvSpPr>
            <a:spLocks noGrp="1"/>
          </p:cNvSpPr>
          <p:nvPr/>
        </p:nvSpPr>
        <p:spPr>
          <a:xfrm>
            <a:off x="1047750" y="4533900"/>
            <a:ext cx="142875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THIẾT BỊ</a:t>
            </a:r>
          </a:p>
        </p:txBody>
      </p:sp>
      <p:sp>
        <p:nvSpPr>
          <p:cNvPr id="22" name="Rectangle 21">
            <a:extLst>
              <a:ext uri="{FF2B5EF4-FFF2-40B4-BE49-F238E27FC236}">
                <a16:creationId xmlns:a16="http://schemas.microsoft.com/office/drawing/2014/main" id="{E43E1FDD-6261-41DE-A42F-5153987904EB}"/>
              </a:ext>
            </a:extLst>
          </p:cNvPr>
          <p:cNvSpPr>
            <a:spLocks noGrp="1"/>
          </p:cNvSpPr>
          <p:nvPr/>
        </p:nvSpPr>
        <p:spPr>
          <a:xfrm>
            <a:off x="1047750" y="4895850"/>
            <a:ext cx="3000375" cy="266700"/>
          </a:xfrm>
          <a:prstGeom prst="rect">
            <a:avLst/>
          </a:prstGeom>
          <a:noFill/>
          <a:ln w="0">
            <a:noFill/>
            <a:prstDash val="solid"/>
          </a:ln>
        </p:spPr>
        <p:txBody>
          <a:bodyPr wrap="square" lIns="66675" tIns="47625" rIns="66675" bIns="47625" anchor="t">
            <a:normAutofit fontScale="67024"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edge_devices · heartbeat · API key</a:t>
            </a:r>
          </a:p>
        </p:txBody>
      </p:sp>
      <p:sp>
        <p:nvSpPr>
          <p:cNvPr id="23" name="Rectangle: Rounded Corners 22">
            <a:extLst>
              <a:ext uri="{FF2B5EF4-FFF2-40B4-BE49-F238E27FC236}">
                <a16:creationId xmlns:a16="http://schemas.microsoft.com/office/drawing/2014/main" id="{029995F8-9CBB-4355-8F6D-7C8A17AD8E1D}"/>
              </a:ext>
            </a:extLst>
          </p:cNvPr>
          <p:cNvSpPr>
            <a:spLocks noGrp="1"/>
          </p:cNvSpPr>
          <p:nvPr/>
        </p:nvSpPr>
        <p:spPr>
          <a:xfrm>
            <a:off x="7905750" y="4381500"/>
            <a:ext cx="3429000" cy="1000125"/>
          </a:xfrm>
          <a:prstGeom prst="roundRect">
            <a:avLst>
              <a:gd name="adj" fmla="val 11429"/>
            </a:avLst>
          </a:prstGeom>
          <a:solidFill>
            <a:srgbClr val="FBF4E5"/>
          </a:solidFill>
          <a:ln w="14288">
            <a:solidFill>
              <a:srgbClr val="F1A33A"/>
            </a:solidFill>
            <a:prstDash val="solid"/>
          </a:ln>
        </p:spPr>
        <p:txBody>
          <a:bodyPr/>
          <a:lstStyle/>
          <a:p>
            <a:endParaRPr lang="en-US"/>
          </a:p>
        </p:txBody>
      </p:sp>
      <p:sp>
        <p:nvSpPr>
          <p:cNvPr id="24" name="Rectangle 23">
            <a:extLst>
              <a:ext uri="{FF2B5EF4-FFF2-40B4-BE49-F238E27FC236}">
                <a16:creationId xmlns:a16="http://schemas.microsoft.com/office/drawing/2014/main" id="{79414AA8-EE36-4F04-9B38-FC001CB0FC7E}"/>
              </a:ext>
            </a:extLst>
          </p:cNvPr>
          <p:cNvSpPr>
            <a:spLocks noGrp="1"/>
          </p:cNvSpPr>
          <p:nvPr/>
        </p:nvSpPr>
        <p:spPr>
          <a:xfrm>
            <a:off x="8096250" y="4533900"/>
            <a:ext cx="1428750" cy="285750"/>
          </a:xfrm>
          <a:prstGeom prst="rect">
            <a:avLst/>
          </a:prstGeom>
          <a:noFill/>
          <a:ln w="0">
            <a:noFill/>
            <a:prstDash val="solid"/>
          </a:ln>
        </p:spPr>
        <p:txBody>
          <a:bodyPr wrap="square" lIns="66675" tIns="47625" rIns="66675" bIns="47625" anchor="t">
            <a:normAutofit fontScale="73638" lnSpcReduction="10000"/>
          </a:bodyPr>
          <a:lstStyle/>
          <a:p>
            <a:pPr algn="l">
              <a:lnSpc>
                <a:spcPct val="105000"/>
              </a:lnSpc>
              <a:buNone/>
              <a:defRPr b="1" i="0">
                <a:solidFill>
                  <a:srgbClr val="F1A33A"/>
                </a:solidFill>
                <a:latin typeface="Arial"/>
                <a:ea typeface="Arial"/>
                <a:cs typeface="Arial"/>
              </a:defRPr>
            </a:pPr>
            <a:r>
              <a:rPr b="1" i="0">
                <a:solidFill>
                  <a:srgbClr val="F1A33A"/>
                </a:solidFill>
                <a:latin typeface="Arial"/>
                <a:ea typeface="Arial"/>
                <a:cs typeface="Arial"/>
              </a:rPr>
              <a:t>CẢNH BÁO</a:t>
            </a:r>
          </a:p>
        </p:txBody>
      </p:sp>
      <p:sp>
        <p:nvSpPr>
          <p:cNvPr id="25" name="Rectangle 24">
            <a:extLst>
              <a:ext uri="{FF2B5EF4-FFF2-40B4-BE49-F238E27FC236}">
                <a16:creationId xmlns:a16="http://schemas.microsoft.com/office/drawing/2014/main" id="{BAEBBB1A-FB99-44B0-9868-1FABBCCB5F57}"/>
              </a:ext>
            </a:extLst>
          </p:cNvPr>
          <p:cNvSpPr>
            <a:spLocks noGrp="1"/>
          </p:cNvSpPr>
          <p:nvPr/>
        </p:nvSpPr>
        <p:spPr>
          <a:xfrm>
            <a:off x="8096250" y="4895850"/>
            <a:ext cx="3000375" cy="266700"/>
          </a:xfrm>
          <a:prstGeom prst="rect">
            <a:avLst/>
          </a:prstGeom>
          <a:noFill/>
          <a:ln w="0">
            <a:noFill/>
            <a:prstDash val="solid"/>
          </a:ln>
        </p:spPr>
        <p:txBody>
          <a:bodyPr wrap="square" lIns="66675" tIns="47625" rIns="66675" bIns="47625" anchor="t">
            <a:normAutofit fontScale="67024"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detection_events · evidence · review</a:t>
            </a:r>
          </a:p>
        </p:txBody>
      </p:sp>
      <p:cxnSp>
        <p:nvCxnSpPr>
          <p:cNvPr id="57" name="Straight Arrow Connector 56"/>
          <p:cNvCxnSpPr>
            <a:cxnSpLocks/>
            <a:stCxn id="9" idx="2"/>
          </p:cNvCxnSpPr>
          <p:nvPr/>
        </p:nvCxnSpPr>
        <p:spPr>
          <a:xfrm flipH="1">
            <a:off x="4048125" y="2428875"/>
            <a:ext cx="2047875" cy="1952625"/>
          </a:xfrm>
          <a:prstGeom prst="straightConnector1">
            <a:avLst/>
          </a:prstGeom>
          <a:ln w="19050">
            <a:solidFill>
              <a:srgbClr val="B8C8CE"/>
            </a:solidFill>
            <a:prstDash val="solid"/>
            <a:tailEnd type="triangle" w="sm" len="sm"/>
          </a:ln>
        </p:spPr>
      </p:cxnSp>
      <p:cxnSp>
        <p:nvCxnSpPr>
          <p:cNvPr id="58" name="Straight Arrow Connector 57"/>
          <p:cNvCxnSpPr>
            <a:cxnSpLocks/>
            <a:stCxn id="9" idx="2"/>
          </p:cNvCxnSpPr>
          <p:nvPr/>
        </p:nvCxnSpPr>
        <p:spPr>
          <a:xfrm>
            <a:off x="6096000" y="2428875"/>
            <a:ext cx="2000250" cy="2000251"/>
          </a:xfrm>
          <a:prstGeom prst="straightConnector1">
            <a:avLst/>
          </a:prstGeom>
          <a:ln w="19050">
            <a:solidFill>
              <a:srgbClr val="B8C8CE"/>
            </a:solidFill>
            <a:prstDash val="solid"/>
            <a:tailEnd type="triangle" w="sm" len="sm"/>
          </a:ln>
        </p:spPr>
      </p:cxnSp>
      <p:sp>
        <p:nvSpPr>
          <p:cNvPr id="28" name="Rectangle: Rounded Corners 27">
            <a:extLst>
              <a:ext uri="{FF2B5EF4-FFF2-40B4-BE49-F238E27FC236}">
                <a16:creationId xmlns:a16="http://schemas.microsoft.com/office/drawing/2014/main" id="{1C27A79F-0CD2-403C-BD1E-1BDDAB298AC8}"/>
              </a:ext>
            </a:extLst>
          </p:cNvPr>
          <p:cNvSpPr>
            <a:spLocks noGrp="1"/>
          </p:cNvSpPr>
          <p:nvPr/>
        </p:nvSpPr>
        <p:spPr>
          <a:xfrm>
            <a:off x="4667250" y="3429000"/>
            <a:ext cx="2857500" cy="1809750"/>
          </a:xfrm>
          <a:prstGeom prst="roundRect">
            <a:avLst>
              <a:gd name="adj" fmla="val 7368"/>
            </a:avLst>
          </a:prstGeom>
          <a:solidFill>
            <a:srgbClr val="F4F7F8"/>
          </a:solidFill>
          <a:ln w="12383">
            <a:solidFill>
              <a:srgbClr val="B8C8CE"/>
            </a:solidFill>
            <a:prstDash val="solid"/>
          </a:ln>
        </p:spPr>
        <p:txBody>
          <a:bodyPr/>
          <a:lstStyle/>
          <a:p>
            <a:endParaRPr lang="en-US"/>
          </a:p>
        </p:txBody>
      </p:sp>
      <p:sp>
        <p:nvSpPr>
          <p:cNvPr id="29" name="Rectangle 28">
            <a:extLst>
              <a:ext uri="{FF2B5EF4-FFF2-40B4-BE49-F238E27FC236}">
                <a16:creationId xmlns:a16="http://schemas.microsoft.com/office/drawing/2014/main" id="{83207077-2AD7-4C74-B726-8B61912A17F1}"/>
              </a:ext>
            </a:extLst>
          </p:cNvPr>
          <p:cNvSpPr>
            <a:spLocks noGrp="1"/>
          </p:cNvSpPr>
          <p:nvPr/>
        </p:nvSpPr>
        <p:spPr>
          <a:xfrm>
            <a:off x="4953000" y="3667125"/>
            <a:ext cx="2286000" cy="381000"/>
          </a:xfrm>
          <a:prstGeom prst="rect">
            <a:avLst/>
          </a:prstGeom>
          <a:noFill/>
          <a:ln w="0">
            <a:noFill/>
            <a:prstDash val="solid"/>
          </a:ln>
        </p:spPr>
        <p:txBody>
          <a:bodyPr wrap="square" lIns="66675" tIns="47625" rIns="66675" bIns="47625" anchor="t">
            <a:normAutofit fontScale="99206"/>
          </a:bodyPr>
          <a:lstStyle/>
          <a:p>
            <a:pPr algn="ctr">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MYSQL</a:t>
            </a:r>
          </a:p>
        </p:txBody>
      </p:sp>
      <p:sp>
        <p:nvSpPr>
          <p:cNvPr id="30" name="Rectangle 29">
            <a:extLst>
              <a:ext uri="{FF2B5EF4-FFF2-40B4-BE49-F238E27FC236}">
                <a16:creationId xmlns:a16="http://schemas.microsoft.com/office/drawing/2014/main" id="{370B32AA-E2EF-4ABB-9FA6-1C8A21CA6C34}"/>
              </a:ext>
            </a:extLst>
          </p:cNvPr>
          <p:cNvSpPr>
            <a:spLocks noGrp="1"/>
          </p:cNvSpPr>
          <p:nvPr/>
        </p:nvSpPr>
        <p:spPr>
          <a:xfrm>
            <a:off x="4953000" y="4238625"/>
            <a:ext cx="2286000" cy="857250"/>
          </a:xfrm>
          <a:prstGeom prst="rect">
            <a:avLst/>
          </a:prstGeom>
          <a:noFill/>
          <a:ln w="0">
            <a:noFill/>
            <a:prstDash val="solid"/>
          </a:ln>
        </p:spPr>
        <p:txBody>
          <a:bodyPr wrap="square" lIns="66675" tIns="47625" rIns="66675" bIns="47625" anchor="ctr">
            <a:normAutofit fontScale="73638" lnSpcReduction="10000"/>
          </a:bodyPr>
          <a:lstStyle/>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Ràng buộc khóa ngoại</a:t>
            </a:r>
          </a:p>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Quan hệ 1–N / N–N</a:t>
            </a:r>
          </a:p>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Transaction nghiệp vụ</a:t>
            </a:r>
          </a:p>
          <a:p>
            <a:pPr algn="ctr">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Truy vấn theo vai trò</a:t>
            </a:r>
          </a:p>
        </p:txBody>
      </p:sp>
      <p:sp>
        <p:nvSpPr>
          <p:cNvPr id="31" name="Rectangle 30">
            <a:extLst>
              <a:ext uri="{FF2B5EF4-FFF2-40B4-BE49-F238E27FC236}">
                <a16:creationId xmlns:a16="http://schemas.microsoft.com/office/drawing/2014/main" id="{95FD60A7-95C7-4D65-8253-70D19977CE30}"/>
              </a:ext>
            </a:extLst>
          </p:cNvPr>
          <p:cNvSpPr>
            <a:spLocks noGrp="1"/>
          </p:cNvSpPr>
          <p:nvPr/>
        </p:nvSpPr>
        <p:spPr>
          <a:xfrm>
            <a:off x="2095500" y="5810250"/>
            <a:ext cx="8001000" cy="333375"/>
          </a:xfrm>
          <a:prstGeom prst="rect">
            <a:avLst/>
          </a:prstGeom>
          <a:noFill/>
          <a:ln w="0">
            <a:noFill/>
            <a:prstDash val="solid"/>
          </a:ln>
        </p:spPr>
        <p:txBody>
          <a:bodyPr wrap="square" lIns="66675" tIns="47625" rIns="66675" bIns="47625" anchor="t">
            <a:normAutofit fontScale="63531" lnSpcReduction="2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Một phiên giám sát thuộc một chuyến; tài xế và xe được suy ra từ chuyến để tránh dữ liệu mâu thuẫn.</a:t>
            </a:r>
          </a:p>
        </p:txBody>
      </p:sp>
    </p:spTree>
    <p:extLst>
      <p:ext uri="{BB962C8B-B14F-4D97-AF65-F5344CB8AC3E}">
        <p14:creationId xmlns:p14="http://schemas.microsoft.com/office/powerpoint/2010/main" val="429211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25991582-C0CC-474C-9F74-6173F41C7CA9}"/>
              </a:ext>
            </a:extLst>
          </p:cNvPr>
          <p:cNvSpPr>
            <a:spLocks noGrp="1"/>
          </p:cNvSpPr>
          <p:nvPr/>
        </p:nvSpPr>
        <p:spPr>
          <a:xfrm>
            <a:off x="0" y="0"/>
            <a:ext cx="12192000" cy="685800"/>
          </a:xfrm>
          <a:prstGeom prst="rect">
            <a:avLst/>
          </a:prstGeom>
          <a:solidFill>
            <a:srgbClr val="0A2D43"/>
          </a:solidFill>
          <a:ln w="0">
            <a:noFill/>
            <a:prstDash val="solid"/>
          </a:ln>
        </p:spPr>
      </p:sp>
      <p:sp>
        <p:nvSpPr>
          <p:cNvPr id="2" name="Rectangle 1">
            <a:extLst>
              <a:ext uri="{FF2B5EF4-FFF2-40B4-BE49-F238E27FC236}">
                <a16:creationId xmlns:a16="http://schemas.microsoft.com/office/drawing/2014/main" id="{B297230C-8DEF-441F-8884-AAEA9B2A77E3}"/>
              </a:ext>
            </a:extLst>
          </p:cNvPr>
          <p:cNvSpPr>
            <a:spLocks noGrp="1"/>
          </p:cNvSpPr>
          <p:nvPr/>
        </p:nvSpPr>
        <p:spPr>
          <a:xfrm>
            <a:off x="0" y="685800"/>
            <a:ext cx="12192000" cy="47625"/>
          </a:xfrm>
          <a:prstGeom prst="rect">
            <a:avLst/>
          </a:prstGeom>
          <a:solidFill>
            <a:srgbClr val="31A9B8"/>
          </a:solidFill>
          <a:ln w="0">
            <a:noFill/>
            <a:prstDash val="solid"/>
          </a:ln>
        </p:spPr>
      </p:sp>
      <p:sp>
        <p:nvSpPr>
          <p:cNvPr id="3" name="Rectangle 2">
            <a:extLst>
              <a:ext uri="{FF2B5EF4-FFF2-40B4-BE49-F238E27FC236}">
                <a16:creationId xmlns:a16="http://schemas.microsoft.com/office/drawing/2014/main" id="{87259939-55F9-448C-A537-09C699AD2632}"/>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8611"/>
          </a:bodyPr>
          <a:lstStyle/>
          <a:p>
            <a:pPr>
              <a:lnSpc>
                <a:spcPct val="100000"/>
              </a:lnSpc>
              <a:buNone/>
              <a:defRPr b="1">
                <a:solidFill>
                  <a:srgbClr val="BDE5EB"/>
                </a:solidFill>
                <a:latin typeface="Arial"/>
                <a:ea typeface="Arial"/>
                <a:cs typeface="Arial"/>
              </a:defRPr>
            </a:pPr>
            <a:r>
              <a:rPr sz="850" b="1">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25B2A436-DDAB-4142-A1AF-7986141F73DE}"/>
              </a:ext>
            </a:extLst>
          </p:cNvPr>
          <p:cNvSpPr>
            <a:spLocks noGrp="1"/>
          </p:cNvSpPr>
          <p:nvPr/>
        </p:nvSpPr>
        <p:spPr>
          <a:xfrm>
            <a:off x="457200" y="266700"/>
            <a:ext cx="10477500" cy="406400"/>
          </a:xfrm>
          <a:prstGeom prst="rect">
            <a:avLst/>
          </a:prstGeom>
          <a:noFill/>
          <a:ln w="0">
            <a:noFill/>
            <a:prstDash val="solid"/>
          </a:ln>
        </p:spPr>
        <p:txBody>
          <a:bodyPr wrap="square" lIns="0" tIns="0" rIns="0" bIns="0" anchor="ctr">
            <a:normAutofit fontScale="97222"/>
          </a:bodyPr>
          <a:lstStyle/>
          <a:p>
            <a:pPr>
              <a:lnSpc>
                <a:spcPct val="100000"/>
              </a:lnSpc>
              <a:buNone/>
              <a:defRPr b="1">
                <a:solidFill>
                  <a:srgbClr val="FFFFFF"/>
                </a:solidFill>
                <a:latin typeface="Arial"/>
                <a:ea typeface="Arial"/>
                <a:cs typeface="Arial"/>
              </a:defRPr>
            </a:pPr>
            <a:r>
              <a:rPr sz="1600" b="1">
                <a:solidFill>
                  <a:srgbClr val="FFFFFF"/>
                </a:solidFill>
                <a:latin typeface="Arial"/>
                <a:ea typeface="Arial"/>
                <a:cs typeface="Arial"/>
              </a:rPr>
              <a:t>SƠ ĐỒ CƠ SỞ DỮ LIỆU MYSQL</a:t>
            </a:r>
          </a:p>
        </p:txBody>
      </p:sp>
      <p:sp>
        <p:nvSpPr>
          <p:cNvPr id="5" name="Rectangle 4">
            <a:extLst>
              <a:ext uri="{FF2B5EF4-FFF2-40B4-BE49-F238E27FC236}">
                <a16:creationId xmlns:a16="http://schemas.microsoft.com/office/drawing/2014/main" id="{9FF056C7-BC1A-40A0-AAA9-38707841A43F}"/>
              </a:ext>
            </a:extLst>
          </p:cNvPr>
          <p:cNvSpPr>
            <a:spLocks noGrp="1"/>
          </p:cNvSpPr>
          <p:nvPr/>
        </p:nvSpPr>
        <p:spPr>
          <a:xfrm>
            <a:off x="11382375" y="228600"/>
            <a:ext cx="381000" cy="266700"/>
          </a:xfrm>
          <a:prstGeom prst="rect">
            <a:avLst/>
          </a:prstGeom>
          <a:noFill/>
          <a:ln w="0">
            <a:noFill/>
            <a:prstDash val="solid"/>
          </a:ln>
        </p:spPr>
        <p:txBody>
          <a:bodyPr wrap="square" lIns="57150" tIns="38100" rIns="57150" bIns="38100" anchor="ctr">
            <a:normAutofit fontScale="69444"/>
          </a:bodyPr>
          <a:lstStyle/>
          <a:p>
            <a:pPr algn="ctr">
              <a:lnSpc>
                <a:spcPct val="100000"/>
              </a:lnSpc>
              <a:buNone/>
              <a:defRPr b="1">
                <a:solidFill>
                  <a:srgbClr val="FFFFFF"/>
                </a:solidFill>
                <a:latin typeface="Arial"/>
                <a:ea typeface="Arial"/>
                <a:cs typeface="Arial"/>
              </a:defRPr>
            </a:pPr>
            <a:r>
              <a:rPr b="1">
                <a:solidFill>
                  <a:srgbClr val="FFFFFF"/>
                </a:solidFill>
                <a:latin typeface="Arial"/>
                <a:ea typeface="Arial"/>
                <a:cs typeface="Arial"/>
              </a:rPr>
              <a:t>13</a:t>
            </a:r>
          </a:p>
        </p:txBody>
      </p:sp>
      <p:sp>
        <p:nvSpPr>
          <p:cNvPr id="6" name="Rectangle 5">
            <a:extLst>
              <a:ext uri="{FF2B5EF4-FFF2-40B4-BE49-F238E27FC236}">
                <a16:creationId xmlns:a16="http://schemas.microsoft.com/office/drawing/2014/main" id="{561372F2-96BB-47E1-BDFB-92ADC6FAD7C4}"/>
              </a:ext>
            </a:extLst>
          </p:cNvPr>
          <p:cNvSpPr>
            <a:spLocks noGrp="1"/>
          </p:cNvSpPr>
          <p:nvPr/>
        </p:nvSpPr>
        <p:spPr>
          <a:xfrm>
            <a:off x="457200" y="6534150"/>
            <a:ext cx="11277600" cy="14288"/>
          </a:xfrm>
          <a:prstGeom prst="rect">
            <a:avLst/>
          </a:prstGeom>
          <a:solidFill>
            <a:srgbClr val="B8C8CE"/>
          </a:solidFill>
          <a:ln w="0">
            <a:noFill/>
            <a:prstDash val="solid"/>
          </a:ln>
        </p:spPr>
      </p:sp>
      <p:sp>
        <p:nvSpPr>
          <p:cNvPr id="7" name="Rectangle 6">
            <a:extLst>
              <a:ext uri="{FF2B5EF4-FFF2-40B4-BE49-F238E27FC236}">
                <a16:creationId xmlns:a16="http://schemas.microsoft.com/office/drawing/2014/main" id="{A05065F2-2125-43E7-8743-065C8910C9F1}"/>
              </a:ext>
            </a:extLst>
          </p:cNvPr>
          <p:cNvSpPr>
            <a:spLocks noGrp="1"/>
          </p:cNvSpPr>
          <p:nvPr/>
        </p:nvSpPr>
        <p:spPr>
          <a:xfrm>
            <a:off x="457200" y="6572250"/>
            <a:ext cx="2857500" cy="190500"/>
          </a:xfrm>
          <a:prstGeom prst="rect">
            <a:avLst/>
          </a:prstGeom>
          <a:noFill/>
          <a:ln w="0">
            <a:noFill/>
            <a:prstDash val="solid"/>
          </a:ln>
        </p:spPr>
        <p:txBody>
          <a:bodyPr wrap="square" lIns="57150" tIns="38100" rIns="57150" bIns="38100" anchor="ctr">
            <a:normAutofit fontScale="41667"/>
          </a:bodyPr>
          <a:lstStyle/>
          <a:p>
            <a:pPr algn="l">
              <a:lnSpc>
                <a:spcPct val="100000"/>
              </a:lnSpc>
              <a:buNone/>
              <a:defRPr b="1">
                <a:solidFill>
                  <a:srgbClr val="60727B"/>
                </a:solidFill>
                <a:latin typeface="Arial"/>
                <a:ea typeface="Arial"/>
                <a:cs typeface="Arial"/>
              </a:defRPr>
            </a:pPr>
            <a:r>
              <a:rPr b="1">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5521A3FC-D899-467A-9EDB-567D2562B75E}"/>
              </a:ext>
            </a:extLst>
          </p:cNvPr>
          <p:cNvSpPr>
            <a:spLocks noGrp="1"/>
          </p:cNvSpPr>
          <p:nvPr/>
        </p:nvSpPr>
        <p:spPr>
          <a:xfrm>
            <a:off x="8572500" y="6572250"/>
            <a:ext cx="3162300" cy="190500"/>
          </a:xfrm>
          <a:prstGeom prst="rect">
            <a:avLst/>
          </a:prstGeom>
          <a:noFill/>
          <a:ln w="0">
            <a:noFill/>
            <a:prstDash val="solid"/>
          </a:ln>
        </p:spPr>
        <p:txBody>
          <a:bodyPr wrap="square" lIns="57150" tIns="38100" rIns="57150" bIns="38100" anchor="ctr">
            <a:normAutofit fontScale="41667"/>
          </a:bodyPr>
          <a:lstStyle/>
          <a:p>
            <a:pPr algn="r">
              <a:lnSpc>
                <a:spcPct val="100000"/>
              </a:lnSpc>
              <a:buNone/>
              <a:defRPr b="1">
                <a:solidFill>
                  <a:srgbClr val="60727B"/>
                </a:solidFill>
                <a:latin typeface="Arial"/>
                <a:ea typeface="Arial"/>
                <a:cs typeface="Arial"/>
              </a:defRPr>
            </a:pPr>
            <a:r>
              <a:rPr b="1">
                <a:solidFill>
                  <a:srgbClr val="60727B"/>
                </a:solidFill>
                <a:latin typeface="Arial"/>
                <a:ea typeface="Arial"/>
                <a:cs typeface="Arial"/>
              </a:rPr>
              <a:t>DMS · AI · EDGE · FASTAPI · MYSQL</a:t>
            </a:r>
          </a:p>
        </p:txBody>
      </p:sp>
      <p:sp>
        <p:nvSpPr>
          <p:cNvPr id="9" name="Rectangle 8">
            <a:extLst>
              <a:ext uri="{FF2B5EF4-FFF2-40B4-BE49-F238E27FC236}">
                <a16:creationId xmlns:a16="http://schemas.microsoft.com/office/drawing/2014/main" id="{3A9C5B88-A919-4CF6-B8C9-3848DFA30B5C}"/>
              </a:ext>
            </a:extLst>
          </p:cNvPr>
          <p:cNvSpPr>
            <a:spLocks noGrp="1"/>
          </p:cNvSpPr>
          <p:nvPr/>
        </p:nvSpPr>
        <p:spPr>
          <a:xfrm>
            <a:off x="571500" y="838200"/>
            <a:ext cx="7905750" cy="285750"/>
          </a:xfrm>
          <a:prstGeom prst="rect">
            <a:avLst/>
          </a:prstGeom>
          <a:noFill/>
          <a:ln w="0">
            <a:noFill/>
            <a:prstDash val="solid"/>
          </a:ln>
        </p:spPr>
        <p:txBody>
          <a:bodyPr wrap="square" lIns="57150" tIns="38100" rIns="57150" bIns="38100" anchor="ctr">
            <a:normAutofit fontScale="76389"/>
          </a:bodyPr>
          <a:lstStyle/>
          <a:p>
            <a:pPr algn="ctr">
              <a:lnSpc>
                <a:spcPct val="100000"/>
              </a:lnSpc>
              <a:buNone/>
              <a:defRPr b="1">
                <a:solidFill>
                  <a:srgbClr val="176B8A"/>
                </a:solidFill>
                <a:latin typeface="Arial"/>
                <a:ea typeface="Arial"/>
                <a:cs typeface="Arial"/>
              </a:defRPr>
            </a:pPr>
            <a:r>
              <a:rPr b="1">
                <a:solidFill>
                  <a:srgbClr val="176B8A"/>
                </a:solidFill>
                <a:latin typeface="Arial"/>
                <a:ea typeface="Arial"/>
                <a:cs typeface="Arial"/>
              </a:rPr>
              <a:t>Quan hệ dữ liệu tập trung quanh chuyến đi và phiên giám sát</a:t>
            </a:r>
          </a:p>
        </p:txBody>
      </p:sp>
      <p:sp>
        <p:nvSpPr>
          <p:cNvPr id="10" name="Rectangle: Rounded Corners 9">
            <a:extLst>
              <a:ext uri="{FF2B5EF4-FFF2-40B4-BE49-F238E27FC236}">
                <a16:creationId xmlns:a16="http://schemas.microsoft.com/office/drawing/2014/main" id="{BA0B4B92-E37F-4C76-AF5F-623C786BEEDB}"/>
              </a:ext>
            </a:extLst>
          </p:cNvPr>
          <p:cNvSpPr>
            <a:spLocks noGrp="1"/>
          </p:cNvSpPr>
          <p:nvPr/>
        </p:nvSpPr>
        <p:spPr>
          <a:xfrm>
            <a:off x="619125" y="1257300"/>
            <a:ext cx="1714500" cy="533400"/>
          </a:xfrm>
          <a:prstGeom prst="roundRect">
            <a:avLst>
              <a:gd name="adj" fmla="val 14286"/>
            </a:avLst>
          </a:prstGeom>
          <a:solidFill>
            <a:srgbClr val="EEF4F7"/>
          </a:solidFill>
          <a:ln w="14288">
            <a:solidFill>
              <a:srgbClr val="33566F"/>
            </a:solidFill>
            <a:prstDash val="solid"/>
          </a:ln>
        </p:spPr>
      </p:sp>
      <p:sp>
        <p:nvSpPr>
          <p:cNvPr id="11" name="Rectangle 10">
            <a:extLst>
              <a:ext uri="{FF2B5EF4-FFF2-40B4-BE49-F238E27FC236}">
                <a16:creationId xmlns:a16="http://schemas.microsoft.com/office/drawing/2014/main" id="{6703C74F-B030-4C78-9358-FEC9D7E8501B}"/>
              </a:ext>
            </a:extLst>
          </p:cNvPr>
          <p:cNvSpPr>
            <a:spLocks noGrp="1"/>
          </p:cNvSpPr>
          <p:nvPr/>
        </p:nvSpPr>
        <p:spPr>
          <a:xfrm>
            <a:off x="619125" y="1257300"/>
            <a:ext cx="1714500"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app_users</a:t>
            </a:r>
          </a:p>
        </p:txBody>
      </p:sp>
      <p:sp>
        <p:nvSpPr>
          <p:cNvPr id="12" name="Rectangle: Rounded Corners 11">
            <a:extLst>
              <a:ext uri="{FF2B5EF4-FFF2-40B4-BE49-F238E27FC236}">
                <a16:creationId xmlns:a16="http://schemas.microsoft.com/office/drawing/2014/main" id="{A87E9C76-2855-48D1-94D3-848A62576B07}"/>
              </a:ext>
            </a:extLst>
          </p:cNvPr>
          <p:cNvSpPr>
            <a:spLocks noGrp="1"/>
          </p:cNvSpPr>
          <p:nvPr/>
        </p:nvSpPr>
        <p:spPr>
          <a:xfrm>
            <a:off x="3667125" y="1257300"/>
            <a:ext cx="2381250" cy="533400"/>
          </a:xfrm>
          <a:prstGeom prst="roundRect">
            <a:avLst>
              <a:gd name="adj" fmla="val 14286"/>
            </a:avLst>
          </a:prstGeom>
          <a:solidFill>
            <a:srgbClr val="F6F8F9"/>
          </a:solidFill>
          <a:ln w="14288">
            <a:solidFill>
              <a:srgbClr val="78909C"/>
            </a:solidFill>
            <a:prstDash val="solid"/>
          </a:ln>
        </p:spPr>
      </p:sp>
      <p:sp>
        <p:nvSpPr>
          <p:cNvPr id="13" name="Rectangle 12">
            <a:extLst>
              <a:ext uri="{FF2B5EF4-FFF2-40B4-BE49-F238E27FC236}">
                <a16:creationId xmlns:a16="http://schemas.microsoft.com/office/drawing/2014/main" id="{49C6342C-6675-4C39-9905-50E24A7AAEE5}"/>
              </a:ext>
            </a:extLst>
          </p:cNvPr>
          <p:cNvSpPr>
            <a:spLocks noGrp="1"/>
          </p:cNvSpPr>
          <p:nvPr/>
        </p:nvSpPr>
        <p:spPr>
          <a:xfrm>
            <a:off x="3667125" y="1257300"/>
            <a:ext cx="2381250" cy="533400"/>
          </a:xfrm>
          <a:prstGeom prst="rect">
            <a:avLst/>
          </a:prstGeom>
          <a:noFill/>
          <a:ln w="0">
            <a:noFill/>
            <a:prstDash val="solid"/>
          </a:ln>
        </p:spPr>
        <p:txBody>
          <a:bodyPr wrap="square" lIns="47625" tIns="19050" rIns="47625" bIns="19050" anchor="ctr">
            <a:normAutofit fontScale="90278"/>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driver_vehicle_</a:t>
            </a:r>
          </a:p>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assignments</a:t>
            </a:r>
          </a:p>
        </p:txBody>
      </p:sp>
      <p:sp>
        <p:nvSpPr>
          <p:cNvPr id="14" name="Rectangle: Rounded Corners 13">
            <a:extLst>
              <a:ext uri="{FF2B5EF4-FFF2-40B4-BE49-F238E27FC236}">
                <a16:creationId xmlns:a16="http://schemas.microsoft.com/office/drawing/2014/main" id="{CC0C9327-B24E-43A7-AE36-41447CEB6F8E}"/>
              </a:ext>
            </a:extLst>
          </p:cNvPr>
          <p:cNvSpPr>
            <a:spLocks noGrp="1"/>
          </p:cNvSpPr>
          <p:nvPr/>
        </p:nvSpPr>
        <p:spPr>
          <a:xfrm>
            <a:off x="619125" y="2457450"/>
            <a:ext cx="1714500" cy="533400"/>
          </a:xfrm>
          <a:prstGeom prst="roundRect">
            <a:avLst>
              <a:gd name="adj" fmla="val 14286"/>
            </a:avLst>
          </a:prstGeom>
          <a:solidFill>
            <a:srgbClr val="EEF4F7"/>
          </a:solidFill>
          <a:ln w="14288">
            <a:solidFill>
              <a:srgbClr val="33566F"/>
            </a:solidFill>
            <a:prstDash val="solid"/>
          </a:ln>
        </p:spPr>
      </p:sp>
      <p:sp>
        <p:nvSpPr>
          <p:cNvPr id="15" name="Rectangle 14">
            <a:extLst>
              <a:ext uri="{FF2B5EF4-FFF2-40B4-BE49-F238E27FC236}">
                <a16:creationId xmlns:a16="http://schemas.microsoft.com/office/drawing/2014/main" id="{535C1252-AF08-4189-926F-CC40969E33C2}"/>
              </a:ext>
            </a:extLst>
          </p:cNvPr>
          <p:cNvSpPr>
            <a:spLocks noGrp="1"/>
          </p:cNvSpPr>
          <p:nvPr/>
        </p:nvSpPr>
        <p:spPr>
          <a:xfrm>
            <a:off x="619125" y="2457450"/>
            <a:ext cx="1714500"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drivers</a:t>
            </a:r>
          </a:p>
        </p:txBody>
      </p:sp>
      <p:sp>
        <p:nvSpPr>
          <p:cNvPr id="16" name="Rectangle: Rounded Corners 15">
            <a:extLst>
              <a:ext uri="{FF2B5EF4-FFF2-40B4-BE49-F238E27FC236}">
                <a16:creationId xmlns:a16="http://schemas.microsoft.com/office/drawing/2014/main" id="{38FAEE2B-8272-438F-BB52-B55309C943DA}"/>
              </a:ext>
            </a:extLst>
          </p:cNvPr>
          <p:cNvSpPr>
            <a:spLocks noGrp="1"/>
          </p:cNvSpPr>
          <p:nvPr/>
        </p:nvSpPr>
        <p:spPr>
          <a:xfrm>
            <a:off x="3667125" y="2457450"/>
            <a:ext cx="1905000" cy="533400"/>
          </a:xfrm>
          <a:prstGeom prst="roundRect">
            <a:avLst>
              <a:gd name="adj" fmla="val 14286"/>
            </a:avLst>
          </a:prstGeom>
          <a:solidFill>
            <a:srgbClr val="E4F3F1"/>
          </a:solidFill>
          <a:ln w="20955">
            <a:solidFill>
              <a:srgbClr val="138B87"/>
            </a:solidFill>
            <a:prstDash val="solid"/>
          </a:ln>
        </p:spPr>
      </p:sp>
      <p:sp>
        <p:nvSpPr>
          <p:cNvPr id="17" name="Rectangle 16">
            <a:extLst>
              <a:ext uri="{FF2B5EF4-FFF2-40B4-BE49-F238E27FC236}">
                <a16:creationId xmlns:a16="http://schemas.microsoft.com/office/drawing/2014/main" id="{836FF271-6897-4524-8656-DC071ABEEBA8}"/>
              </a:ext>
            </a:extLst>
          </p:cNvPr>
          <p:cNvSpPr>
            <a:spLocks noGrp="1"/>
          </p:cNvSpPr>
          <p:nvPr/>
        </p:nvSpPr>
        <p:spPr>
          <a:xfrm>
            <a:off x="3667125" y="2457450"/>
            <a:ext cx="66675" cy="533400"/>
          </a:xfrm>
          <a:prstGeom prst="rect">
            <a:avLst/>
          </a:prstGeom>
          <a:solidFill>
            <a:srgbClr val="138B87"/>
          </a:solidFill>
          <a:ln w="0">
            <a:noFill/>
            <a:prstDash val="solid"/>
          </a:ln>
        </p:spPr>
      </p:sp>
      <p:sp>
        <p:nvSpPr>
          <p:cNvPr id="18" name="Rectangle 17">
            <a:extLst>
              <a:ext uri="{FF2B5EF4-FFF2-40B4-BE49-F238E27FC236}">
                <a16:creationId xmlns:a16="http://schemas.microsoft.com/office/drawing/2014/main" id="{7090A5AB-808D-4122-99AD-629DBB28B7CA}"/>
              </a:ext>
            </a:extLst>
          </p:cNvPr>
          <p:cNvSpPr>
            <a:spLocks noGrp="1"/>
          </p:cNvSpPr>
          <p:nvPr/>
        </p:nvSpPr>
        <p:spPr>
          <a:xfrm>
            <a:off x="3762375" y="2457450"/>
            <a:ext cx="1809750" cy="533400"/>
          </a:xfrm>
          <a:prstGeom prst="rect">
            <a:avLst/>
          </a:prstGeom>
          <a:noFill/>
          <a:ln w="0">
            <a:noFill/>
            <a:prstDash val="solid"/>
          </a:ln>
        </p:spPr>
        <p:txBody>
          <a:bodyPr wrap="square" lIns="47625" tIns="19050" rIns="47625" bIns="19050" anchor="ctr">
            <a:normAutofit/>
          </a:bodyPr>
          <a:lstStyle/>
          <a:p>
            <a:pPr algn="ctr">
              <a:lnSpc>
                <a:spcPct val="100000"/>
              </a:lnSpc>
              <a:buNone/>
              <a:defRPr b="1">
                <a:solidFill>
                  <a:srgbClr val="16303D"/>
                </a:solidFill>
                <a:latin typeface="Arial"/>
                <a:ea typeface="Arial"/>
                <a:cs typeface="Arial"/>
              </a:defRPr>
            </a:pPr>
            <a:r>
              <a:rPr b="1">
                <a:solidFill>
                  <a:srgbClr val="16303D"/>
                </a:solidFill>
                <a:latin typeface="Arial"/>
                <a:ea typeface="Arial"/>
                <a:cs typeface="Arial"/>
              </a:rPr>
              <a:t>trips</a:t>
            </a:r>
          </a:p>
        </p:txBody>
      </p:sp>
      <p:sp>
        <p:nvSpPr>
          <p:cNvPr id="19" name="Rectangle: Rounded Corners 18">
            <a:extLst>
              <a:ext uri="{FF2B5EF4-FFF2-40B4-BE49-F238E27FC236}">
                <a16:creationId xmlns:a16="http://schemas.microsoft.com/office/drawing/2014/main" id="{6DB0E5C7-DDE0-404E-99D0-534DC81CDE40}"/>
              </a:ext>
            </a:extLst>
          </p:cNvPr>
          <p:cNvSpPr>
            <a:spLocks noGrp="1"/>
          </p:cNvSpPr>
          <p:nvPr/>
        </p:nvSpPr>
        <p:spPr>
          <a:xfrm>
            <a:off x="6715125" y="2457450"/>
            <a:ext cx="1714500" cy="533400"/>
          </a:xfrm>
          <a:prstGeom prst="roundRect">
            <a:avLst>
              <a:gd name="adj" fmla="val 14286"/>
            </a:avLst>
          </a:prstGeom>
          <a:solidFill>
            <a:srgbClr val="EEF4F7"/>
          </a:solidFill>
          <a:ln w="14288">
            <a:solidFill>
              <a:srgbClr val="33566F"/>
            </a:solidFill>
            <a:prstDash val="solid"/>
          </a:ln>
        </p:spPr>
      </p:sp>
      <p:sp>
        <p:nvSpPr>
          <p:cNvPr id="20" name="Rectangle 19">
            <a:extLst>
              <a:ext uri="{FF2B5EF4-FFF2-40B4-BE49-F238E27FC236}">
                <a16:creationId xmlns:a16="http://schemas.microsoft.com/office/drawing/2014/main" id="{E1D0204B-18D4-425D-B027-848CB2E41AB3}"/>
              </a:ext>
            </a:extLst>
          </p:cNvPr>
          <p:cNvSpPr>
            <a:spLocks noGrp="1"/>
          </p:cNvSpPr>
          <p:nvPr/>
        </p:nvSpPr>
        <p:spPr>
          <a:xfrm>
            <a:off x="6715125" y="2457450"/>
            <a:ext cx="1714500"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vehicles</a:t>
            </a:r>
          </a:p>
        </p:txBody>
      </p:sp>
      <p:sp>
        <p:nvSpPr>
          <p:cNvPr id="21" name="Rectangle: Rounded Corners 20">
            <a:extLst>
              <a:ext uri="{FF2B5EF4-FFF2-40B4-BE49-F238E27FC236}">
                <a16:creationId xmlns:a16="http://schemas.microsoft.com/office/drawing/2014/main" id="{20BC01C8-EAEA-4F12-82B5-D881681D1CE4}"/>
              </a:ext>
            </a:extLst>
          </p:cNvPr>
          <p:cNvSpPr>
            <a:spLocks noGrp="1"/>
          </p:cNvSpPr>
          <p:nvPr/>
        </p:nvSpPr>
        <p:spPr>
          <a:xfrm>
            <a:off x="619125" y="3810000"/>
            <a:ext cx="2000250" cy="533400"/>
          </a:xfrm>
          <a:prstGeom prst="roundRect">
            <a:avLst>
              <a:gd name="adj" fmla="val 14286"/>
            </a:avLst>
          </a:prstGeom>
          <a:solidFill>
            <a:srgbClr val="EEF4F7"/>
          </a:solidFill>
          <a:ln w="14288">
            <a:solidFill>
              <a:srgbClr val="33566F"/>
            </a:solidFill>
            <a:prstDash val="solid"/>
          </a:ln>
        </p:spPr>
      </p:sp>
      <p:sp>
        <p:nvSpPr>
          <p:cNvPr id="22" name="Rectangle 21">
            <a:extLst>
              <a:ext uri="{FF2B5EF4-FFF2-40B4-BE49-F238E27FC236}">
                <a16:creationId xmlns:a16="http://schemas.microsoft.com/office/drawing/2014/main" id="{5B7016A1-3FBA-4047-9F62-DF784E77B612}"/>
              </a:ext>
            </a:extLst>
          </p:cNvPr>
          <p:cNvSpPr>
            <a:spLocks noGrp="1"/>
          </p:cNvSpPr>
          <p:nvPr/>
        </p:nvSpPr>
        <p:spPr>
          <a:xfrm>
            <a:off x="619125" y="3810000"/>
            <a:ext cx="2000250"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routes</a:t>
            </a:r>
          </a:p>
        </p:txBody>
      </p:sp>
      <p:sp>
        <p:nvSpPr>
          <p:cNvPr id="23" name="Rectangle: Rounded Corners 22">
            <a:extLst>
              <a:ext uri="{FF2B5EF4-FFF2-40B4-BE49-F238E27FC236}">
                <a16:creationId xmlns:a16="http://schemas.microsoft.com/office/drawing/2014/main" id="{0D2FE1A5-66BB-4F13-AD21-F1E77CADCC4E}"/>
              </a:ext>
            </a:extLst>
          </p:cNvPr>
          <p:cNvSpPr>
            <a:spLocks noGrp="1"/>
          </p:cNvSpPr>
          <p:nvPr/>
        </p:nvSpPr>
        <p:spPr>
          <a:xfrm>
            <a:off x="3286125" y="3810000"/>
            <a:ext cx="2667000" cy="533400"/>
          </a:xfrm>
          <a:prstGeom prst="roundRect">
            <a:avLst>
              <a:gd name="adj" fmla="val 14286"/>
            </a:avLst>
          </a:prstGeom>
          <a:solidFill>
            <a:srgbClr val="E4F3F1"/>
          </a:solidFill>
          <a:ln w="20955">
            <a:solidFill>
              <a:srgbClr val="138B87"/>
            </a:solidFill>
            <a:prstDash val="solid"/>
          </a:ln>
        </p:spPr>
      </p:sp>
      <p:sp>
        <p:nvSpPr>
          <p:cNvPr id="24" name="Rectangle 23">
            <a:extLst>
              <a:ext uri="{FF2B5EF4-FFF2-40B4-BE49-F238E27FC236}">
                <a16:creationId xmlns:a16="http://schemas.microsoft.com/office/drawing/2014/main" id="{D12DF137-AFC7-43FA-B433-E15D250A8A84}"/>
              </a:ext>
            </a:extLst>
          </p:cNvPr>
          <p:cNvSpPr>
            <a:spLocks noGrp="1"/>
          </p:cNvSpPr>
          <p:nvPr/>
        </p:nvSpPr>
        <p:spPr>
          <a:xfrm>
            <a:off x="3286125" y="3810000"/>
            <a:ext cx="66675" cy="533400"/>
          </a:xfrm>
          <a:prstGeom prst="rect">
            <a:avLst/>
          </a:prstGeom>
          <a:solidFill>
            <a:srgbClr val="138B87"/>
          </a:solidFill>
          <a:ln w="0">
            <a:noFill/>
            <a:prstDash val="solid"/>
          </a:ln>
        </p:spPr>
      </p:sp>
      <p:sp>
        <p:nvSpPr>
          <p:cNvPr id="25" name="Rectangle 24">
            <a:extLst>
              <a:ext uri="{FF2B5EF4-FFF2-40B4-BE49-F238E27FC236}">
                <a16:creationId xmlns:a16="http://schemas.microsoft.com/office/drawing/2014/main" id="{F96656CC-7C3A-47D2-B2E1-49A1D066E33A}"/>
              </a:ext>
            </a:extLst>
          </p:cNvPr>
          <p:cNvSpPr>
            <a:spLocks noGrp="1"/>
          </p:cNvSpPr>
          <p:nvPr/>
        </p:nvSpPr>
        <p:spPr>
          <a:xfrm>
            <a:off x="3381375" y="3810000"/>
            <a:ext cx="2571750" cy="533400"/>
          </a:xfrm>
          <a:prstGeom prst="rect">
            <a:avLst/>
          </a:prstGeom>
          <a:noFill/>
          <a:ln w="0">
            <a:noFill/>
            <a:prstDash val="solid"/>
          </a:ln>
        </p:spPr>
        <p:txBody>
          <a:bodyPr wrap="square" lIns="47625" tIns="19050" rIns="47625" bIns="19050" anchor="ctr">
            <a:normAutofit/>
          </a:bodyPr>
          <a:lstStyle/>
          <a:p>
            <a:pPr algn="ctr">
              <a:lnSpc>
                <a:spcPct val="100000"/>
              </a:lnSpc>
              <a:buNone/>
              <a:defRPr b="1">
                <a:solidFill>
                  <a:srgbClr val="16303D"/>
                </a:solidFill>
                <a:latin typeface="Arial"/>
                <a:ea typeface="Arial"/>
                <a:cs typeface="Arial"/>
              </a:defRPr>
            </a:pPr>
            <a:r>
              <a:rPr b="1">
                <a:solidFill>
                  <a:srgbClr val="16303D"/>
                </a:solidFill>
                <a:latin typeface="Arial"/>
                <a:ea typeface="Arial"/>
                <a:cs typeface="Arial"/>
              </a:rPr>
              <a:t>monitoring_sessions</a:t>
            </a:r>
          </a:p>
        </p:txBody>
      </p:sp>
      <p:sp>
        <p:nvSpPr>
          <p:cNvPr id="26" name="Rectangle: Rounded Corners 25">
            <a:extLst>
              <a:ext uri="{FF2B5EF4-FFF2-40B4-BE49-F238E27FC236}">
                <a16:creationId xmlns:a16="http://schemas.microsoft.com/office/drawing/2014/main" id="{29B6359D-E316-433E-B9DF-C47355C80F17}"/>
              </a:ext>
            </a:extLst>
          </p:cNvPr>
          <p:cNvSpPr>
            <a:spLocks noGrp="1"/>
          </p:cNvSpPr>
          <p:nvPr/>
        </p:nvSpPr>
        <p:spPr>
          <a:xfrm>
            <a:off x="6715125" y="3810000"/>
            <a:ext cx="1714500" cy="533400"/>
          </a:xfrm>
          <a:prstGeom prst="roundRect">
            <a:avLst>
              <a:gd name="adj" fmla="val 14286"/>
            </a:avLst>
          </a:prstGeom>
          <a:solidFill>
            <a:srgbClr val="EEF4F7"/>
          </a:solidFill>
          <a:ln w="14288">
            <a:solidFill>
              <a:srgbClr val="33566F"/>
            </a:solidFill>
            <a:prstDash val="solid"/>
          </a:ln>
        </p:spPr>
      </p:sp>
      <p:sp>
        <p:nvSpPr>
          <p:cNvPr id="27" name="Rectangle 26">
            <a:extLst>
              <a:ext uri="{FF2B5EF4-FFF2-40B4-BE49-F238E27FC236}">
                <a16:creationId xmlns:a16="http://schemas.microsoft.com/office/drawing/2014/main" id="{7CE2C061-1310-4BEC-AAAA-67A3EF343597}"/>
              </a:ext>
            </a:extLst>
          </p:cNvPr>
          <p:cNvSpPr>
            <a:spLocks noGrp="1"/>
          </p:cNvSpPr>
          <p:nvPr/>
        </p:nvSpPr>
        <p:spPr>
          <a:xfrm>
            <a:off x="6715125" y="3810000"/>
            <a:ext cx="1714500"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edge_devices</a:t>
            </a:r>
          </a:p>
        </p:txBody>
      </p:sp>
      <p:sp>
        <p:nvSpPr>
          <p:cNvPr id="28" name="Rectangle: Rounded Corners 27">
            <a:extLst>
              <a:ext uri="{FF2B5EF4-FFF2-40B4-BE49-F238E27FC236}">
                <a16:creationId xmlns:a16="http://schemas.microsoft.com/office/drawing/2014/main" id="{C2A23F70-CE3F-40B1-A283-3FFA1E99F417}"/>
              </a:ext>
            </a:extLst>
          </p:cNvPr>
          <p:cNvSpPr>
            <a:spLocks noGrp="1"/>
          </p:cNvSpPr>
          <p:nvPr/>
        </p:nvSpPr>
        <p:spPr>
          <a:xfrm>
            <a:off x="523875" y="5219700"/>
            <a:ext cx="1952625" cy="533400"/>
          </a:xfrm>
          <a:prstGeom prst="roundRect">
            <a:avLst>
              <a:gd name="adj" fmla="val 14286"/>
            </a:avLst>
          </a:prstGeom>
          <a:solidFill>
            <a:srgbClr val="EEF4F7"/>
          </a:solidFill>
          <a:ln w="14288">
            <a:solidFill>
              <a:srgbClr val="33566F"/>
            </a:solidFill>
            <a:prstDash val="solid"/>
          </a:ln>
        </p:spPr>
      </p:sp>
      <p:sp>
        <p:nvSpPr>
          <p:cNvPr id="29" name="Rectangle 28">
            <a:extLst>
              <a:ext uri="{FF2B5EF4-FFF2-40B4-BE49-F238E27FC236}">
                <a16:creationId xmlns:a16="http://schemas.microsoft.com/office/drawing/2014/main" id="{57AF140D-7DB6-4B97-AC2C-DB29C3B01817}"/>
              </a:ext>
            </a:extLst>
          </p:cNvPr>
          <p:cNvSpPr>
            <a:spLocks noGrp="1"/>
          </p:cNvSpPr>
          <p:nvPr/>
        </p:nvSpPr>
        <p:spPr>
          <a:xfrm>
            <a:off x="523875" y="5219700"/>
            <a:ext cx="1952625"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vehicle_locations</a:t>
            </a:r>
          </a:p>
        </p:txBody>
      </p:sp>
      <p:sp>
        <p:nvSpPr>
          <p:cNvPr id="30" name="Rectangle: Rounded Corners 29">
            <a:extLst>
              <a:ext uri="{FF2B5EF4-FFF2-40B4-BE49-F238E27FC236}">
                <a16:creationId xmlns:a16="http://schemas.microsoft.com/office/drawing/2014/main" id="{5ED11C73-20A8-49FC-8923-C4A816FA15F6}"/>
              </a:ext>
            </a:extLst>
          </p:cNvPr>
          <p:cNvSpPr>
            <a:spLocks noGrp="1"/>
          </p:cNvSpPr>
          <p:nvPr/>
        </p:nvSpPr>
        <p:spPr>
          <a:xfrm>
            <a:off x="2714625" y="5219700"/>
            <a:ext cx="1952625" cy="533400"/>
          </a:xfrm>
          <a:prstGeom prst="roundRect">
            <a:avLst>
              <a:gd name="adj" fmla="val 14286"/>
            </a:avLst>
          </a:prstGeom>
          <a:solidFill>
            <a:srgbClr val="EEF4F7"/>
          </a:solidFill>
          <a:ln w="14288">
            <a:solidFill>
              <a:srgbClr val="33566F"/>
            </a:solidFill>
            <a:prstDash val="solid"/>
          </a:ln>
        </p:spPr>
      </p:sp>
      <p:sp>
        <p:nvSpPr>
          <p:cNvPr id="31" name="Rectangle 30">
            <a:extLst>
              <a:ext uri="{FF2B5EF4-FFF2-40B4-BE49-F238E27FC236}">
                <a16:creationId xmlns:a16="http://schemas.microsoft.com/office/drawing/2014/main" id="{4770B63B-197A-4A32-9575-FB8E0C9D1F60}"/>
              </a:ext>
            </a:extLst>
          </p:cNvPr>
          <p:cNvSpPr>
            <a:spLocks noGrp="1"/>
          </p:cNvSpPr>
          <p:nvPr/>
        </p:nvSpPr>
        <p:spPr>
          <a:xfrm>
            <a:off x="2714625" y="5219700"/>
            <a:ext cx="1952625"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detection_events</a:t>
            </a:r>
          </a:p>
        </p:txBody>
      </p:sp>
      <p:sp>
        <p:nvSpPr>
          <p:cNvPr id="32" name="Rectangle: Rounded Corners 31">
            <a:extLst>
              <a:ext uri="{FF2B5EF4-FFF2-40B4-BE49-F238E27FC236}">
                <a16:creationId xmlns:a16="http://schemas.microsoft.com/office/drawing/2014/main" id="{D505761C-457C-4E87-AAB1-53AF57B8A265}"/>
              </a:ext>
            </a:extLst>
          </p:cNvPr>
          <p:cNvSpPr>
            <a:spLocks noGrp="1"/>
          </p:cNvSpPr>
          <p:nvPr/>
        </p:nvSpPr>
        <p:spPr>
          <a:xfrm>
            <a:off x="4905375" y="5219700"/>
            <a:ext cx="1952625" cy="533400"/>
          </a:xfrm>
          <a:prstGeom prst="roundRect">
            <a:avLst>
              <a:gd name="adj" fmla="val 14286"/>
            </a:avLst>
          </a:prstGeom>
          <a:solidFill>
            <a:srgbClr val="EEF4F7"/>
          </a:solidFill>
          <a:ln w="14288">
            <a:solidFill>
              <a:srgbClr val="33566F"/>
            </a:solidFill>
            <a:prstDash val="solid"/>
          </a:ln>
        </p:spPr>
      </p:sp>
      <p:sp>
        <p:nvSpPr>
          <p:cNvPr id="33" name="Rectangle 32">
            <a:extLst>
              <a:ext uri="{FF2B5EF4-FFF2-40B4-BE49-F238E27FC236}">
                <a16:creationId xmlns:a16="http://schemas.microsoft.com/office/drawing/2014/main" id="{482FE917-2634-4941-8CC9-E0F2B3205918}"/>
              </a:ext>
            </a:extLst>
          </p:cNvPr>
          <p:cNvSpPr>
            <a:spLocks noGrp="1"/>
          </p:cNvSpPr>
          <p:nvPr/>
        </p:nvSpPr>
        <p:spPr>
          <a:xfrm>
            <a:off x="4905375" y="5219700"/>
            <a:ext cx="1952625" cy="533400"/>
          </a:xfrm>
          <a:prstGeom prst="rect">
            <a:avLst/>
          </a:prstGeom>
          <a:noFill/>
          <a:ln w="0">
            <a:noFill/>
            <a:prstDash val="solid"/>
          </a:ln>
        </p:spPr>
        <p:txBody>
          <a:bodyPr wrap="square" lIns="47625" tIns="19050" rIns="47625" bIns="19050" anchor="ctr">
            <a:normAutofit/>
          </a:bodyPr>
          <a:lstStyle/>
          <a:p>
            <a:pPr algn="ctr">
              <a:lnSpc>
                <a:spcPct val="100000"/>
              </a:lnSpc>
              <a:buNone/>
              <a:defRPr b="0">
                <a:solidFill>
                  <a:srgbClr val="16303D"/>
                </a:solidFill>
                <a:latin typeface="Arial"/>
                <a:ea typeface="Arial"/>
                <a:cs typeface="Arial"/>
              </a:defRPr>
            </a:pPr>
            <a:r>
              <a:rPr b="0">
                <a:solidFill>
                  <a:srgbClr val="16303D"/>
                </a:solidFill>
                <a:latin typeface="Arial"/>
                <a:ea typeface="Arial"/>
                <a:cs typeface="Arial"/>
              </a:rPr>
              <a:t>frame_metrics</a:t>
            </a:r>
          </a:p>
        </p:txBody>
      </p:sp>
      <p:cxnSp>
        <p:nvCxnSpPr>
          <p:cNvPr id="105" name="Straight Arrow Connector 104"/>
          <p:cNvCxnSpPr>
            <a:stCxn id="10" idx="2"/>
            <a:endCxn id="14" idx="0"/>
          </p:cNvCxnSpPr>
          <p:nvPr/>
        </p:nvCxnSpPr>
        <p:spPr>
          <a:xfrm>
            <a:off x="1476375" y="1790700"/>
            <a:ext cx="0" cy="666750"/>
          </a:xfrm>
          <a:prstGeom prst="straightConnector1">
            <a:avLst/>
          </a:prstGeom>
          <a:ln w="16193">
            <a:solidFill>
              <a:srgbClr val="33566F"/>
            </a:solidFill>
            <a:prstDash val="solid"/>
          </a:ln>
        </p:spPr>
      </p:cxnSp>
      <p:sp>
        <p:nvSpPr>
          <p:cNvPr id="35" name="Rectangle 34">
            <a:extLst>
              <a:ext uri="{FF2B5EF4-FFF2-40B4-BE49-F238E27FC236}">
                <a16:creationId xmlns:a16="http://schemas.microsoft.com/office/drawing/2014/main" id="{51F1493B-1D93-4060-8FBA-B4329013B14A}"/>
              </a:ext>
            </a:extLst>
          </p:cNvPr>
          <p:cNvSpPr>
            <a:spLocks noGrp="1"/>
          </p:cNvSpPr>
          <p:nvPr/>
        </p:nvSpPr>
        <p:spPr>
          <a:xfrm>
            <a:off x="1143000" y="1952625"/>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N : 1</a:t>
            </a:r>
          </a:p>
        </p:txBody>
      </p:sp>
      <p:cxnSp>
        <p:nvCxnSpPr>
          <p:cNvPr id="107" name="Straight Arrow Connector 106"/>
          <p:cNvCxnSpPr>
            <a:stCxn id="12" idx="2"/>
            <a:endCxn id="14" idx="0"/>
          </p:cNvCxnSpPr>
          <p:nvPr/>
        </p:nvCxnSpPr>
        <p:spPr>
          <a:xfrm flipH="1">
            <a:off x="1476375" y="1790700"/>
            <a:ext cx="3381375" cy="666750"/>
          </a:xfrm>
          <a:prstGeom prst="straightConnector1">
            <a:avLst/>
          </a:prstGeom>
          <a:ln w="16193">
            <a:solidFill>
              <a:srgbClr val="33566F"/>
            </a:solidFill>
            <a:prstDash val="solid"/>
          </a:ln>
        </p:spPr>
      </p:cxnSp>
      <p:sp>
        <p:nvSpPr>
          <p:cNvPr id="37" name="Rectangle 36">
            <a:extLst>
              <a:ext uri="{FF2B5EF4-FFF2-40B4-BE49-F238E27FC236}">
                <a16:creationId xmlns:a16="http://schemas.microsoft.com/office/drawing/2014/main" id="{91BC0B3C-C570-4556-8DF9-00757F7B40CF}"/>
              </a:ext>
            </a:extLst>
          </p:cNvPr>
          <p:cNvSpPr>
            <a:spLocks noGrp="1"/>
          </p:cNvSpPr>
          <p:nvPr/>
        </p:nvSpPr>
        <p:spPr>
          <a:xfrm>
            <a:off x="2733675" y="192405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N : 1</a:t>
            </a:r>
          </a:p>
        </p:txBody>
      </p:sp>
      <p:cxnSp>
        <p:nvCxnSpPr>
          <p:cNvPr id="109" name="Straight Arrow Connector 108"/>
          <p:cNvCxnSpPr>
            <a:stCxn id="12" idx="2"/>
            <a:endCxn id="19" idx="0"/>
          </p:cNvCxnSpPr>
          <p:nvPr/>
        </p:nvCxnSpPr>
        <p:spPr>
          <a:xfrm>
            <a:off x="4857750" y="1790700"/>
            <a:ext cx="2714625" cy="666750"/>
          </a:xfrm>
          <a:prstGeom prst="straightConnector1">
            <a:avLst/>
          </a:prstGeom>
          <a:ln w="16193">
            <a:solidFill>
              <a:srgbClr val="33566F"/>
            </a:solidFill>
            <a:prstDash val="solid"/>
          </a:ln>
        </p:spPr>
      </p:cxnSp>
      <p:sp>
        <p:nvSpPr>
          <p:cNvPr id="39" name="Rectangle 38">
            <a:extLst>
              <a:ext uri="{FF2B5EF4-FFF2-40B4-BE49-F238E27FC236}">
                <a16:creationId xmlns:a16="http://schemas.microsoft.com/office/drawing/2014/main" id="{F63DE74F-5673-48F6-A41A-86C2BA5A89FA}"/>
              </a:ext>
            </a:extLst>
          </p:cNvPr>
          <p:cNvSpPr>
            <a:spLocks noGrp="1"/>
          </p:cNvSpPr>
          <p:nvPr/>
        </p:nvSpPr>
        <p:spPr>
          <a:xfrm>
            <a:off x="6067425" y="192405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N : 1</a:t>
            </a:r>
          </a:p>
        </p:txBody>
      </p:sp>
      <p:cxnSp>
        <p:nvCxnSpPr>
          <p:cNvPr id="111" name="Straight Arrow Connector 110"/>
          <p:cNvCxnSpPr>
            <a:stCxn id="14" idx="3"/>
            <a:endCxn id="16" idx="1"/>
          </p:cNvCxnSpPr>
          <p:nvPr/>
        </p:nvCxnSpPr>
        <p:spPr>
          <a:xfrm>
            <a:off x="2333625" y="2724150"/>
            <a:ext cx="1333500" cy="0"/>
          </a:xfrm>
          <a:prstGeom prst="straightConnector1">
            <a:avLst/>
          </a:prstGeom>
          <a:ln w="16193">
            <a:solidFill>
              <a:srgbClr val="33566F"/>
            </a:solidFill>
            <a:prstDash val="solid"/>
          </a:ln>
        </p:spPr>
      </p:cxnSp>
      <p:sp>
        <p:nvSpPr>
          <p:cNvPr id="41" name="Rectangle 40">
            <a:extLst>
              <a:ext uri="{FF2B5EF4-FFF2-40B4-BE49-F238E27FC236}">
                <a16:creationId xmlns:a16="http://schemas.microsoft.com/office/drawing/2014/main" id="{C295B566-BE0A-4A00-A0C4-20AD52907730}"/>
              </a:ext>
            </a:extLst>
          </p:cNvPr>
          <p:cNvSpPr>
            <a:spLocks noGrp="1"/>
          </p:cNvSpPr>
          <p:nvPr/>
        </p:nvSpPr>
        <p:spPr>
          <a:xfrm>
            <a:off x="2695575" y="2619375"/>
            <a:ext cx="7429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13" name="Straight Arrow Connector 112"/>
          <p:cNvCxnSpPr>
            <a:stCxn id="19" idx="1"/>
            <a:endCxn id="16" idx="3"/>
          </p:cNvCxnSpPr>
          <p:nvPr/>
        </p:nvCxnSpPr>
        <p:spPr>
          <a:xfrm flipH="1">
            <a:off x="5572125" y="2724150"/>
            <a:ext cx="1143000" cy="0"/>
          </a:xfrm>
          <a:prstGeom prst="straightConnector1">
            <a:avLst/>
          </a:prstGeom>
          <a:ln w="16193">
            <a:solidFill>
              <a:srgbClr val="33566F"/>
            </a:solidFill>
            <a:prstDash val="solid"/>
          </a:ln>
        </p:spPr>
      </p:cxnSp>
      <p:sp>
        <p:nvSpPr>
          <p:cNvPr id="43" name="Rectangle 42">
            <a:extLst>
              <a:ext uri="{FF2B5EF4-FFF2-40B4-BE49-F238E27FC236}">
                <a16:creationId xmlns:a16="http://schemas.microsoft.com/office/drawing/2014/main" id="{CF840FC2-3A9B-40C2-A24E-9537A309252D}"/>
              </a:ext>
            </a:extLst>
          </p:cNvPr>
          <p:cNvSpPr>
            <a:spLocks noGrp="1"/>
          </p:cNvSpPr>
          <p:nvPr/>
        </p:nvSpPr>
        <p:spPr>
          <a:xfrm>
            <a:off x="5838825" y="2619375"/>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15" name="Straight Arrow Connector 114"/>
          <p:cNvCxnSpPr>
            <a:stCxn id="21" idx="0"/>
            <a:endCxn id="16" idx="2"/>
          </p:cNvCxnSpPr>
          <p:nvPr/>
        </p:nvCxnSpPr>
        <p:spPr>
          <a:xfrm flipV="1">
            <a:off x="1619250" y="2990850"/>
            <a:ext cx="3000375" cy="819150"/>
          </a:xfrm>
          <a:prstGeom prst="straightConnector1">
            <a:avLst/>
          </a:prstGeom>
          <a:ln w="16193">
            <a:solidFill>
              <a:srgbClr val="33566F"/>
            </a:solidFill>
            <a:prstDash val="solid"/>
          </a:ln>
        </p:spPr>
      </p:cxnSp>
      <p:sp>
        <p:nvSpPr>
          <p:cNvPr id="45" name="Rectangle 44">
            <a:extLst>
              <a:ext uri="{FF2B5EF4-FFF2-40B4-BE49-F238E27FC236}">
                <a16:creationId xmlns:a16="http://schemas.microsoft.com/office/drawing/2014/main" id="{D0CE71C6-DBEF-452B-B2B4-C6C2628257C0}"/>
              </a:ext>
            </a:extLst>
          </p:cNvPr>
          <p:cNvSpPr>
            <a:spLocks noGrp="1"/>
          </p:cNvSpPr>
          <p:nvPr/>
        </p:nvSpPr>
        <p:spPr>
          <a:xfrm>
            <a:off x="2600325" y="331470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17" name="Straight Arrow Connector 116"/>
          <p:cNvCxnSpPr>
            <a:stCxn id="16" idx="2"/>
            <a:endCxn id="23" idx="0"/>
          </p:cNvCxnSpPr>
          <p:nvPr/>
        </p:nvCxnSpPr>
        <p:spPr>
          <a:xfrm>
            <a:off x="4619625" y="2990850"/>
            <a:ext cx="0" cy="819150"/>
          </a:xfrm>
          <a:prstGeom prst="straightConnector1">
            <a:avLst/>
          </a:prstGeom>
          <a:ln w="16193">
            <a:solidFill>
              <a:srgbClr val="33566F"/>
            </a:solidFill>
            <a:prstDash val="solid"/>
          </a:ln>
        </p:spPr>
      </p:cxnSp>
      <p:sp>
        <p:nvSpPr>
          <p:cNvPr id="47" name="Rectangle 46">
            <a:extLst>
              <a:ext uri="{FF2B5EF4-FFF2-40B4-BE49-F238E27FC236}">
                <a16:creationId xmlns:a16="http://schemas.microsoft.com/office/drawing/2014/main" id="{94222042-A7B7-4460-AD9D-025E20B0149C}"/>
              </a:ext>
            </a:extLst>
          </p:cNvPr>
          <p:cNvSpPr>
            <a:spLocks noGrp="1"/>
          </p:cNvSpPr>
          <p:nvPr/>
        </p:nvSpPr>
        <p:spPr>
          <a:xfrm>
            <a:off x="4295775" y="335280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19" name="Straight Arrow Connector 118"/>
          <p:cNvCxnSpPr>
            <a:stCxn id="19" idx="2"/>
            <a:endCxn id="26" idx="0"/>
          </p:cNvCxnSpPr>
          <p:nvPr/>
        </p:nvCxnSpPr>
        <p:spPr>
          <a:xfrm>
            <a:off x="7572375" y="2990850"/>
            <a:ext cx="0" cy="819150"/>
          </a:xfrm>
          <a:prstGeom prst="straightConnector1">
            <a:avLst/>
          </a:prstGeom>
          <a:ln w="16193">
            <a:solidFill>
              <a:srgbClr val="33566F"/>
            </a:solidFill>
            <a:prstDash val="solid"/>
          </a:ln>
        </p:spPr>
      </p:cxnSp>
      <p:sp>
        <p:nvSpPr>
          <p:cNvPr id="49" name="Rectangle 48">
            <a:extLst>
              <a:ext uri="{FF2B5EF4-FFF2-40B4-BE49-F238E27FC236}">
                <a16:creationId xmlns:a16="http://schemas.microsoft.com/office/drawing/2014/main" id="{1354611F-44FE-4238-804F-CB1F913E722E}"/>
              </a:ext>
            </a:extLst>
          </p:cNvPr>
          <p:cNvSpPr>
            <a:spLocks noGrp="1"/>
          </p:cNvSpPr>
          <p:nvPr/>
        </p:nvSpPr>
        <p:spPr>
          <a:xfrm>
            <a:off x="7239000" y="325755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21" name="Straight Arrow Connector 120"/>
          <p:cNvCxnSpPr>
            <a:stCxn id="26" idx="1"/>
            <a:endCxn id="23" idx="3"/>
          </p:cNvCxnSpPr>
          <p:nvPr/>
        </p:nvCxnSpPr>
        <p:spPr>
          <a:xfrm flipH="1">
            <a:off x="5953125" y="4076700"/>
            <a:ext cx="762000" cy="0"/>
          </a:xfrm>
          <a:prstGeom prst="straightConnector1">
            <a:avLst/>
          </a:prstGeom>
          <a:ln w="16193">
            <a:solidFill>
              <a:srgbClr val="33566F"/>
            </a:solidFill>
            <a:prstDash val="solid"/>
          </a:ln>
        </p:spPr>
      </p:cxnSp>
      <p:sp>
        <p:nvSpPr>
          <p:cNvPr id="51" name="Rectangle 50">
            <a:extLst>
              <a:ext uri="{FF2B5EF4-FFF2-40B4-BE49-F238E27FC236}">
                <a16:creationId xmlns:a16="http://schemas.microsoft.com/office/drawing/2014/main" id="{105DB631-8280-44F8-9021-EC5DE119E381}"/>
              </a:ext>
            </a:extLst>
          </p:cNvPr>
          <p:cNvSpPr>
            <a:spLocks noGrp="1"/>
          </p:cNvSpPr>
          <p:nvPr/>
        </p:nvSpPr>
        <p:spPr>
          <a:xfrm>
            <a:off x="5924550" y="3971925"/>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23" name="Straight Arrow Connector 122"/>
          <p:cNvCxnSpPr>
            <a:stCxn id="16" idx="2"/>
            <a:endCxn id="28" idx="0"/>
          </p:cNvCxnSpPr>
          <p:nvPr/>
        </p:nvCxnSpPr>
        <p:spPr>
          <a:xfrm flipH="1">
            <a:off x="1500188" y="2990850"/>
            <a:ext cx="3119438" cy="2228850"/>
          </a:xfrm>
          <a:prstGeom prst="straightConnector1">
            <a:avLst/>
          </a:prstGeom>
          <a:ln w="16193">
            <a:solidFill>
              <a:srgbClr val="33566F"/>
            </a:solidFill>
            <a:prstDash val="solid"/>
          </a:ln>
        </p:spPr>
      </p:cxnSp>
      <p:sp>
        <p:nvSpPr>
          <p:cNvPr id="53" name="Rectangle 52">
            <a:extLst>
              <a:ext uri="{FF2B5EF4-FFF2-40B4-BE49-F238E27FC236}">
                <a16:creationId xmlns:a16="http://schemas.microsoft.com/office/drawing/2014/main" id="{DFCB73FF-5837-499A-8E1B-A4C5F4D4187D}"/>
              </a:ext>
            </a:extLst>
          </p:cNvPr>
          <p:cNvSpPr>
            <a:spLocks noGrp="1"/>
          </p:cNvSpPr>
          <p:nvPr/>
        </p:nvSpPr>
        <p:spPr>
          <a:xfrm>
            <a:off x="2305050" y="449580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25" name="Straight Arrow Connector 124"/>
          <p:cNvCxnSpPr>
            <a:stCxn id="23" idx="2"/>
            <a:endCxn id="30" idx="0"/>
          </p:cNvCxnSpPr>
          <p:nvPr/>
        </p:nvCxnSpPr>
        <p:spPr>
          <a:xfrm flipH="1">
            <a:off x="3690938" y="4343400"/>
            <a:ext cx="928688" cy="876300"/>
          </a:xfrm>
          <a:prstGeom prst="straightConnector1">
            <a:avLst/>
          </a:prstGeom>
          <a:ln w="16193">
            <a:solidFill>
              <a:srgbClr val="33566F"/>
            </a:solidFill>
            <a:prstDash val="solid"/>
          </a:ln>
        </p:spPr>
      </p:cxnSp>
      <p:sp>
        <p:nvSpPr>
          <p:cNvPr id="55" name="Rectangle 54">
            <a:extLst>
              <a:ext uri="{FF2B5EF4-FFF2-40B4-BE49-F238E27FC236}">
                <a16:creationId xmlns:a16="http://schemas.microsoft.com/office/drawing/2014/main" id="{EFA5A764-C8CE-4C88-BFF5-F1AA837D5A8C}"/>
              </a:ext>
            </a:extLst>
          </p:cNvPr>
          <p:cNvSpPr>
            <a:spLocks noGrp="1"/>
          </p:cNvSpPr>
          <p:nvPr/>
        </p:nvSpPr>
        <p:spPr>
          <a:xfrm>
            <a:off x="3419475" y="478155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cxnSp>
        <p:nvCxnSpPr>
          <p:cNvPr id="127" name="Straight Arrow Connector 126"/>
          <p:cNvCxnSpPr>
            <a:stCxn id="23" idx="2"/>
            <a:endCxn id="32" idx="0"/>
          </p:cNvCxnSpPr>
          <p:nvPr/>
        </p:nvCxnSpPr>
        <p:spPr>
          <a:xfrm>
            <a:off x="4619625" y="4343400"/>
            <a:ext cx="1262063" cy="876300"/>
          </a:xfrm>
          <a:prstGeom prst="straightConnector1">
            <a:avLst/>
          </a:prstGeom>
          <a:ln w="16193">
            <a:solidFill>
              <a:srgbClr val="33566F"/>
            </a:solidFill>
            <a:prstDash val="solid"/>
          </a:ln>
        </p:spPr>
      </p:cxnSp>
      <p:sp>
        <p:nvSpPr>
          <p:cNvPr id="57" name="Rectangle 56">
            <a:extLst>
              <a:ext uri="{FF2B5EF4-FFF2-40B4-BE49-F238E27FC236}">
                <a16:creationId xmlns:a16="http://schemas.microsoft.com/office/drawing/2014/main" id="{C7C1C3A8-53F1-4EFE-82A3-2BAA15E3D7B4}"/>
              </a:ext>
            </a:extLst>
          </p:cNvPr>
          <p:cNvSpPr>
            <a:spLocks noGrp="1"/>
          </p:cNvSpPr>
          <p:nvPr/>
        </p:nvSpPr>
        <p:spPr>
          <a:xfrm>
            <a:off x="5467350" y="4781550"/>
            <a:ext cx="666750" cy="209550"/>
          </a:xfrm>
          <a:prstGeom prst="rect">
            <a:avLst/>
          </a:prstGeom>
          <a:solidFill>
            <a:srgbClr val="FFFFFF"/>
          </a:solidFill>
          <a:ln w="0">
            <a:noFill/>
            <a:prstDash val="solid"/>
          </a:ln>
        </p:spPr>
        <p:txBody>
          <a:bodyPr wrap="square" lIns="19050" tIns="0" rIns="19050" bIns="0" anchor="ctr">
            <a:normAutofit fontScale="76389"/>
          </a:bodyPr>
          <a:lstStyle/>
          <a:p>
            <a:pPr algn="ctr">
              <a:lnSpc>
                <a:spcPct val="100000"/>
              </a:lnSpc>
              <a:buNone/>
              <a:defRPr b="1">
                <a:solidFill>
                  <a:srgbClr val="33566F"/>
                </a:solidFill>
                <a:latin typeface="Arial"/>
                <a:ea typeface="Arial"/>
                <a:cs typeface="Arial"/>
              </a:defRPr>
            </a:pPr>
            <a:r>
              <a:rPr b="1">
                <a:solidFill>
                  <a:srgbClr val="33566F"/>
                </a:solidFill>
                <a:latin typeface="Arial"/>
                <a:ea typeface="Arial"/>
                <a:cs typeface="Arial"/>
              </a:rPr>
              <a:t>1 : N</a:t>
            </a:r>
          </a:p>
        </p:txBody>
      </p:sp>
      <p:sp>
        <p:nvSpPr>
          <p:cNvPr id="58" name="Rectangle: Rounded Corners 57">
            <a:extLst>
              <a:ext uri="{FF2B5EF4-FFF2-40B4-BE49-F238E27FC236}">
                <a16:creationId xmlns:a16="http://schemas.microsoft.com/office/drawing/2014/main" id="{95C0CCEC-C936-4A7C-B644-1DDE3976751F}"/>
              </a:ext>
            </a:extLst>
          </p:cNvPr>
          <p:cNvSpPr>
            <a:spLocks noGrp="1"/>
          </p:cNvSpPr>
          <p:nvPr/>
        </p:nvSpPr>
        <p:spPr>
          <a:xfrm>
            <a:off x="8953500" y="1104900"/>
            <a:ext cx="2781300" cy="5067300"/>
          </a:xfrm>
          <a:prstGeom prst="roundRect">
            <a:avLst>
              <a:gd name="adj" fmla="val 6164"/>
            </a:avLst>
          </a:prstGeom>
          <a:solidFill>
            <a:srgbClr val="0A2D43"/>
          </a:solidFill>
          <a:ln w="0">
            <a:noFill/>
            <a:prstDash val="solid"/>
          </a:ln>
        </p:spPr>
      </p:sp>
      <p:sp>
        <p:nvSpPr>
          <p:cNvPr id="59" name="Rectangle 58">
            <a:extLst>
              <a:ext uri="{FF2B5EF4-FFF2-40B4-BE49-F238E27FC236}">
                <a16:creationId xmlns:a16="http://schemas.microsoft.com/office/drawing/2014/main" id="{1C66D9F9-BA56-4488-8815-064E3FC52061}"/>
              </a:ext>
            </a:extLst>
          </p:cNvPr>
          <p:cNvSpPr>
            <a:spLocks noGrp="1"/>
          </p:cNvSpPr>
          <p:nvPr/>
        </p:nvSpPr>
        <p:spPr>
          <a:xfrm>
            <a:off x="9210675" y="1371600"/>
            <a:ext cx="2266950" cy="590550"/>
          </a:xfrm>
          <a:prstGeom prst="rect">
            <a:avLst/>
          </a:prstGeom>
          <a:noFill/>
          <a:ln w="0">
            <a:noFill/>
            <a:prstDash val="solid"/>
          </a:ln>
        </p:spPr>
        <p:txBody>
          <a:bodyPr wrap="square" lIns="57150" tIns="38100" rIns="57150" bIns="38100" anchor="ctr">
            <a:normAutofit fontScale="93750"/>
          </a:bodyPr>
          <a:lstStyle/>
          <a:p>
            <a:pPr algn="ctr">
              <a:lnSpc>
                <a:spcPct val="100000"/>
              </a:lnSpc>
              <a:buNone/>
              <a:defRPr b="1">
                <a:solidFill>
                  <a:srgbClr val="55CDD5"/>
                </a:solidFill>
                <a:latin typeface="Arial"/>
                <a:ea typeface="Arial"/>
                <a:cs typeface="Arial"/>
              </a:defRPr>
            </a:pPr>
            <a:r>
              <a:rPr b="1">
                <a:solidFill>
                  <a:srgbClr val="55CDD5"/>
                </a:solidFill>
                <a:latin typeface="Arial"/>
                <a:ea typeface="Arial"/>
                <a:cs typeface="Arial"/>
              </a:rPr>
              <a:t>CÁC QUAN HỆ CHÍNH</a:t>
            </a:r>
          </a:p>
        </p:txBody>
      </p:sp>
      <p:sp>
        <p:nvSpPr>
          <p:cNvPr id="60" name="Oval 59">
            <a:extLst>
              <a:ext uri="{FF2B5EF4-FFF2-40B4-BE49-F238E27FC236}">
                <a16:creationId xmlns:a16="http://schemas.microsoft.com/office/drawing/2014/main" id="{3750BFB5-2C42-4ECA-AD1C-0F54F91DCC72}"/>
              </a:ext>
            </a:extLst>
          </p:cNvPr>
          <p:cNvSpPr>
            <a:spLocks noGrp="1"/>
          </p:cNvSpPr>
          <p:nvPr/>
        </p:nvSpPr>
        <p:spPr>
          <a:xfrm>
            <a:off x="9163050" y="2152650"/>
            <a:ext cx="457200" cy="457200"/>
          </a:xfrm>
          <a:prstGeom prst="ellipse">
            <a:avLst/>
          </a:prstGeom>
          <a:solidFill>
            <a:srgbClr val="138B87"/>
          </a:solidFill>
          <a:ln w="0">
            <a:noFill/>
            <a:prstDash val="solid"/>
          </a:ln>
        </p:spPr>
      </p:sp>
      <p:sp>
        <p:nvSpPr>
          <p:cNvPr id="61" name="Rectangle 60">
            <a:extLst>
              <a:ext uri="{FF2B5EF4-FFF2-40B4-BE49-F238E27FC236}">
                <a16:creationId xmlns:a16="http://schemas.microsoft.com/office/drawing/2014/main" id="{0AC03971-E32E-48AE-8E5B-A11389C2C415}"/>
              </a:ext>
            </a:extLst>
          </p:cNvPr>
          <p:cNvSpPr>
            <a:spLocks noGrp="1"/>
          </p:cNvSpPr>
          <p:nvPr/>
        </p:nvSpPr>
        <p:spPr>
          <a:xfrm>
            <a:off x="9163050" y="2152650"/>
            <a:ext cx="457200" cy="457200"/>
          </a:xfrm>
          <a:prstGeom prst="rect">
            <a:avLst/>
          </a:prstGeom>
          <a:noFill/>
          <a:ln w="0">
            <a:noFill/>
            <a:prstDash val="solid"/>
          </a:ln>
        </p:spPr>
        <p:txBody>
          <a:bodyPr wrap="square" lIns="0" tIns="0" rIns="0" bIns="0" anchor="ctr">
            <a:normAutofit/>
          </a:bodyPr>
          <a:lstStyle/>
          <a:p>
            <a:pPr algn="ctr">
              <a:lnSpc>
                <a:spcPct val="100000"/>
              </a:lnSpc>
              <a:buNone/>
              <a:defRPr b="1">
                <a:solidFill>
                  <a:srgbClr val="FFFFFF"/>
                </a:solidFill>
                <a:latin typeface="Arial"/>
                <a:ea typeface="Arial"/>
                <a:cs typeface="Arial"/>
              </a:defRPr>
            </a:pPr>
            <a:r>
              <a:rPr b="1">
                <a:solidFill>
                  <a:srgbClr val="FFFFFF"/>
                </a:solidFill>
                <a:latin typeface="Arial"/>
                <a:ea typeface="Arial"/>
                <a:cs typeface="Arial"/>
              </a:rPr>
              <a:t>01</a:t>
            </a:r>
          </a:p>
        </p:txBody>
      </p:sp>
      <p:sp>
        <p:nvSpPr>
          <p:cNvPr id="62" name="Rectangle 61">
            <a:extLst>
              <a:ext uri="{FF2B5EF4-FFF2-40B4-BE49-F238E27FC236}">
                <a16:creationId xmlns:a16="http://schemas.microsoft.com/office/drawing/2014/main" id="{E01B4633-0818-4981-9616-B77DC1CDD8F0}"/>
              </a:ext>
            </a:extLst>
          </p:cNvPr>
          <p:cNvSpPr>
            <a:spLocks noGrp="1"/>
          </p:cNvSpPr>
          <p:nvPr/>
        </p:nvSpPr>
        <p:spPr>
          <a:xfrm>
            <a:off x="9772650" y="2133600"/>
            <a:ext cx="1666875" cy="266700"/>
          </a:xfrm>
          <a:prstGeom prst="rect">
            <a:avLst/>
          </a:prstGeom>
          <a:noFill/>
          <a:ln w="0">
            <a:noFill/>
            <a:prstDash val="solid"/>
          </a:ln>
        </p:spPr>
        <p:txBody>
          <a:bodyPr wrap="square" lIns="57150" tIns="38100" rIns="57150" bIns="38100" anchor="ctr">
            <a:normAutofit fontScale="69444"/>
          </a:bodyPr>
          <a:lstStyle/>
          <a:p>
            <a:pPr algn="l">
              <a:lnSpc>
                <a:spcPct val="100000"/>
              </a:lnSpc>
              <a:buNone/>
              <a:defRPr b="1">
                <a:solidFill>
                  <a:srgbClr val="FFFFFF"/>
                </a:solidFill>
                <a:latin typeface="Arial"/>
                <a:ea typeface="Arial"/>
                <a:cs typeface="Arial"/>
              </a:defRPr>
            </a:pPr>
            <a:r>
              <a:rPr b="1">
                <a:solidFill>
                  <a:srgbClr val="FFFFFF"/>
                </a:solidFill>
                <a:latin typeface="Arial"/>
                <a:ea typeface="Arial"/>
                <a:cs typeface="Arial"/>
              </a:rPr>
              <a:t>Chuyến đi</a:t>
            </a:r>
          </a:p>
        </p:txBody>
      </p:sp>
      <p:sp>
        <p:nvSpPr>
          <p:cNvPr id="63" name="Rectangle 62">
            <a:extLst>
              <a:ext uri="{FF2B5EF4-FFF2-40B4-BE49-F238E27FC236}">
                <a16:creationId xmlns:a16="http://schemas.microsoft.com/office/drawing/2014/main" id="{F53F54D0-5C5A-4F6C-827C-C924F0A994AD}"/>
              </a:ext>
            </a:extLst>
          </p:cNvPr>
          <p:cNvSpPr>
            <a:spLocks noGrp="1"/>
          </p:cNvSpPr>
          <p:nvPr/>
        </p:nvSpPr>
        <p:spPr>
          <a:xfrm>
            <a:off x="9772650" y="2409825"/>
            <a:ext cx="1657350" cy="647700"/>
          </a:xfrm>
          <a:prstGeom prst="rect">
            <a:avLst/>
          </a:prstGeom>
          <a:noFill/>
          <a:ln w="0">
            <a:noFill/>
            <a:prstDash val="solid"/>
          </a:ln>
        </p:spPr>
        <p:txBody>
          <a:bodyPr wrap="square" lIns="57150" tIns="38100" rIns="57150" bIns="38100" anchor="t">
            <a:normAutofit fontScale="64300"/>
          </a:bodyPr>
          <a:lstStyle/>
          <a:p>
            <a:pPr algn="l">
              <a:lnSpc>
                <a:spcPct val="108000"/>
              </a:lnSpc>
              <a:buNone/>
              <a:defRPr b="0">
                <a:solidFill>
                  <a:srgbClr val="DCE8ED"/>
                </a:solidFill>
                <a:latin typeface="Arial"/>
                <a:ea typeface="Arial"/>
                <a:cs typeface="Arial"/>
              </a:defRPr>
            </a:pPr>
            <a:r>
              <a:rPr b="0">
                <a:solidFill>
                  <a:srgbClr val="DCE8ED"/>
                </a:solidFill>
                <a:latin typeface="Arial"/>
                <a:ea typeface="Arial"/>
                <a:cs typeface="Arial"/>
              </a:rPr>
              <a:t>trips liên kết tài xế, phương tiện và tuyến đường.</a:t>
            </a:r>
          </a:p>
        </p:txBody>
      </p:sp>
      <p:sp>
        <p:nvSpPr>
          <p:cNvPr id="64" name="Oval 63">
            <a:extLst>
              <a:ext uri="{FF2B5EF4-FFF2-40B4-BE49-F238E27FC236}">
                <a16:creationId xmlns:a16="http://schemas.microsoft.com/office/drawing/2014/main" id="{41B7BC9F-2981-43D4-9D2F-43E43728EC9D}"/>
              </a:ext>
            </a:extLst>
          </p:cNvPr>
          <p:cNvSpPr>
            <a:spLocks noGrp="1"/>
          </p:cNvSpPr>
          <p:nvPr/>
        </p:nvSpPr>
        <p:spPr>
          <a:xfrm>
            <a:off x="9163050" y="3371850"/>
            <a:ext cx="457200" cy="457200"/>
          </a:xfrm>
          <a:prstGeom prst="ellipse">
            <a:avLst/>
          </a:prstGeom>
          <a:solidFill>
            <a:srgbClr val="138B87"/>
          </a:solidFill>
          <a:ln w="0">
            <a:noFill/>
            <a:prstDash val="solid"/>
          </a:ln>
        </p:spPr>
      </p:sp>
      <p:sp>
        <p:nvSpPr>
          <p:cNvPr id="65" name="Rectangle 64">
            <a:extLst>
              <a:ext uri="{FF2B5EF4-FFF2-40B4-BE49-F238E27FC236}">
                <a16:creationId xmlns:a16="http://schemas.microsoft.com/office/drawing/2014/main" id="{1EB41242-91E0-44E6-9F4C-35A1D662CAD2}"/>
              </a:ext>
            </a:extLst>
          </p:cNvPr>
          <p:cNvSpPr>
            <a:spLocks noGrp="1"/>
          </p:cNvSpPr>
          <p:nvPr/>
        </p:nvSpPr>
        <p:spPr>
          <a:xfrm>
            <a:off x="9163050" y="3371850"/>
            <a:ext cx="457200" cy="457200"/>
          </a:xfrm>
          <a:prstGeom prst="rect">
            <a:avLst/>
          </a:prstGeom>
          <a:noFill/>
          <a:ln w="0">
            <a:noFill/>
            <a:prstDash val="solid"/>
          </a:ln>
        </p:spPr>
        <p:txBody>
          <a:bodyPr wrap="square" lIns="0" tIns="0" rIns="0" bIns="0" anchor="ctr">
            <a:normAutofit/>
          </a:bodyPr>
          <a:lstStyle/>
          <a:p>
            <a:pPr algn="ctr">
              <a:lnSpc>
                <a:spcPct val="100000"/>
              </a:lnSpc>
              <a:buNone/>
              <a:defRPr b="1">
                <a:solidFill>
                  <a:srgbClr val="FFFFFF"/>
                </a:solidFill>
                <a:latin typeface="Arial"/>
                <a:ea typeface="Arial"/>
                <a:cs typeface="Arial"/>
              </a:defRPr>
            </a:pPr>
            <a:r>
              <a:rPr b="1">
                <a:solidFill>
                  <a:srgbClr val="FFFFFF"/>
                </a:solidFill>
                <a:latin typeface="Arial"/>
                <a:ea typeface="Arial"/>
                <a:cs typeface="Arial"/>
              </a:rPr>
              <a:t>02</a:t>
            </a:r>
          </a:p>
        </p:txBody>
      </p:sp>
      <p:sp>
        <p:nvSpPr>
          <p:cNvPr id="66" name="Rectangle 65">
            <a:extLst>
              <a:ext uri="{FF2B5EF4-FFF2-40B4-BE49-F238E27FC236}">
                <a16:creationId xmlns:a16="http://schemas.microsoft.com/office/drawing/2014/main" id="{FA4DDA45-35AC-47A9-8C2C-F71AD7997283}"/>
              </a:ext>
            </a:extLst>
          </p:cNvPr>
          <p:cNvSpPr>
            <a:spLocks noGrp="1"/>
          </p:cNvSpPr>
          <p:nvPr/>
        </p:nvSpPr>
        <p:spPr>
          <a:xfrm>
            <a:off x="9772650" y="3352800"/>
            <a:ext cx="1666875" cy="266700"/>
          </a:xfrm>
          <a:prstGeom prst="rect">
            <a:avLst/>
          </a:prstGeom>
          <a:noFill/>
          <a:ln w="0">
            <a:noFill/>
            <a:prstDash val="solid"/>
          </a:ln>
        </p:spPr>
        <p:txBody>
          <a:bodyPr wrap="square" lIns="57150" tIns="38100" rIns="57150" bIns="38100" anchor="ctr">
            <a:normAutofit fontScale="69444"/>
          </a:bodyPr>
          <a:lstStyle/>
          <a:p>
            <a:pPr algn="l">
              <a:lnSpc>
                <a:spcPct val="100000"/>
              </a:lnSpc>
              <a:buNone/>
              <a:defRPr b="1">
                <a:solidFill>
                  <a:srgbClr val="FFFFFF"/>
                </a:solidFill>
                <a:latin typeface="Arial"/>
                <a:ea typeface="Arial"/>
                <a:cs typeface="Arial"/>
              </a:defRPr>
            </a:pPr>
            <a:r>
              <a:rPr b="1">
                <a:solidFill>
                  <a:srgbClr val="FFFFFF"/>
                </a:solidFill>
                <a:latin typeface="Arial"/>
                <a:ea typeface="Arial"/>
                <a:cs typeface="Arial"/>
              </a:rPr>
              <a:t>Phiên giám sát</a:t>
            </a:r>
          </a:p>
        </p:txBody>
      </p:sp>
      <p:sp>
        <p:nvSpPr>
          <p:cNvPr id="67" name="Rectangle 66">
            <a:extLst>
              <a:ext uri="{FF2B5EF4-FFF2-40B4-BE49-F238E27FC236}">
                <a16:creationId xmlns:a16="http://schemas.microsoft.com/office/drawing/2014/main" id="{61D61582-F2F6-41EF-A355-2F2E8A71E3A2}"/>
              </a:ext>
            </a:extLst>
          </p:cNvPr>
          <p:cNvSpPr>
            <a:spLocks noGrp="1"/>
          </p:cNvSpPr>
          <p:nvPr/>
        </p:nvSpPr>
        <p:spPr>
          <a:xfrm>
            <a:off x="9772650" y="3629025"/>
            <a:ext cx="1657350" cy="647700"/>
          </a:xfrm>
          <a:prstGeom prst="rect">
            <a:avLst/>
          </a:prstGeom>
          <a:noFill/>
          <a:ln w="0">
            <a:noFill/>
            <a:prstDash val="solid"/>
          </a:ln>
        </p:spPr>
        <p:txBody>
          <a:bodyPr wrap="square" lIns="57150" tIns="38100" rIns="57150" bIns="38100" anchor="t">
            <a:normAutofit fontScale="64300"/>
          </a:bodyPr>
          <a:lstStyle/>
          <a:p>
            <a:pPr algn="l">
              <a:lnSpc>
                <a:spcPct val="108000"/>
              </a:lnSpc>
              <a:buNone/>
              <a:defRPr b="0">
                <a:solidFill>
                  <a:srgbClr val="DCE8ED"/>
                </a:solidFill>
                <a:latin typeface="Arial"/>
                <a:ea typeface="Arial"/>
                <a:cs typeface="Arial"/>
              </a:defRPr>
            </a:pPr>
            <a:r>
              <a:rPr b="0">
                <a:solidFill>
                  <a:srgbClr val="DCE8ED"/>
                </a:solidFill>
                <a:latin typeface="Arial"/>
                <a:ea typeface="Arial"/>
                <a:cs typeface="Arial"/>
              </a:rPr>
              <a:t>Mỗi phiên tham chiếu một chuyến và một thiết bị Edge.</a:t>
            </a:r>
          </a:p>
        </p:txBody>
      </p:sp>
      <p:sp>
        <p:nvSpPr>
          <p:cNvPr id="68" name="Oval 67">
            <a:extLst>
              <a:ext uri="{FF2B5EF4-FFF2-40B4-BE49-F238E27FC236}">
                <a16:creationId xmlns:a16="http://schemas.microsoft.com/office/drawing/2014/main" id="{0622E683-6F80-4261-A68B-DDC06A243968}"/>
              </a:ext>
            </a:extLst>
          </p:cNvPr>
          <p:cNvSpPr>
            <a:spLocks noGrp="1"/>
          </p:cNvSpPr>
          <p:nvPr/>
        </p:nvSpPr>
        <p:spPr>
          <a:xfrm>
            <a:off x="9163050" y="4591050"/>
            <a:ext cx="457200" cy="457200"/>
          </a:xfrm>
          <a:prstGeom prst="ellipse">
            <a:avLst/>
          </a:prstGeom>
          <a:solidFill>
            <a:srgbClr val="E54B4B"/>
          </a:solidFill>
          <a:ln w="0">
            <a:noFill/>
            <a:prstDash val="solid"/>
          </a:ln>
        </p:spPr>
      </p:sp>
      <p:sp>
        <p:nvSpPr>
          <p:cNvPr id="69" name="Rectangle 68">
            <a:extLst>
              <a:ext uri="{FF2B5EF4-FFF2-40B4-BE49-F238E27FC236}">
                <a16:creationId xmlns:a16="http://schemas.microsoft.com/office/drawing/2014/main" id="{A7082B16-5CA4-4F72-B26A-CB62BE2192C5}"/>
              </a:ext>
            </a:extLst>
          </p:cNvPr>
          <p:cNvSpPr>
            <a:spLocks noGrp="1"/>
          </p:cNvSpPr>
          <p:nvPr/>
        </p:nvSpPr>
        <p:spPr>
          <a:xfrm>
            <a:off x="9163050" y="4591050"/>
            <a:ext cx="457200" cy="457200"/>
          </a:xfrm>
          <a:prstGeom prst="rect">
            <a:avLst/>
          </a:prstGeom>
          <a:noFill/>
          <a:ln w="0">
            <a:noFill/>
            <a:prstDash val="solid"/>
          </a:ln>
        </p:spPr>
        <p:txBody>
          <a:bodyPr wrap="square" lIns="0" tIns="0" rIns="0" bIns="0" anchor="ctr">
            <a:normAutofit/>
          </a:bodyPr>
          <a:lstStyle/>
          <a:p>
            <a:pPr algn="ctr">
              <a:lnSpc>
                <a:spcPct val="100000"/>
              </a:lnSpc>
              <a:buNone/>
              <a:defRPr b="1">
                <a:solidFill>
                  <a:srgbClr val="FFFFFF"/>
                </a:solidFill>
                <a:latin typeface="Arial"/>
                <a:ea typeface="Arial"/>
                <a:cs typeface="Arial"/>
              </a:defRPr>
            </a:pPr>
            <a:r>
              <a:rPr b="1">
                <a:solidFill>
                  <a:srgbClr val="FFFFFF"/>
                </a:solidFill>
                <a:latin typeface="Arial"/>
                <a:ea typeface="Arial"/>
                <a:cs typeface="Arial"/>
              </a:rPr>
              <a:t>03</a:t>
            </a:r>
          </a:p>
        </p:txBody>
      </p:sp>
      <p:sp>
        <p:nvSpPr>
          <p:cNvPr id="70" name="Rectangle 69">
            <a:extLst>
              <a:ext uri="{FF2B5EF4-FFF2-40B4-BE49-F238E27FC236}">
                <a16:creationId xmlns:a16="http://schemas.microsoft.com/office/drawing/2014/main" id="{32A9C728-1CAB-48FA-8215-72061A434BA5}"/>
              </a:ext>
            </a:extLst>
          </p:cNvPr>
          <p:cNvSpPr>
            <a:spLocks noGrp="1"/>
          </p:cNvSpPr>
          <p:nvPr/>
        </p:nvSpPr>
        <p:spPr>
          <a:xfrm>
            <a:off x="9772650" y="4572000"/>
            <a:ext cx="1666875" cy="266700"/>
          </a:xfrm>
          <a:prstGeom prst="rect">
            <a:avLst/>
          </a:prstGeom>
          <a:noFill/>
          <a:ln w="0">
            <a:noFill/>
            <a:prstDash val="solid"/>
          </a:ln>
        </p:spPr>
        <p:txBody>
          <a:bodyPr wrap="square" lIns="57150" tIns="38100" rIns="57150" bIns="38100" anchor="ctr">
            <a:normAutofit fontScale="69444"/>
          </a:bodyPr>
          <a:lstStyle/>
          <a:p>
            <a:pPr algn="l">
              <a:lnSpc>
                <a:spcPct val="100000"/>
              </a:lnSpc>
              <a:buNone/>
              <a:defRPr b="1">
                <a:solidFill>
                  <a:srgbClr val="FFFFFF"/>
                </a:solidFill>
                <a:latin typeface="Arial"/>
                <a:ea typeface="Arial"/>
                <a:cs typeface="Arial"/>
              </a:defRPr>
            </a:pPr>
            <a:r>
              <a:rPr b="1">
                <a:solidFill>
                  <a:srgbClr val="FFFFFF"/>
                </a:solidFill>
                <a:latin typeface="Arial"/>
                <a:ea typeface="Arial"/>
                <a:cs typeface="Arial"/>
              </a:rPr>
              <a:t>Dữ liệu phát sinh</a:t>
            </a:r>
          </a:p>
        </p:txBody>
      </p:sp>
      <p:sp>
        <p:nvSpPr>
          <p:cNvPr id="71" name="Rectangle 70">
            <a:extLst>
              <a:ext uri="{FF2B5EF4-FFF2-40B4-BE49-F238E27FC236}">
                <a16:creationId xmlns:a16="http://schemas.microsoft.com/office/drawing/2014/main" id="{84104425-A1C5-4287-8AE4-B5E7BA5ADD10}"/>
              </a:ext>
            </a:extLst>
          </p:cNvPr>
          <p:cNvSpPr>
            <a:spLocks noGrp="1"/>
          </p:cNvSpPr>
          <p:nvPr/>
        </p:nvSpPr>
        <p:spPr>
          <a:xfrm>
            <a:off x="9772650" y="4848225"/>
            <a:ext cx="1657350" cy="647700"/>
          </a:xfrm>
          <a:prstGeom prst="rect">
            <a:avLst/>
          </a:prstGeom>
          <a:noFill/>
          <a:ln w="0">
            <a:noFill/>
            <a:prstDash val="solid"/>
          </a:ln>
        </p:spPr>
        <p:txBody>
          <a:bodyPr wrap="square" lIns="57150" tIns="38100" rIns="57150" bIns="38100" anchor="t">
            <a:normAutofit fontScale="64300"/>
          </a:bodyPr>
          <a:lstStyle/>
          <a:p>
            <a:pPr algn="l">
              <a:lnSpc>
                <a:spcPct val="108000"/>
              </a:lnSpc>
              <a:buNone/>
              <a:defRPr b="0">
                <a:solidFill>
                  <a:srgbClr val="DCE8ED"/>
                </a:solidFill>
                <a:latin typeface="Arial"/>
                <a:ea typeface="Arial"/>
                <a:cs typeface="Arial"/>
              </a:defRPr>
            </a:pPr>
            <a:r>
              <a:rPr b="0">
                <a:solidFill>
                  <a:srgbClr val="DCE8ED"/>
                </a:solidFill>
                <a:latin typeface="Arial"/>
                <a:ea typeface="Arial"/>
                <a:cs typeface="Arial"/>
              </a:rPr>
              <a:t>Vị trí thuộc chuyến; chỉ số và sự kiện thuộc phiên giám sát.</a:t>
            </a:r>
          </a:p>
        </p:txBody>
      </p:sp>
    </p:spTree>
    <p:extLst>
      <p:ext uri="{BB962C8B-B14F-4D97-AF65-F5344CB8AC3E}">
        <p14:creationId xmlns:p14="http://schemas.microsoft.com/office/powerpoint/2010/main" val="1620475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339D5A4-13C1-4731-BF13-CE84107CEF5A}"/>
              </a:ext>
            </a:extLst>
          </p:cNvPr>
          <p:cNvSpPr>
            <a:spLocks noGrp="1"/>
          </p:cNvSpPr>
          <p:nvPr/>
        </p:nvSpPr>
        <p:spPr>
          <a:xfrm>
            <a:off x="0" y="0"/>
            <a:ext cx="12192000" cy="685800"/>
          </a:xfrm>
          <a:prstGeom prst="rect">
            <a:avLst/>
          </a:prstGeom>
          <a:solidFill>
            <a:srgbClr val="0A2D43"/>
          </a:solidFill>
          <a:ln w="0">
            <a:noFill/>
            <a:prstDash val="solid"/>
          </a:ln>
        </p:spPr>
        <p:txBody>
          <a:bodyPr/>
          <a:lstStyle/>
          <a:p>
            <a:endParaRPr lang="en-US"/>
          </a:p>
        </p:txBody>
      </p:sp>
      <p:sp>
        <p:nvSpPr>
          <p:cNvPr id="2" name="Rectangle 1">
            <a:extLst>
              <a:ext uri="{FF2B5EF4-FFF2-40B4-BE49-F238E27FC236}">
                <a16:creationId xmlns:a16="http://schemas.microsoft.com/office/drawing/2014/main" id="{5A909C2C-A84A-4B29-8C5C-7AB1AC761E30}"/>
              </a:ext>
            </a:extLst>
          </p:cNvPr>
          <p:cNvSpPr>
            <a:spLocks noGrp="1"/>
          </p:cNvSpPr>
          <p:nvPr/>
        </p:nvSpPr>
        <p:spPr>
          <a:xfrm>
            <a:off x="0" y="685800"/>
            <a:ext cx="12192000" cy="47625"/>
          </a:xfrm>
          <a:prstGeom prst="rect">
            <a:avLst/>
          </a:prstGeom>
          <a:solidFill>
            <a:srgbClr val="31A9B8"/>
          </a:solidFill>
          <a:ln w="0">
            <a:noFill/>
            <a:prstDash val="solid"/>
          </a:ln>
        </p:spPr>
        <p:txBody>
          <a:bodyPr/>
          <a:lstStyle/>
          <a:p>
            <a:endParaRPr lang="en-US"/>
          </a:p>
        </p:txBody>
      </p:sp>
      <p:sp>
        <p:nvSpPr>
          <p:cNvPr id="3" name="Rectangle 2">
            <a:extLst>
              <a:ext uri="{FF2B5EF4-FFF2-40B4-BE49-F238E27FC236}">
                <a16:creationId xmlns:a16="http://schemas.microsoft.com/office/drawing/2014/main" id="{96075368-83D5-4817-AC75-D770242F9B6B}"/>
              </a:ext>
            </a:extLst>
          </p:cNvPr>
          <p:cNvSpPr>
            <a:spLocks noGrp="1"/>
          </p:cNvSpPr>
          <p:nvPr/>
        </p:nvSpPr>
        <p:spPr>
          <a:xfrm>
            <a:off x="457200" y="88900"/>
            <a:ext cx="3302000" cy="177800"/>
          </a:xfrm>
          <a:prstGeom prst="rect">
            <a:avLst/>
          </a:prstGeom>
          <a:noFill/>
          <a:ln w="0">
            <a:noFill/>
            <a:prstDash val="solid"/>
          </a:ln>
        </p:spPr>
        <p:txBody>
          <a:bodyPr wrap="square" lIns="0" tIns="0" rIns="0" bIns="0" anchor="ctr">
            <a:normAutofit fontScale="47182" lnSpcReduction="10000"/>
          </a:bodyPr>
          <a:lstStyle/>
          <a:p>
            <a:pPr>
              <a:lnSpc>
                <a:spcPct val="105000"/>
              </a:lnSpc>
              <a:buNone/>
              <a:defRPr b="1" i="0">
                <a:solidFill>
                  <a:srgbClr val="BDE5EB"/>
                </a:solidFill>
                <a:latin typeface="Arial"/>
                <a:ea typeface="Arial"/>
                <a:cs typeface="Arial"/>
              </a:defRPr>
            </a:pPr>
            <a:r>
              <a:rPr sz="850" b="1" i="0">
                <a:solidFill>
                  <a:srgbClr val="BDE5EB"/>
                </a:solidFill>
                <a:latin typeface="Arial"/>
                <a:ea typeface="Arial"/>
                <a:cs typeface="Arial"/>
              </a:rPr>
              <a:t>BÁO CÁO ĐỒ ÁN TỐT NGHIỆP</a:t>
            </a:r>
          </a:p>
        </p:txBody>
      </p:sp>
      <p:sp>
        <p:nvSpPr>
          <p:cNvPr id="4" name="Rectangle 3">
            <a:extLst>
              <a:ext uri="{FF2B5EF4-FFF2-40B4-BE49-F238E27FC236}">
                <a16:creationId xmlns:a16="http://schemas.microsoft.com/office/drawing/2014/main" id="{623CC1F6-1E25-4C87-885E-991B9115B7F7}"/>
              </a:ext>
            </a:extLst>
          </p:cNvPr>
          <p:cNvSpPr>
            <a:spLocks noGrp="1"/>
          </p:cNvSpPr>
          <p:nvPr/>
        </p:nvSpPr>
        <p:spPr>
          <a:xfrm>
            <a:off x="457200" y="266699"/>
            <a:ext cx="10477500" cy="406400"/>
          </a:xfrm>
          <a:prstGeom prst="rect">
            <a:avLst/>
          </a:prstGeom>
          <a:noFill/>
          <a:ln w="0">
            <a:noFill/>
            <a:prstDash val="solid"/>
          </a:ln>
        </p:spPr>
        <p:txBody>
          <a:bodyPr wrap="square" lIns="0" tIns="0" rIns="0" bIns="0" anchor="ctr">
            <a:normAutofit fontScale="90172" lnSpcReduction="10000"/>
          </a:bodyPr>
          <a:lstStyle/>
          <a:p>
            <a:pPr>
              <a:lnSpc>
                <a:spcPct val="105000"/>
              </a:lnSpc>
              <a:buNone/>
              <a:defRPr b="1" i="0">
                <a:solidFill>
                  <a:srgbClr val="FFFFFF"/>
                </a:solidFill>
                <a:latin typeface="Arial"/>
                <a:ea typeface="Arial"/>
                <a:cs typeface="Arial"/>
              </a:defRPr>
            </a:pPr>
            <a:r>
              <a:rPr sz="1600" b="1" i="0">
                <a:solidFill>
                  <a:srgbClr val="FFFFFF"/>
                </a:solidFill>
                <a:latin typeface="Arial"/>
                <a:ea typeface="Arial"/>
                <a:cs typeface="Arial"/>
              </a:rPr>
              <a:t>KẾT LUẬN VÀ HƯỚNG PHÁT TRIỂN</a:t>
            </a:r>
          </a:p>
        </p:txBody>
      </p:sp>
      <p:sp>
        <p:nvSpPr>
          <p:cNvPr id="5" name="Rectangle 4">
            <a:extLst>
              <a:ext uri="{FF2B5EF4-FFF2-40B4-BE49-F238E27FC236}">
                <a16:creationId xmlns:a16="http://schemas.microsoft.com/office/drawing/2014/main" id="{69376E80-4D93-44FA-9299-43EF90DC7A68}"/>
              </a:ext>
            </a:extLst>
          </p:cNvPr>
          <p:cNvSpPr>
            <a:spLocks noGrp="1"/>
          </p:cNvSpPr>
          <p:nvPr/>
        </p:nvSpPr>
        <p:spPr>
          <a:xfrm>
            <a:off x="11382375" y="238125"/>
            <a:ext cx="381000" cy="266700"/>
          </a:xfrm>
          <a:prstGeom prst="rect">
            <a:avLst/>
          </a:prstGeom>
          <a:noFill/>
          <a:ln w="0">
            <a:noFill/>
            <a:prstDash val="solid"/>
          </a:ln>
        </p:spPr>
        <p:txBody>
          <a:bodyPr wrap="square" lIns="66675" tIns="47625" rIns="66675" bIns="47625" anchor="ctr">
            <a:normAutofit fontScale="67024" lnSpcReduction="10000"/>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14</a:t>
            </a:r>
            <a:endParaRPr b="1" i="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29B93036-8CC7-4866-BE64-540DC2631971}"/>
              </a:ext>
            </a:extLst>
          </p:cNvPr>
          <p:cNvSpPr>
            <a:spLocks noGrp="1"/>
          </p:cNvSpPr>
          <p:nvPr/>
        </p:nvSpPr>
        <p:spPr>
          <a:xfrm>
            <a:off x="457200" y="6534150"/>
            <a:ext cx="11277600" cy="14288"/>
          </a:xfrm>
          <a:prstGeom prst="rect">
            <a:avLst/>
          </a:prstGeom>
          <a:solidFill>
            <a:srgbClr val="B8C8CE"/>
          </a:solidFill>
          <a:ln w="0">
            <a:noFill/>
            <a:prstDash val="solid"/>
          </a:ln>
        </p:spPr>
        <p:txBody>
          <a:bodyPr/>
          <a:lstStyle/>
          <a:p>
            <a:endParaRPr lang="en-US"/>
          </a:p>
        </p:txBody>
      </p:sp>
      <p:sp>
        <p:nvSpPr>
          <p:cNvPr id="7" name="Rectangle 6">
            <a:extLst>
              <a:ext uri="{FF2B5EF4-FFF2-40B4-BE49-F238E27FC236}">
                <a16:creationId xmlns:a16="http://schemas.microsoft.com/office/drawing/2014/main" id="{8E3805CB-B9EB-497E-BBF8-2FE40EF01D51}"/>
              </a:ext>
            </a:extLst>
          </p:cNvPr>
          <p:cNvSpPr>
            <a:spLocks noGrp="1"/>
          </p:cNvSpPr>
          <p:nvPr/>
        </p:nvSpPr>
        <p:spPr>
          <a:xfrm>
            <a:off x="457200" y="6572250"/>
            <a:ext cx="2857500" cy="190500"/>
          </a:xfrm>
          <a:prstGeom prst="rect">
            <a:avLst/>
          </a:prstGeom>
          <a:noFill/>
          <a:ln w="0">
            <a:noFill/>
            <a:prstDash val="solid"/>
          </a:ln>
        </p:spPr>
        <p:txBody>
          <a:bodyPr wrap="square" lIns="66675" tIns="47625" rIns="66675" bIns="47625" anchor="t">
            <a:normAutofit fontScale="40569" lnSpcReduction="10000"/>
          </a:bodyPr>
          <a:lstStyle/>
          <a:p>
            <a:pPr algn="l">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LÊ HỮU SƠN · 22050058</a:t>
            </a:r>
          </a:p>
        </p:txBody>
      </p:sp>
      <p:sp>
        <p:nvSpPr>
          <p:cNvPr id="8" name="Rectangle 7">
            <a:extLst>
              <a:ext uri="{FF2B5EF4-FFF2-40B4-BE49-F238E27FC236}">
                <a16:creationId xmlns:a16="http://schemas.microsoft.com/office/drawing/2014/main" id="{7266BF32-F3E7-41C7-B117-C7CAE8027254}"/>
              </a:ext>
            </a:extLst>
          </p:cNvPr>
          <p:cNvSpPr>
            <a:spLocks noGrp="1"/>
          </p:cNvSpPr>
          <p:nvPr/>
        </p:nvSpPr>
        <p:spPr>
          <a:xfrm>
            <a:off x="8572500" y="6572250"/>
            <a:ext cx="3162300" cy="190500"/>
          </a:xfrm>
          <a:prstGeom prst="rect">
            <a:avLst/>
          </a:prstGeom>
          <a:noFill/>
          <a:ln w="0">
            <a:noFill/>
            <a:prstDash val="solid"/>
          </a:ln>
        </p:spPr>
        <p:txBody>
          <a:bodyPr wrap="square" lIns="66675" tIns="47625" rIns="66675" bIns="47625" anchor="t">
            <a:normAutofit fontScale="40569" lnSpcReduction="10000"/>
          </a:bodyPr>
          <a:lstStyle/>
          <a:p>
            <a:pPr algn="r">
              <a:lnSpc>
                <a:spcPct val="105000"/>
              </a:lnSpc>
              <a:buNone/>
              <a:defRPr b="1" i="0">
                <a:solidFill>
                  <a:srgbClr val="60727B"/>
                </a:solidFill>
                <a:latin typeface="Arial"/>
                <a:ea typeface="Arial"/>
                <a:cs typeface="Arial"/>
              </a:defRPr>
            </a:pPr>
            <a:r>
              <a:rPr b="1" i="0">
                <a:solidFill>
                  <a:srgbClr val="60727B"/>
                </a:solidFill>
                <a:latin typeface="Arial"/>
                <a:ea typeface="Arial"/>
                <a:cs typeface="Arial"/>
              </a:rPr>
              <a:t>DMS · AI · EDGE · FASTAPI · MYSQL</a:t>
            </a:r>
          </a:p>
        </p:txBody>
      </p:sp>
      <p:sp>
        <p:nvSpPr>
          <p:cNvPr id="9" name="Rectangle 8">
            <a:extLst>
              <a:ext uri="{FF2B5EF4-FFF2-40B4-BE49-F238E27FC236}">
                <a16:creationId xmlns:a16="http://schemas.microsoft.com/office/drawing/2014/main" id="{8C8EE540-57B8-4E34-8327-4B0DDC49E955}"/>
              </a:ext>
            </a:extLst>
          </p:cNvPr>
          <p:cNvSpPr>
            <a:spLocks noGrp="1"/>
          </p:cNvSpPr>
          <p:nvPr/>
        </p:nvSpPr>
        <p:spPr>
          <a:xfrm>
            <a:off x="523875" y="1095375"/>
            <a:ext cx="4762500" cy="342900"/>
          </a:xfrm>
          <a:prstGeom prst="rect">
            <a:avLst/>
          </a:prstGeom>
          <a:noFill/>
          <a:ln w="0">
            <a:noFill/>
            <a:prstDash val="solid"/>
          </a:ln>
        </p:spPr>
        <p:txBody>
          <a:bodyPr wrap="square" lIns="66675" tIns="47625" rIns="66675" bIns="47625" anchor="t">
            <a:normAutofit fontScale="93479" lnSpcReduction="10000"/>
          </a:bodyPr>
          <a:lstStyle/>
          <a:p>
            <a:pPr algn="l">
              <a:lnSpc>
                <a:spcPct val="105000"/>
              </a:lnSpc>
              <a:buNone/>
              <a:defRPr b="1" i="0">
                <a:solidFill>
                  <a:srgbClr val="176B8A"/>
                </a:solidFill>
                <a:latin typeface="Arial"/>
                <a:ea typeface="Arial"/>
                <a:cs typeface="Arial"/>
              </a:defRPr>
            </a:pPr>
            <a:r>
              <a:rPr b="1" i="0">
                <a:solidFill>
                  <a:srgbClr val="176B8A"/>
                </a:solidFill>
                <a:latin typeface="Arial"/>
                <a:ea typeface="Arial"/>
                <a:cs typeface="Arial"/>
              </a:rPr>
              <a:t>Kết quả đã đạt</a:t>
            </a:r>
          </a:p>
        </p:txBody>
      </p:sp>
      <p:sp>
        <p:nvSpPr>
          <p:cNvPr id="10" name="Oval 9">
            <a:extLst>
              <a:ext uri="{FF2B5EF4-FFF2-40B4-BE49-F238E27FC236}">
                <a16:creationId xmlns:a16="http://schemas.microsoft.com/office/drawing/2014/main" id="{EE8CC53A-9F0B-4FB7-9FF9-2962FB1E5279}"/>
              </a:ext>
            </a:extLst>
          </p:cNvPr>
          <p:cNvSpPr>
            <a:spLocks noGrp="1"/>
          </p:cNvSpPr>
          <p:nvPr/>
        </p:nvSpPr>
        <p:spPr>
          <a:xfrm>
            <a:off x="590550" y="1666875"/>
            <a:ext cx="323850" cy="323850"/>
          </a:xfrm>
          <a:prstGeom prst="ellipse">
            <a:avLst/>
          </a:prstGeom>
          <a:solidFill>
            <a:srgbClr val="117C7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7C519BF3-F29E-4379-B254-CD8A8CFDC01A}"/>
              </a:ext>
            </a:extLst>
          </p:cNvPr>
          <p:cNvSpPr>
            <a:spLocks noGrp="1"/>
          </p:cNvSpPr>
          <p:nvPr/>
        </p:nvSpPr>
        <p:spPr>
          <a:xfrm>
            <a:off x="590550" y="1666875"/>
            <a:ext cx="323850" cy="3238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a:t>
            </a:r>
          </a:p>
        </p:txBody>
      </p:sp>
      <p:sp>
        <p:nvSpPr>
          <p:cNvPr id="12" name="Rectangle 11">
            <a:extLst>
              <a:ext uri="{FF2B5EF4-FFF2-40B4-BE49-F238E27FC236}">
                <a16:creationId xmlns:a16="http://schemas.microsoft.com/office/drawing/2014/main" id="{DE18D469-BB43-458E-A5DF-DD13A022E505}"/>
              </a:ext>
            </a:extLst>
          </p:cNvPr>
          <p:cNvSpPr>
            <a:spLocks noGrp="1"/>
          </p:cNvSpPr>
          <p:nvPr/>
        </p:nvSpPr>
        <p:spPr>
          <a:xfrm>
            <a:off x="1066800" y="1600200"/>
            <a:ext cx="4857750" cy="523875"/>
          </a:xfrm>
          <a:prstGeom prst="rect">
            <a:avLst/>
          </a:prstGeom>
          <a:noFill/>
          <a:ln w="0">
            <a:noFill/>
            <a:prstDash val="solid"/>
          </a:ln>
        </p:spPr>
        <p:txBody>
          <a:bodyPr wrap="square" lIns="66675" tIns="47625" rIns="66675" bIns="47625" anchor="ctr">
            <a:normAutofit fontScale="81905"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Tích hợp YOLOv8s, EfficientNet-B0 và LSTM vào pipeline Edge.</a:t>
            </a:r>
          </a:p>
        </p:txBody>
      </p:sp>
      <p:sp>
        <p:nvSpPr>
          <p:cNvPr id="13" name="Oval 12">
            <a:extLst>
              <a:ext uri="{FF2B5EF4-FFF2-40B4-BE49-F238E27FC236}">
                <a16:creationId xmlns:a16="http://schemas.microsoft.com/office/drawing/2014/main" id="{27295A91-8ADB-4D10-AC5D-1779035379AA}"/>
              </a:ext>
            </a:extLst>
          </p:cNvPr>
          <p:cNvSpPr>
            <a:spLocks noGrp="1"/>
          </p:cNvSpPr>
          <p:nvPr/>
        </p:nvSpPr>
        <p:spPr>
          <a:xfrm>
            <a:off x="590550" y="2466975"/>
            <a:ext cx="323850" cy="323850"/>
          </a:xfrm>
          <a:prstGeom prst="ellipse">
            <a:avLst/>
          </a:prstGeom>
          <a:solidFill>
            <a:srgbClr val="117C7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206B3672-2705-4302-A3BA-AC01678A4312}"/>
              </a:ext>
            </a:extLst>
          </p:cNvPr>
          <p:cNvSpPr>
            <a:spLocks noGrp="1"/>
          </p:cNvSpPr>
          <p:nvPr/>
        </p:nvSpPr>
        <p:spPr>
          <a:xfrm>
            <a:off x="590550" y="2466975"/>
            <a:ext cx="323850" cy="3238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a:t>
            </a:r>
          </a:p>
        </p:txBody>
      </p:sp>
      <p:sp>
        <p:nvSpPr>
          <p:cNvPr id="15" name="Rectangle 14">
            <a:extLst>
              <a:ext uri="{FF2B5EF4-FFF2-40B4-BE49-F238E27FC236}">
                <a16:creationId xmlns:a16="http://schemas.microsoft.com/office/drawing/2014/main" id="{AC62A852-9325-4ECD-B29A-A6F1A3F8F41D}"/>
              </a:ext>
            </a:extLst>
          </p:cNvPr>
          <p:cNvSpPr>
            <a:spLocks noGrp="1"/>
          </p:cNvSpPr>
          <p:nvPr/>
        </p:nvSpPr>
        <p:spPr>
          <a:xfrm>
            <a:off x="1066800" y="2400300"/>
            <a:ext cx="4857750" cy="523875"/>
          </a:xfrm>
          <a:prstGeom prst="rect">
            <a:avLst/>
          </a:prstGeom>
          <a:noFill/>
          <a:ln w="0">
            <a:noFill/>
            <a:prstDash val="solid"/>
          </a:ln>
        </p:spPr>
        <p:txBody>
          <a:bodyPr wrap="square" lIns="66675" tIns="47625" rIns="66675" bIns="47625" anchor="ctr">
            <a:normAutofit fontScale="81905"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Xây dựng FastAPI, MySQL, Web Dashboard và Mobile App theo vai trò.</a:t>
            </a:r>
          </a:p>
        </p:txBody>
      </p:sp>
      <p:sp>
        <p:nvSpPr>
          <p:cNvPr id="16" name="Oval 15">
            <a:extLst>
              <a:ext uri="{FF2B5EF4-FFF2-40B4-BE49-F238E27FC236}">
                <a16:creationId xmlns:a16="http://schemas.microsoft.com/office/drawing/2014/main" id="{3BF1AA06-364D-438F-BFF2-F869B1383C0F}"/>
              </a:ext>
            </a:extLst>
          </p:cNvPr>
          <p:cNvSpPr>
            <a:spLocks noGrp="1"/>
          </p:cNvSpPr>
          <p:nvPr/>
        </p:nvSpPr>
        <p:spPr>
          <a:xfrm>
            <a:off x="590550" y="3267075"/>
            <a:ext cx="323850" cy="323850"/>
          </a:xfrm>
          <a:prstGeom prst="ellipse">
            <a:avLst/>
          </a:prstGeom>
          <a:solidFill>
            <a:srgbClr val="117C7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C1FDB232-2C28-4E06-8D72-D70C6CA3F763}"/>
              </a:ext>
            </a:extLst>
          </p:cNvPr>
          <p:cNvSpPr>
            <a:spLocks noGrp="1"/>
          </p:cNvSpPr>
          <p:nvPr/>
        </p:nvSpPr>
        <p:spPr>
          <a:xfrm>
            <a:off x="590550" y="3267075"/>
            <a:ext cx="323850" cy="3238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a:t>
            </a:r>
          </a:p>
        </p:txBody>
      </p:sp>
      <p:sp>
        <p:nvSpPr>
          <p:cNvPr id="18" name="Rectangle 17">
            <a:extLst>
              <a:ext uri="{FF2B5EF4-FFF2-40B4-BE49-F238E27FC236}">
                <a16:creationId xmlns:a16="http://schemas.microsoft.com/office/drawing/2014/main" id="{CA15898E-BF68-4939-BBDA-FB6000C253B6}"/>
              </a:ext>
            </a:extLst>
          </p:cNvPr>
          <p:cNvSpPr>
            <a:spLocks noGrp="1"/>
          </p:cNvSpPr>
          <p:nvPr/>
        </p:nvSpPr>
        <p:spPr>
          <a:xfrm>
            <a:off x="1066800" y="3200400"/>
            <a:ext cx="4857750" cy="523875"/>
          </a:xfrm>
          <a:prstGeom prst="rect">
            <a:avLst/>
          </a:prstGeom>
          <a:noFill/>
          <a:ln w="0">
            <a:noFill/>
            <a:prstDash val="solid"/>
          </a:ln>
        </p:spPr>
        <p:txBody>
          <a:bodyPr wrap="square" lIns="66675" tIns="47625" rIns="66675" bIns="47625" anchor="ctr">
            <a:normAutofit fontScale="81905" lnSpcReduction="2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Cảnh báo realtime tại Edge bằng giọng nói </a:t>
            </a:r>
            <a:r>
              <a:rPr lang="en-US" b="0" i="0">
                <a:solidFill>
                  <a:srgbClr val="16303D"/>
                </a:solidFill>
                <a:latin typeface="Arial"/>
                <a:ea typeface="Arial"/>
                <a:cs typeface="Arial"/>
              </a:rPr>
              <a:t>tiếng Việt </a:t>
            </a:r>
            <a:r>
              <a:rPr b="0" i="0">
                <a:solidFill>
                  <a:srgbClr val="16303D"/>
                </a:solidFill>
                <a:latin typeface="Arial"/>
                <a:ea typeface="Arial"/>
                <a:cs typeface="Arial"/>
              </a:rPr>
              <a:t>và lưu ảnh/clip bằng chứng.</a:t>
            </a:r>
          </a:p>
        </p:txBody>
      </p:sp>
      <p:sp>
        <p:nvSpPr>
          <p:cNvPr id="19" name="Oval 18">
            <a:extLst>
              <a:ext uri="{FF2B5EF4-FFF2-40B4-BE49-F238E27FC236}">
                <a16:creationId xmlns:a16="http://schemas.microsoft.com/office/drawing/2014/main" id="{EDC7C945-4A21-4127-84DE-31CAE52CF3C0}"/>
              </a:ext>
            </a:extLst>
          </p:cNvPr>
          <p:cNvSpPr>
            <a:spLocks noGrp="1"/>
          </p:cNvSpPr>
          <p:nvPr/>
        </p:nvSpPr>
        <p:spPr>
          <a:xfrm>
            <a:off x="590550" y="4067175"/>
            <a:ext cx="323850" cy="323850"/>
          </a:xfrm>
          <a:prstGeom prst="ellipse">
            <a:avLst/>
          </a:prstGeom>
          <a:solidFill>
            <a:srgbClr val="117C7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62050CB2-00DD-45E6-9813-59FB91180F45}"/>
              </a:ext>
            </a:extLst>
          </p:cNvPr>
          <p:cNvSpPr>
            <a:spLocks noGrp="1"/>
          </p:cNvSpPr>
          <p:nvPr/>
        </p:nvSpPr>
        <p:spPr>
          <a:xfrm>
            <a:off x="590550" y="4067175"/>
            <a:ext cx="323850" cy="323850"/>
          </a:xfrm>
          <a:prstGeom prst="rect">
            <a:avLst/>
          </a:prstGeom>
          <a:noFill/>
          <a:ln w="0">
            <a:noFill/>
            <a:prstDash val="solid"/>
          </a:ln>
        </p:spPr>
        <p:txBody>
          <a:bodyPr wrap="square" lIns="0" tIns="0" rIns="0" bIns="0" anchor="ctr">
            <a:normAutofit/>
          </a:bodyPr>
          <a:lstStyle/>
          <a:p>
            <a:pPr algn="ctr">
              <a:lnSpc>
                <a:spcPct val="105000"/>
              </a:lnSpc>
              <a:buNone/>
              <a:defRPr b="1" i="0">
                <a:solidFill>
                  <a:srgbClr val="FFFFFF"/>
                </a:solidFill>
                <a:latin typeface="Arial"/>
                <a:ea typeface="Arial"/>
                <a:cs typeface="Arial"/>
              </a:defRPr>
            </a:pPr>
            <a:r>
              <a:rPr b="1" i="0">
                <a:solidFill>
                  <a:srgbClr val="FFFFFF"/>
                </a:solidFill>
                <a:latin typeface="Arial"/>
                <a:ea typeface="Arial"/>
                <a:cs typeface="Arial"/>
              </a:rPr>
              <a:t>✓</a:t>
            </a:r>
          </a:p>
        </p:txBody>
      </p:sp>
      <p:sp>
        <p:nvSpPr>
          <p:cNvPr id="21" name="Rectangle 20">
            <a:extLst>
              <a:ext uri="{FF2B5EF4-FFF2-40B4-BE49-F238E27FC236}">
                <a16:creationId xmlns:a16="http://schemas.microsoft.com/office/drawing/2014/main" id="{54FF40EB-69EC-427F-AB3A-BA9474F15FC7}"/>
              </a:ext>
            </a:extLst>
          </p:cNvPr>
          <p:cNvSpPr>
            <a:spLocks noGrp="1"/>
          </p:cNvSpPr>
          <p:nvPr/>
        </p:nvSpPr>
        <p:spPr>
          <a:xfrm>
            <a:off x="1066800" y="4000500"/>
            <a:ext cx="4857750" cy="523875"/>
          </a:xfrm>
          <a:prstGeom prst="rect">
            <a:avLst/>
          </a:prstGeom>
          <a:noFill/>
          <a:ln w="0">
            <a:noFill/>
            <a:prstDash val="solid"/>
          </a:ln>
        </p:spPr>
        <p:txBody>
          <a:bodyPr wrap="square" lIns="66675" tIns="47625" rIns="66675" bIns="47625" anchor="ctr">
            <a:normAutofit fontScale="81905" lnSpcReduction="10000"/>
          </a:bodyPr>
          <a:lstStyle/>
          <a:p>
            <a:pPr algn="l">
              <a:lnSpc>
                <a:spcPct val="105000"/>
              </a:lnSpc>
              <a:buNone/>
              <a:defRPr b="0" i="0">
                <a:solidFill>
                  <a:srgbClr val="16303D"/>
                </a:solidFill>
                <a:latin typeface="Arial"/>
                <a:ea typeface="Arial"/>
                <a:cs typeface="Arial"/>
              </a:defRPr>
            </a:pPr>
            <a:r>
              <a:rPr b="0" i="0">
                <a:solidFill>
                  <a:srgbClr val="16303D"/>
                </a:solidFill>
                <a:latin typeface="Arial"/>
                <a:ea typeface="Arial"/>
                <a:cs typeface="Arial"/>
              </a:rPr>
              <a:t>Hoàn thiện quản lý tài xế, xe, thiết bị, tuyến, chuyến, vị trí và vòng đời cảnh báo.</a:t>
            </a:r>
          </a:p>
        </p:txBody>
      </p:sp>
      <p:sp>
        <p:nvSpPr>
          <p:cNvPr id="22" name="Rectangle: Rounded Corners 21">
            <a:extLst>
              <a:ext uri="{FF2B5EF4-FFF2-40B4-BE49-F238E27FC236}">
                <a16:creationId xmlns:a16="http://schemas.microsoft.com/office/drawing/2014/main" id="{F90479C1-5FEC-488A-AD78-56F5D2B4B4E1}"/>
              </a:ext>
            </a:extLst>
          </p:cNvPr>
          <p:cNvSpPr>
            <a:spLocks noGrp="1"/>
          </p:cNvSpPr>
          <p:nvPr/>
        </p:nvSpPr>
        <p:spPr>
          <a:xfrm>
            <a:off x="6572250" y="1095375"/>
            <a:ext cx="5048250" cy="4476750"/>
          </a:xfrm>
          <a:prstGeom prst="roundRect">
            <a:avLst>
              <a:gd name="adj" fmla="val 3830"/>
            </a:avLst>
          </a:prstGeom>
          <a:solidFill>
            <a:srgbClr val="0A2D43"/>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4E18BBCB-67C6-499D-ADB6-4C79D8BE575E}"/>
              </a:ext>
            </a:extLst>
          </p:cNvPr>
          <p:cNvSpPr>
            <a:spLocks noGrp="1"/>
          </p:cNvSpPr>
          <p:nvPr/>
        </p:nvSpPr>
        <p:spPr>
          <a:xfrm>
            <a:off x="6905625" y="1381125"/>
            <a:ext cx="4381500" cy="419100"/>
          </a:xfrm>
          <a:prstGeom prst="rect">
            <a:avLst/>
          </a:prstGeom>
          <a:noFill/>
          <a:ln w="0">
            <a:noFill/>
            <a:prstDash val="solid"/>
          </a:ln>
        </p:spPr>
        <p:txBody>
          <a:bodyPr wrap="square" lIns="66675" tIns="47625" rIns="66675" bIns="47625" anchor="t">
            <a:normAutofit/>
          </a:bodyPr>
          <a:lstStyle/>
          <a:p>
            <a:pPr algn="ctr">
              <a:lnSpc>
                <a:spcPct val="105000"/>
              </a:lnSpc>
              <a:buNone/>
              <a:defRPr b="1" i="0">
                <a:solidFill>
                  <a:srgbClr val="58D0D8"/>
                </a:solidFill>
                <a:latin typeface="Arial"/>
                <a:ea typeface="Arial"/>
                <a:cs typeface="Arial"/>
              </a:defRPr>
            </a:pPr>
            <a:r>
              <a:rPr b="1" i="0">
                <a:solidFill>
                  <a:srgbClr val="58D0D8"/>
                </a:solidFill>
                <a:latin typeface="Arial"/>
                <a:ea typeface="Arial"/>
                <a:cs typeface="Arial"/>
              </a:rPr>
              <a:t>HƯỚNG PHÁT TRIỂN</a:t>
            </a:r>
          </a:p>
        </p:txBody>
      </p:sp>
      <p:sp>
        <p:nvSpPr>
          <p:cNvPr id="24" name="Rectangle: Rounded Corners 23">
            <a:extLst>
              <a:ext uri="{FF2B5EF4-FFF2-40B4-BE49-F238E27FC236}">
                <a16:creationId xmlns:a16="http://schemas.microsoft.com/office/drawing/2014/main" id="{76E493E7-5725-4AAA-AA37-917948889830}"/>
              </a:ext>
            </a:extLst>
          </p:cNvPr>
          <p:cNvSpPr>
            <a:spLocks noGrp="1"/>
          </p:cNvSpPr>
          <p:nvPr/>
        </p:nvSpPr>
        <p:spPr>
          <a:xfrm>
            <a:off x="6953250" y="2095500"/>
            <a:ext cx="552450" cy="323850"/>
          </a:xfrm>
          <a:prstGeom prst="roundRect">
            <a:avLst>
              <a:gd name="adj" fmla="val 50000"/>
            </a:avLst>
          </a:prstGeom>
          <a:solidFill>
            <a:srgbClr val="117C78"/>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1198D853-64D1-42F0-A975-3B225C1E104A}"/>
              </a:ext>
            </a:extLst>
          </p:cNvPr>
          <p:cNvSpPr>
            <a:spLocks noGrp="1"/>
          </p:cNvSpPr>
          <p:nvPr/>
        </p:nvSpPr>
        <p:spPr>
          <a:xfrm>
            <a:off x="6953250" y="2095500"/>
            <a:ext cx="5524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01</a:t>
            </a:r>
            <a:endParaRPr b="1" i="0">
              <a:solidFill>
                <a:srgbClr val="FFFFFF"/>
              </a:solidFill>
              <a:latin typeface="Arial"/>
              <a:ea typeface="Arial"/>
              <a:cs typeface="Arial"/>
            </a:endParaRPr>
          </a:p>
        </p:txBody>
      </p:sp>
      <p:sp>
        <p:nvSpPr>
          <p:cNvPr id="26" name="Rectangle 25">
            <a:extLst>
              <a:ext uri="{FF2B5EF4-FFF2-40B4-BE49-F238E27FC236}">
                <a16:creationId xmlns:a16="http://schemas.microsoft.com/office/drawing/2014/main" id="{41EF2496-D0E8-41FC-BF3A-57E4B94C1341}"/>
              </a:ext>
            </a:extLst>
          </p:cNvPr>
          <p:cNvSpPr>
            <a:spLocks noGrp="1"/>
          </p:cNvSpPr>
          <p:nvPr/>
        </p:nvSpPr>
        <p:spPr>
          <a:xfrm>
            <a:off x="7667625" y="2028825"/>
            <a:ext cx="3429000" cy="5524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Bổ sung dữ liệu đa dạng người, ánh sáng, góc camera và hard negative.</a:t>
            </a:r>
          </a:p>
        </p:txBody>
      </p:sp>
      <p:sp>
        <p:nvSpPr>
          <p:cNvPr id="27" name="Rectangle: Rounded Corners 26">
            <a:extLst>
              <a:ext uri="{FF2B5EF4-FFF2-40B4-BE49-F238E27FC236}">
                <a16:creationId xmlns:a16="http://schemas.microsoft.com/office/drawing/2014/main" id="{B071993E-4A02-450D-8A58-F63E680C0F7E}"/>
              </a:ext>
            </a:extLst>
          </p:cNvPr>
          <p:cNvSpPr>
            <a:spLocks noGrp="1"/>
          </p:cNvSpPr>
          <p:nvPr/>
        </p:nvSpPr>
        <p:spPr>
          <a:xfrm>
            <a:off x="6953250" y="2876550"/>
            <a:ext cx="552450" cy="323850"/>
          </a:xfrm>
          <a:prstGeom prst="roundRect">
            <a:avLst>
              <a:gd name="adj" fmla="val 50000"/>
            </a:avLst>
          </a:prstGeom>
          <a:solidFill>
            <a:srgbClr val="117C78"/>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72567CEA-67CA-415A-8D44-36C48C7F325B}"/>
              </a:ext>
            </a:extLst>
          </p:cNvPr>
          <p:cNvSpPr>
            <a:spLocks noGrp="1"/>
          </p:cNvSpPr>
          <p:nvPr/>
        </p:nvSpPr>
        <p:spPr>
          <a:xfrm>
            <a:off x="6953250" y="2876550"/>
            <a:ext cx="5524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02</a:t>
            </a:r>
            <a:endParaRPr b="1" i="0">
              <a:solidFill>
                <a:srgbClr val="FFFFFF"/>
              </a:solidFill>
              <a:latin typeface="Arial"/>
              <a:ea typeface="Arial"/>
              <a:cs typeface="Arial"/>
            </a:endParaRPr>
          </a:p>
        </p:txBody>
      </p:sp>
      <p:sp>
        <p:nvSpPr>
          <p:cNvPr id="29" name="Rectangle 28">
            <a:extLst>
              <a:ext uri="{FF2B5EF4-FFF2-40B4-BE49-F238E27FC236}">
                <a16:creationId xmlns:a16="http://schemas.microsoft.com/office/drawing/2014/main" id="{3E299AB8-11F0-436F-8544-284B01998A70}"/>
              </a:ext>
            </a:extLst>
          </p:cNvPr>
          <p:cNvSpPr>
            <a:spLocks noGrp="1"/>
          </p:cNvSpPr>
          <p:nvPr/>
        </p:nvSpPr>
        <p:spPr>
          <a:xfrm>
            <a:off x="7667625" y="2809875"/>
            <a:ext cx="3429000" cy="5524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Fine-tune CNN/LSTM và đánh giá lại trên tập test khóa.</a:t>
            </a:r>
          </a:p>
        </p:txBody>
      </p:sp>
      <p:sp>
        <p:nvSpPr>
          <p:cNvPr id="30" name="Rectangle: Rounded Corners 29">
            <a:extLst>
              <a:ext uri="{FF2B5EF4-FFF2-40B4-BE49-F238E27FC236}">
                <a16:creationId xmlns:a16="http://schemas.microsoft.com/office/drawing/2014/main" id="{C045DBD1-2B80-45A0-9331-37EC92C3BAE6}"/>
              </a:ext>
            </a:extLst>
          </p:cNvPr>
          <p:cNvSpPr>
            <a:spLocks noGrp="1"/>
          </p:cNvSpPr>
          <p:nvPr/>
        </p:nvSpPr>
        <p:spPr>
          <a:xfrm>
            <a:off x="6953250" y="3657600"/>
            <a:ext cx="552450" cy="323850"/>
          </a:xfrm>
          <a:prstGeom prst="roundRect">
            <a:avLst>
              <a:gd name="adj" fmla="val 50000"/>
            </a:avLst>
          </a:prstGeom>
          <a:solidFill>
            <a:srgbClr val="117C78"/>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09F96347-C8EF-4D3B-8355-C4B9F83F0E78}"/>
              </a:ext>
            </a:extLst>
          </p:cNvPr>
          <p:cNvSpPr>
            <a:spLocks noGrp="1"/>
          </p:cNvSpPr>
          <p:nvPr/>
        </p:nvSpPr>
        <p:spPr>
          <a:xfrm>
            <a:off x="6953250" y="3657600"/>
            <a:ext cx="5524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03</a:t>
            </a:r>
            <a:endParaRPr b="1" i="0">
              <a:solidFill>
                <a:srgbClr val="FFFFFF"/>
              </a:solidFill>
              <a:latin typeface="Arial"/>
              <a:ea typeface="Arial"/>
              <a:cs typeface="Arial"/>
            </a:endParaRPr>
          </a:p>
        </p:txBody>
      </p:sp>
      <p:sp>
        <p:nvSpPr>
          <p:cNvPr id="32" name="Rectangle 31">
            <a:extLst>
              <a:ext uri="{FF2B5EF4-FFF2-40B4-BE49-F238E27FC236}">
                <a16:creationId xmlns:a16="http://schemas.microsoft.com/office/drawing/2014/main" id="{31D6E7C9-9330-432D-A882-50586E0DD4EE}"/>
              </a:ext>
            </a:extLst>
          </p:cNvPr>
          <p:cNvSpPr>
            <a:spLocks noGrp="1"/>
          </p:cNvSpPr>
          <p:nvPr/>
        </p:nvSpPr>
        <p:spPr>
          <a:xfrm>
            <a:off x="7667625" y="3590925"/>
            <a:ext cx="3429000" cy="5524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Tối ưu FPS, độ trễ và kích thước mô hình cho thiết bị Edge thực.</a:t>
            </a:r>
          </a:p>
        </p:txBody>
      </p:sp>
      <p:sp>
        <p:nvSpPr>
          <p:cNvPr id="33" name="Rectangle: Rounded Corners 32">
            <a:extLst>
              <a:ext uri="{FF2B5EF4-FFF2-40B4-BE49-F238E27FC236}">
                <a16:creationId xmlns:a16="http://schemas.microsoft.com/office/drawing/2014/main" id="{840C7844-931B-4655-8ECE-398598C0D0EF}"/>
              </a:ext>
            </a:extLst>
          </p:cNvPr>
          <p:cNvSpPr>
            <a:spLocks noGrp="1"/>
          </p:cNvSpPr>
          <p:nvPr/>
        </p:nvSpPr>
        <p:spPr>
          <a:xfrm>
            <a:off x="6953250" y="4438650"/>
            <a:ext cx="552450" cy="323850"/>
          </a:xfrm>
          <a:prstGeom prst="roundRect">
            <a:avLst>
              <a:gd name="adj" fmla="val 50000"/>
            </a:avLst>
          </a:prstGeom>
          <a:solidFill>
            <a:srgbClr val="D94C4C"/>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229F4FA2-E3E7-49DB-834E-D723BC9E9E3D}"/>
              </a:ext>
            </a:extLst>
          </p:cNvPr>
          <p:cNvSpPr>
            <a:spLocks noGrp="1"/>
          </p:cNvSpPr>
          <p:nvPr/>
        </p:nvSpPr>
        <p:spPr>
          <a:xfrm>
            <a:off x="6953250" y="4438650"/>
            <a:ext cx="552450" cy="323850"/>
          </a:xfrm>
          <a:prstGeom prst="rect">
            <a:avLst/>
          </a:prstGeom>
          <a:noFill/>
          <a:ln w="0">
            <a:noFill/>
            <a:prstDash val="solid"/>
          </a:ln>
        </p:spPr>
        <p:txBody>
          <a:bodyPr wrap="square" lIns="38100" tIns="0" rIns="38100" bIns="0" anchor="ctr">
            <a:normAutofit/>
          </a:bodyPr>
          <a:lstStyle/>
          <a:p>
            <a:pPr algn="ctr">
              <a:lnSpc>
                <a:spcPct val="105000"/>
              </a:lnSpc>
              <a:buNone/>
              <a:defRPr b="1" i="0">
                <a:solidFill>
                  <a:srgbClr val="FFFFFF"/>
                </a:solidFill>
                <a:latin typeface="Arial"/>
                <a:ea typeface="Arial"/>
                <a:cs typeface="Arial"/>
              </a:defRPr>
            </a:pPr>
            <a:r>
              <a:rPr lang="en-US" b="1" i="0">
                <a:solidFill>
                  <a:srgbClr val="FFFFFF"/>
                </a:solidFill>
                <a:latin typeface="Arial"/>
                <a:ea typeface="Arial"/>
                <a:cs typeface="Arial"/>
              </a:rPr>
              <a:t>04</a:t>
            </a:r>
            <a:endParaRPr b="1" i="0">
              <a:solidFill>
                <a:srgbClr val="FFFFFF"/>
              </a:solidFill>
              <a:latin typeface="Arial"/>
              <a:ea typeface="Arial"/>
              <a:cs typeface="Arial"/>
            </a:endParaRPr>
          </a:p>
        </p:txBody>
      </p:sp>
      <p:sp>
        <p:nvSpPr>
          <p:cNvPr id="35" name="Rectangle 34">
            <a:extLst>
              <a:ext uri="{FF2B5EF4-FFF2-40B4-BE49-F238E27FC236}">
                <a16:creationId xmlns:a16="http://schemas.microsoft.com/office/drawing/2014/main" id="{976D52A7-15F2-400B-ADA5-C7F2D1296004}"/>
              </a:ext>
            </a:extLst>
          </p:cNvPr>
          <p:cNvSpPr>
            <a:spLocks noGrp="1"/>
          </p:cNvSpPr>
          <p:nvPr/>
        </p:nvSpPr>
        <p:spPr>
          <a:xfrm>
            <a:off x="7667625" y="4371975"/>
            <a:ext cx="3429000" cy="552450"/>
          </a:xfrm>
          <a:prstGeom prst="rect">
            <a:avLst/>
          </a:prstGeom>
          <a:noFill/>
          <a:ln w="0">
            <a:noFill/>
            <a:prstDash val="solid"/>
          </a:ln>
        </p:spPr>
        <p:txBody>
          <a:bodyPr wrap="square" lIns="66675" tIns="47625" rIns="66675" bIns="47625" anchor="ctr">
            <a:normAutofit fontScale="86865" lnSpcReduction="20000"/>
          </a:bodyPr>
          <a:lstStyle/>
          <a:p>
            <a:pPr algn="l">
              <a:lnSpc>
                <a:spcPct val="105000"/>
              </a:lnSpc>
              <a:buNone/>
              <a:defRPr b="0" i="0">
                <a:solidFill>
                  <a:srgbClr val="FFFFFF"/>
                </a:solidFill>
                <a:latin typeface="Arial"/>
                <a:ea typeface="Arial"/>
                <a:cs typeface="Arial"/>
              </a:defRPr>
            </a:pPr>
            <a:r>
              <a:rPr b="0" i="0">
                <a:solidFill>
                  <a:srgbClr val="FFFFFF"/>
                </a:solidFill>
                <a:latin typeface="Arial"/>
                <a:ea typeface="Arial"/>
                <a:cs typeface="Arial"/>
              </a:rPr>
              <a:t>Mở rộng hạ tầng triển khai, giám sát và sao lưu khi hệ thống ổn định.</a:t>
            </a:r>
          </a:p>
        </p:txBody>
      </p:sp>
      <p:sp>
        <p:nvSpPr>
          <p:cNvPr id="36" name="Rectangle: Rounded Corners 35">
            <a:extLst>
              <a:ext uri="{FF2B5EF4-FFF2-40B4-BE49-F238E27FC236}">
                <a16:creationId xmlns:a16="http://schemas.microsoft.com/office/drawing/2014/main" id="{1480D5A9-8C42-4A97-9BFF-659AFA90342A}"/>
              </a:ext>
            </a:extLst>
          </p:cNvPr>
          <p:cNvSpPr>
            <a:spLocks noGrp="1"/>
          </p:cNvSpPr>
          <p:nvPr/>
        </p:nvSpPr>
        <p:spPr>
          <a:xfrm>
            <a:off x="2047875" y="5572125"/>
            <a:ext cx="8096250" cy="590550"/>
          </a:xfrm>
          <a:prstGeom prst="roundRect">
            <a:avLst>
              <a:gd name="adj" fmla="val 19355"/>
            </a:avLst>
          </a:prstGeom>
          <a:solidFill>
            <a:srgbClr val="E7F4F1"/>
          </a:solidFill>
          <a:ln w="0">
            <a:noFill/>
            <a:prstDash val="solid"/>
          </a:ln>
        </p:spPr>
        <p:txBody>
          <a:bodyPr/>
          <a:lstStyle/>
          <a:p>
            <a:endParaRPr lang="en-US"/>
          </a:p>
        </p:txBody>
      </p:sp>
      <p:sp>
        <p:nvSpPr>
          <p:cNvPr id="37" name="Rectangle 36">
            <a:extLst>
              <a:ext uri="{FF2B5EF4-FFF2-40B4-BE49-F238E27FC236}">
                <a16:creationId xmlns:a16="http://schemas.microsoft.com/office/drawing/2014/main" id="{4DCD2F9F-82D6-4D03-A201-945D6CD44839}"/>
              </a:ext>
            </a:extLst>
          </p:cNvPr>
          <p:cNvSpPr>
            <a:spLocks noGrp="1"/>
          </p:cNvSpPr>
          <p:nvPr/>
        </p:nvSpPr>
        <p:spPr>
          <a:xfrm>
            <a:off x="1944242" y="5724525"/>
            <a:ext cx="8209408" cy="323850"/>
          </a:xfrm>
          <a:prstGeom prst="rect">
            <a:avLst/>
          </a:prstGeom>
          <a:noFill/>
          <a:ln w="0">
            <a:noFill/>
            <a:prstDash val="solid"/>
          </a:ln>
        </p:spPr>
        <p:txBody>
          <a:bodyPr wrap="square" lIns="66675" tIns="47625" rIns="66675" bIns="47625" anchor="ctr">
            <a:normAutofit fontScale="79319" lnSpcReduction="10000"/>
          </a:bodyPr>
          <a:lstStyle/>
          <a:p>
            <a:pPr algn="ctr">
              <a:lnSpc>
                <a:spcPct val="105000"/>
              </a:lnSpc>
              <a:buNone/>
              <a:defRPr b="1" i="0">
                <a:solidFill>
                  <a:srgbClr val="117C78"/>
                </a:solidFill>
                <a:latin typeface="Arial"/>
                <a:ea typeface="Arial"/>
                <a:cs typeface="Arial"/>
              </a:defRPr>
            </a:pPr>
            <a:r>
              <a:rPr b="1" i="0">
                <a:solidFill>
                  <a:srgbClr val="117C78"/>
                </a:solidFill>
                <a:latin typeface="Arial"/>
                <a:ea typeface="Arial"/>
                <a:cs typeface="Arial"/>
              </a:rPr>
              <a:t>Đồ án chứng minh tính khả thi của kiến trúc giám sát người lái từ Edge đến ứng dụng quản lý.</a:t>
            </a:r>
          </a:p>
        </p:txBody>
      </p:sp>
    </p:spTree>
    <p:extLst>
      <p:ext uri="{BB962C8B-B14F-4D97-AF65-F5344CB8AC3E}">
        <p14:creationId xmlns:p14="http://schemas.microsoft.com/office/powerpoint/2010/main" val="844046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2D43"/>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50A5EB75-F9A4-4FA5-BBC4-CAC31129924A}"/>
              </a:ext>
            </a:extLst>
          </p:cNvPr>
          <p:cNvSpPr>
            <a:spLocks noGrp="1"/>
          </p:cNvSpPr>
          <p:nvPr/>
        </p:nvSpPr>
        <p:spPr>
          <a:xfrm>
            <a:off x="666750" y="762000"/>
            <a:ext cx="1809750" cy="1809750"/>
          </a:xfrm>
          <a:prstGeom prst="ellipse">
            <a:avLst/>
          </a:prstGeom>
          <a:solidFill>
            <a:srgbClr val="103B52"/>
          </a:solidFill>
          <a:ln w="0">
            <a:noFill/>
            <a:prstDash val="solid"/>
          </a:ln>
        </p:spPr>
        <p:txBody>
          <a:bodyPr/>
          <a:lstStyle/>
          <a:p>
            <a:endParaRPr lang="en-US"/>
          </a:p>
        </p:txBody>
      </p:sp>
      <p:sp>
        <p:nvSpPr>
          <p:cNvPr id="2" name="Oval 1">
            <a:extLst>
              <a:ext uri="{FF2B5EF4-FFF2-40B4-BE49-F238E27FC236}">
                <a16:creationId xmlns:a16="http://schemas.microsoft.com/office/drawing/2014/main" id="{331389A1-6AC5-4A84-9AD4-BFB4D178593F}"/>
              </a:ext>
            </a:extLst>
          </p:cNvPr>
          <p:cNvSpPr>
            <a:spLocks noGrp="1"/>
          </p:cNvSpPr>
          <p:nvPr/>
        </p:nvSpPr>
        <p:spPr>
          <a:xfrm>
            <a:off x="9810750" y="4381500"/>
            <a:ext cx="2857500" cy="2857500"/>
          </a:xfrm>
          <a:prstGeom prst="ellipse">
            <a:avLst/>
          </a:prstGeom>
          <a:solidFill>
            <a:srgbClr val="103B52"/>
          </a:solidFill>
          <a:ln w="0">
            <a:noFill/>
            <a:prstDash val="solid"/>
          </a:ln>
        </p:spPr>
        <p:txBody>
          <a:bodyPr/>
          <a:lstStyle/>
          <a:p>
            <a:endParaRPr lang="en-US"/>
          </a:p>
        </p:txBody>
      </p:sp>
      <p:sp>
        <p:nvSpPr>
          <p:cNvPr id="3" name="Rectangle 2">
            <a:extLst>
              <a:ext uri="{FF2B5EF4-FFF2-40B4-BE49-F238E27FC236}">
                <a16:creationId xmlns:a16="http://schemas.microsoft.com/office/drawing/2014/main" id="{3230A253-91BB-4C5E-90BB-276D09017DD6}"/>
              </a:ext>
            </a:extLst>
          </p:cNvPr>
          <p:cNvSpPr>
            <a:spLocks noGrp="1"/>
          </p:cNvSpPr>
          <p:nvPr/>
        </p:nvSpPr>
        <p:spPr>
          <a:xfrm>
            <a:off x="1524000" y="1857375"/>
            <a:ext cx="9144000" cy="66675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FFFFFF"/>
                </a:solidFill>
                <a:latin typeface="Arial"/>
                <a:ea typeface="Arial"/>
                <a:cs typeface="Arial"/>
              </a:defRPr>
            </a:pPr>
            <a:r>
              <a:rPr sz="3600" b="1" i="0">
                <a:solidFill>
                  <a:srgbClr val="FFFFFF"/>
                </a:solidFill>
                <a:latin typeface="Arial"/>
                <a:ea typeface="Arial"/>
                <a:cs typeface="Arial"/>
              </a:rPr>
              <a:t>XIN CẢM ƠN HỘI ĐỒNG</a:t>
            </a:r>
          </a:p>
        </p:txBody>
      </p:sp>
      <p:sp>
        <p:nvSpPr>
          <p:cNvPr id="4" name="Rectangle 3">
            <a:extLst>
              <a:ext uri="{FF2B5EF4-FFF2-40B4-BE49-F238E27FC236}">
                <a16:creationId xmlns:a16="http://schemas.microsoft.com/office/drawing/2014/main" id="{7FB54CC9-EFD1-4B7C-922C-FEE31BDFD7F1}"/>
              </a:ext>
            </a:extLst>
          </p:cNvPr>
          <p:cNvSpPr>
            <a:spLocks noGrp="1"/>
          </p:cNvSpPr>
          <p:nvPr/>
        </p:nvSpPr>
        <p:spPr>
          <a:xfrm>
            <a:off x="3333750" y="2857500"/>
            <a:ext cx="5524500" cy="1047750"/>
          </a:xfrm>
          <a:prstGeom prst="rect">
            <a:avLst/>
          </a:prstGeom>
          <a:noFill/>
          <a:ln w="0">
            <a:noFill/>
            <a:prstDash val="solid"/>
          </a:ln>
        </p:spPr>
        <p:txBody>
          <a:bodyPr wrap="square" lIns="66675" tIns="47625" rIns="66675" bIns="47625" anchor="ctr">
            <a:normAutofit/>
          </a:bodyPr>
          <a:lstStyle/>
          <a:p>
            <a:pPr algn="ctr">
              <a:lnSpc>
                <a:spcPct val="105000"/>
              </a:lnSpc>
              <a:buNone/>
              <a:defRPr b="1" i="0">
                <a:solidFill>
                  <a:srgbClr val="58D0D8"/>
                </a:solidFill>
                <a:latin typeface="Arial"/>
                <a:ea typeface="Arial"/>
                <a:cs typeface="Arial"/>
              </a:defRPr>
            </a:pPr>
            <a:r>
              <a:rPr sz="3600" b="1" i="0">
                <a:solidFill>
                  <a:srgbClr val="58D0D8"/>
                </a:solidFill>
                <a:latin typeface="Arial"/>
                <a:ea typeface="Arial"/>
                <a:cs typeface="Arial"/>
              </a:rPr>
              <a:t>Q &amp; A</a:t>
            </a:r>
          </a:p>
        </p:txBody>
      </p:sp>
      <p:sp>
        <p:nvSpPr>
          <p:cNvPr id="5" name="Rectangle 4">
            <a:extLst>
              <a:ext uri="{FF2B5EF4-FFF2-40B4-BE49-F238E27FC236}">
                <a16:creationId xmlns:a16="http://schemas.microsoft.com/office/drawing/2014/main" id="{7A92557B-F687-40FF-A854-24AF7FFADD2E}"/>
              </a:ext>
            </a:extLst>
          </p:cNvPr>
          <p:cNvSpPr>
            <a:spLocks noGrp="1"/>
          </p:cNvSpPr>
          <p:nvPr/>
        </p:nvSpPr>
        <p:spPr>
          <a:xfrm>
            <a:off x="2952750" y="4429125"/>
            <a:ext cx="6286500" cy="762000"/>
          </a:xfrm>
          <a:prstGeom prst="rect">
            <a:avLst/>
          </a:prstGeom>
          <a:noFill/>
          <a:ln w="0">
            <a:noFill/>
            <a:prstDash val="solid"/>
          </a:ln>
        </p:spPr>
        <p:txBody>
          <a:bodyPr wrap="square" lIns="66675" tIns="47625" rIns="66675" bIns="47625" anchor="ctr">
            <a:normAutofit fontScale="92500" lnSpcReduction="20000"/>
          </a:bodyPr>
          <a:lstStyle/>
          <a:p>
            <a:pPr algn="ctr">
              <a:lnSpc>
                <a:spcPct val="115000"/>
              </a:lnSpc>
              <a:buNone/>
              <a:defRPr b="0" i="0">
                <a:solidFill>
                  <a:srgbClr val="BDE5EB"/>
                </a:solidFill>
                <a:latin typeface="Arial"/>
                <a:ea typeface="Arial"/>
                <a:cs typeface="Arial"/>
              </a:defRPr>
            </a:pPr>
            <a:r>
              <a:rPr sz="2400" b="0" i="0">
                <a:solidFill>
                  <a:srgbClr val="BDE5EB"/>
                </a:solidFill>
                <a:latin typeface="Arial"/>
                <a:ea typeface="Arial"/>
                <a:cs typeface="Arial"/>
              </a:rPr>
              <a:t>Lê Hữu Sơn · 22050058</a:t>
            </a:r>
          </a:p>
          <a:p>
            <a:pPr algn="ctr">
              <a:lnSpc>
                <a:spcPct val="115000"/>
              </a:lnSpc>
              <a:buNone/>
              <a:defRPr b="0" i="0">
                <a:solidFill>
                  <a:srgbClr val="BDE5EB"/>
                </a:solidFill>
                <a:latin typeface="Arial"/>
                <a:ea typeface="Arial"/>
                <a:cs typeface="Arial"/>
              </a:defRPr>
            </a:pPr>
            <a:r>
              <a:rPr sz="2400" b="0" i="0">
                <a:solidFill>
                  <a:srgbClr val="BDE5EB"/>
                </a:solidFill>
                <a:latin typeface="Arial"/>
                <a:ea typeface="Arial"/>
                <a:cs typeface="Arial"/>
              </a:rPr>
              <a:t>Giảng viên hướng dẫn: ThS. Dương Anh Tuấn</a:t>
            </a:r>
          </a:p>
        </p:txBody>
      </p:sp>
    </p:spTree>
    <p:extLst>
      <p:ext uri="{BB962C8B-B14F-4D97-AF65-F5344CB8AC3E}">
        <p14:creationId xmlns:p14="http://schemas.microsoft.com/office/powerpoint/2010/main" val="13226426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2530</Words>
  <Application>Microsoft Office PowerPoint</Application>
  <DocSecurity>0</DocSecurity>
  <PresentationFormat>Widescreen</PresentationFormat>
  <Paragraphs>320</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SON LE</cp:lastModifiedBy>
  <cp:revision>7</cp:revision>
  <dcterms:created xsi:type="dcterms:W3CDTF">2026-09-14T09:31:48Z</dcterms:created>
  <dcterms:modified xsi:type="dcterms:W3CDTF">2026-09-14T12:30:24Z</dcterms:modified>
</cp:coreProperties>
</file>